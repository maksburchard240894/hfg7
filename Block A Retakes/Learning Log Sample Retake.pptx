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8" r:id="rId4"/>
  </p:sldMasterIdLst>
  <p:notesMasterIdLst>
    <p:notesMasterId r:id="rId46"/>
  </p:notesMasterIdLst>
  <p:sldIdLst>
    <p:sldId id="320" r:id="rId5"/>
    <p:sldId id="321" r:id="rId6"/>
    <p:sldId id="258" r:id="rId7"/>
    <p:sldId id="263" r:id="rId8"/>
    <p:sldId id="305" r:id="rId9"/>
    <p:sldId id="264" r:id="rId10"/>
    <p:sldId id="322" r:id="rId11"/>
    <p:sldId id="268" r:id="rId12"/>
    <p:sldId id="269" r:id="rId13"/>
    <p:sldId id="270" r:id="rId14"/>
    <p:sldId id="271" r:id="rId15"/>
    <p:sldId id="306" r:id="rId16"/>
    <p:sldId id="307" r:id="rId17"/>
    <p:sldId id="308" r:id="rId18"/>
    <p:sldId id="309" r:id="rId19"/>
    <p:sldId id="310" r:id="rId20"/>
    <p:sldId id="311" r:id="rId21"/>
    <p:sldId id="312" r:id="rId22"/>
    <p:sldId id="313" r:id="rId23"/>
    <p:sldId id="314" r:id="rId24"/>
    <p:sldId id="315" r:id="rId25"/>
    <p:sldId id="282" r:id="rId26"/>
    <p:sldId id="348" r:id="rId27"/>
    <p:sldId id="350" r:id="rId28"/>
    <p:sldId id="351" r:id="rId29"/>
    <p:sldId id="352" r:id="rId30"/>
    <p:sldId id="283" r:id="rId31"/>
    <p:sldId id="343" r:id="rId32"/>
    <p:sldId id="288" r:id="rId33"/>
    <p:sldId id="344" r:id="rId34"/>
    <p:sldId id="293" r:id="rId35"/>
    <p:sldId id="353" r:id="rId36"/>
    <p:sldId id="299" r:id="rId37"/>
    <p:sldId id="354" r:id="rId38"/>
    <p:sldId id="355" r:id="rId39"/>
    <p:sldId id="356" r:id="rId40"/>
    <p:sldId id="319" r:id="rId41"/>
    <p:sldId id="318" r:id="rId42"/>
    <p:sldId id="296" r:id="rId43"/>
    <p:sldId id="297" r:id="rId44"/>
    <p:sldId id="298" r:id="rId45"/>
  </p:sldIdLst>
  <p:sldSz cx="9144000" cy="5143500" type="screen16x9"/>
  <p:notesSz cx="6858000" cy="9144000"/>
  <p:embeddedFontLst>
    <p:embeddedFont>
      <p:font typeface="Helvetica Neue" panose="02000503000000020004" pitchFamily="2" charset="0"/>
      <p:regular r:id="rId47"/>
      <p:bold r:id="rId48"/>
      <p:italic r:id="rId49"/>
      <p:boldItalic r:id="rId50"/>
    </p:embeddedFont>
    <p:embeddedFont>
      <p:font typeface="Proxima Nova" panose="02000506030000020004" pitchFamily="2" charset="0"/>
      <p:regular r:id="rId51"/>
      <p:bold r:id="rId52"/>
      <p:italic r:id="rId53"/>
      <p:boldItalic r:id="rId54"/>
    </p:embeddedFont>
    <p:embeddedFont>
      <p:font typeface="Roboto" panose="02000000000000000000" pitchFamily="2" charset="0"/>
      <p:regular r:id="rId55"/>
      <p:bold r:id="rId56"/>
      <p:italic r:id="rId57"/>
      <p:boldItalic r:id="rId58"/>
    </p:embeddedFont>
    <p:embeddedFont>
      <p:font typeface="Roboto Light" panose="02000000000000000000" pitchFamily="2" charset="0"/>
      <p:regular r:id="rId59"/>
      <p:bold r:id="rId60"/>
      <p:italic r:id="rId61"/>
      <p:boldItalic r:id="rId62"/>
    </p:embeddedFont>
    <p:embeddedFont>
      <p:font typeface="Roboto Thin" panose="02000000000000000000" pitchFamily="2"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F07B12-FAE0-28AD-E538-EEDF72EBCEF7}" name="Noyan, Alican" initials="NA" userId="S::noyan.a@buas.nl::f2106684-872a-4b1d-b983-18c991c4133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64D4AE7-FFBC-431D-9275-528F30A785D3}">
  <a:tblStyle styleId="{764D4AE7-FFBC-431D-9275-528F30A785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4"/>
    <p:restoredTop sz="75622" autoAdjust="0"/>
  </p:normalViewPr>
  <p:slideViewPr>
    <p:cSldViewPr snapToGrid="0">
      <p:cViewPr varScale="1">
        <p:scale>
          <a:sx n="100" d="100"/>
          <a:sy n="100" d="100"/>
        </p:scale>
        <p:origin x="1920" y="4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viewProps" Target="viewProps.xml"/><Relationship Id="rId7" Type="http://schemas.openxmlformats.org/officeDocument/2006/relationships/slide" Target="slides/slide3.xml"/><Relationship Id="rId71"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font" Target="fonts/font20.fntdata"/><Relationship Id="rId5" Type="http://schemas.openxmlformats.org/officeDocument/2006/relationships/slide" Target="slides/slide1.xml"/><Relationship Id="rId61" Type="http://schemas.openxmlformats.org/officeDocument/2006/relationships/font" Target="fonts/font15.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5.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8.fntdata"/><Relationship Id="rId62" Type="http://schemas.openxmlformats.org/officeDocument/2006/relationships/font" Target="fonts/font16.fntdata"/><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font" Target="fonts/font4.fntdata"/><Relationship Id="rId55"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6b4f495656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6b4f495656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6b4f495656_0_6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6b4f495656_0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b4f495656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b4f495656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MUST BE UPDATED EVERY WEEK</a:t>
            </a:r>
          </a:p>
          <a:p>
            <a:pPr marL="0" lvl="0" indent="0" algn="l" rtl="0">
              <a:spcBef>
                <a:spcPts val="0"/>
              </a:spcBef>
              <a:spcAft>
                <a:spcPts val="0"/>
              </a:spcAft>
              <a:buNone/>
            </a:pPr>
            <a:endParaRPr dirty="0"/>
          </a:p>
          <a:p>
            <a:pPr marL="0" lvl="0" indent="0" algn="l" rtl="0">
              <a:spcBef>
                <a:spcPts val="0"/>
              </a:spcBef>
              <a:spcAft>
                <a:spcPts val="0"/>
              </a:spcAft>
              <a:buNone/>
            </a:pPr>
            <a:r>
              <a:rPr lang="en" dirty="0"/>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p>
          <a:p>
            <a:pPr marL="0" lvl="0" indent="0" algn="l" rtl="0">
              <a:spcBef>
                <a:spcPts val="0"/>
              </a:spcBef>
              <a:spcAft>
                <a:spcPts val="0"/>
              </a:spcAft>
              <a:buNone/>
            </a:pPr>
            <a:endParaRPr dirty="0"/>
          </a:p>
          <a:p>
            <a:pPr marL="0" lvl="0" indent="0" algn="l" rtl="0">
              <a:spcBef>
                <a:spcPts val="0"/>
              </a:spcBef>
              <a:spcAft>
                <a:spcPts val="0"/>
              </a:spcAft>
              <a:buNone/>
            </a:pPr>
            <a:r>
              <a:rPr lang="en" dirty="0"/>
              <a:t>In such cases, you simply need to provide links to those artifacts and may include any explanatory comment or reflection you feel is appropriate. </a:t>
            </a:r>
            <a:endParaRPr dirty="0"/>
          </a:p>
          <a:p>
            <a:pPr marL="0" lvl="0" indent="0" algn="l" rtl="0">
              <a:spcBef>
                <a:spcPts val="0"/>
              </a:spcBef>
              <a:spcAft>
                <a:spcPts val="0"/>
              </a:spcAft>
              <a:buNone/>
            </a:pPr>
            <a:r>
              <a:rPr lang="en" dirty="0"/>
              <a:t>(Some reflection is almost always a good idea as it provides the foundation for Section C.)</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endParaRPr lang="en"/>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a:t>
            </a:r>
          </a:p>
          <a:p>
            <a:pPr marL="0" lvl="0" indent="0" algn="l" rtl="0">
              <a:spcBef>
                <a:spcPts val="0"/>
              </a:spcBef>
              <a:spcAft>
                <a:spcPts val="0"/>
              </a:spcAft>
              <a:buNone/>
            </a:pPr>
            <a:endParaRPr lang="en"/>
          </a:p>
          <a:p>
            <a:pPr marL="0" lvl="0" indent="0" algn="l" rtl="0">
              <a:spcBef>
                <a:spcPts val="0"/>
              </a:spcBef>
              <a:spcAft>
                <a:spcPts val="0"/>
              </a:spcAft>
              <a:buNone/>
            </a:pPr>
            <a:r>
              <a:rPr lang="en"/>
              <a:t>Note: some of the required information may be captured in production documents such as your work log or peer reviews. 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extLst>
      <p:ext uri="{BB962C8B-B14F-4D97-AF65-F5344CB8AC3E}">
        <p14:creationId xmlns:p14="http://schemas.microsoft.com/office/powerpoint/2010/main" val="326737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75e44ff1a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75e44ff1a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6b602ea5a7_1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6b602ea5a7_1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344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782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241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7772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39993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87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93011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2333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24826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60811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6b4f495656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6b4f495656_0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MUST BE COMPLETED IN WEEK 8, BUT SHOULD BE UPDATED REGULARLY</a:t>
            </a:r>
          </a:p>
          <a:p>
            <a:pPr marL="0" lvl="0" indent="0" algn="l" rtl="0">
              <a:spcBef>
                <a:spcPts val="0"/>
              </a:spcBef>
              <a:spcAft>
                <a:spcPts val="0"/>
              </a:spcAft>
              <a:buNone/>
            </a:pPr>
            <a:endParaRPr dirty="0"/>
          </a:p>
          <a:p>
            <a:pPr marL="0" lvl="0" indent="0" algn="l" rtl="0">
              <a:spcBef>
                <a:spcPts val="0"/>
              </a:spcBef>
              <a:spcAft>
                <a:spcPts val="0"/>
              </a:spcAft>
              <a:buNone/>
            </a:pPr>
            <a:r>
              <a:rPr lang="en" dirty="0"/>
              <a:t>This is where you link your evidence to each of the Intended Learning Outcomes of this block.</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B85DEB1A-6FA7-A1CE-E2A4-AC46AF33F0E6}"/>
            </a:ext>
          </a:extLst>
        </p:cNvPr>
        <p:cNvGrpSpPr/>
        <p:nvPr/>
      </p:nvGrpSpPr>
      <p:grpSpPr>
        <a:xfrm>
          <a:off x="0" y="0"/>
          <a:ext cx="0" cy="0"/>
          <a:chOff x="0" y="0"/>
          <a:chExt cx="0" cy="0"/>
        </a:xfrm>
      </p:grpSpPr>
      <p:sp>
        <p:nvSpPr>
          <p:cNvPr id="360" name="Google Shape;360;g6b4f495656_0_703:notes">
            <a:extLst>
              <a:ext uri="{FF2B5EF4-FFF2-40B4-BE49-F238E27FC236}">
                <a16:creationId xmlns:a16="http://schemas.microsoft.com/office/drawing/2014/main" id="{B0B1C836-CD14-98ED-E7FE-333C7BF47D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a:extLst>
              <a:ext uri="{FF2B5EF4-FFF2-40B4-BE49-F238E27FC236}">
                <a16:creationId xmlns:a16="http://schemas.microsoft.com/office/drawing/2014/main" id="{E7052119-252F-F9C6-92DC-3E5E32FC74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2317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008F5683-B67D-2CBD-C81A-708B8497270C}"/>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3C52C5B8-4638-4170-DF38-C28390DFF2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1DBD52B1-D403-449A-6E21-A9D87A3D7C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78385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D75AA9B3-F89E-5B70-571A-16B161965AB7}"/>
            </a:ext>
          </a:extLst>
        </p:cNvPr>
        <p:cNvGrpSpPr/>
        <p:nvPr/>
      </p:nvGrpSpPr>
      <p:grpSpPr>
        <a:xfrm>
          <a:off x="0" y="0"/>
          <a:ext cx="0" cy="0"/>
          <a:chOff x="0" y="0"/>
          <a:chExt cx="0" cy="0"/>
        </a:xfrm>
      </p:grpSpPr>
      <p:sp>
        <p:nvSpPr>
          <p:cNvPr id="360" name="Google Shape;360;g6b4f495656_0_703:notes">
            <a:extLst>
              <a:ext uri="{FF2B5EF4-FFF2-40B4-BE49-F238E27FC236}">
                <a16:creationId xmlns:a16="http://schemas.microsoft.com/office/drawing/2014/main" id="{A189C570-8A9F-8ABB-1A35-974096EF4E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a:extLst>
              <a:ext uri="{FF2B5EF4-FFF2-40B4-BE49-F238E27FC236}">
                <a16:creationId xmlns:a16="http://schemas.microsoft.com/office/drawing/2014/main" id="{E1737BC3-72A0-1A69-E468-6E07AE7ACF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28637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603F9865-F1A8-DE5D-9767-61C160AB0BC1}"/>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180F8DAD-B5A2-73B2-B3F3-FBC034B29A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6C82408E-333F-6781-F756-BC7B9F8CC5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59994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67210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6b4f495656_0_7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6b4f495656_0_7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67210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1EAF3E3B-EE88-7241-24FA-FB0FDA70EE37}"/>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79417FF5-9EEA-D677-CD87-C8A1B0E666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C9FE7F3B-9941-0491-4949-652B2BFED8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707059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38975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34909CAE-3F3F-4B21-89DE-29BDFB708507}"/>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A9C3E4AA-5379-E430-ECCB-3BBBF9E937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936EFC2A-F76A-1E45-68C9-3619C73707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023358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a:extLst>
            <a:ext uri="{FF2B5EF4-FFF2-40B4-BE49-F238E27FC236}">
              <a16:creationId xmlns:a16="http://schemas.microsoft.com/office/drawing/2014/main" id="{A7A64B75-D80D-FB27-17E5-BE946B3BF93E}"/>
            </a:ext>
          </a:extLst>
        </p:cNvPr>
        <p:cNvGrpSpPr/>
        <p:nvPr/>
      </p:nvGrpSpPr>
      <p:grpSpPr>
        <a:xfrm>
          <a:off x="0" y="0"/>
          <a:ext cx="0" cy="0"/>
          <a:chOff x="0" y="0"/>
          <a:chExt cx="0" cy="0"/>
        </a:xfrm>
      </p:grpSpPr>
      <p:sp>
        <p:nvSpPr>
          <p:cNvPr id="464" name="Google Shape;464;g6b4f495656_0_721:notes">
            <a:extLst>
              <a:ext uri="{FF2B5EF4-FFF2-40B4-BE49-F238E27FC236}">
                <a16:creationId xmlns:a16="http://schemas.microsoft.com/office/drawing/2014/main" id="{D076FC7A-6A3D-0B34-3BE4-B93661BC40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a:extLst>
              <a:ext uri="{FF2B5EF4-FFF2-40B4-BE49-F238E27FC236}">
                <a16:creationId xmlns:a16="http://schemas.microsoft.com/office/drawing/2014/main" id="{61ADC1B1-4197-B29F-6D7F-66DD2DAD27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82438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9DD389EE-8348-CF6B-B706-CFF2E6EDEBFA}"/>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08A77F27-E30E-ED0A-8C66-489034E8BF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7CEA6612-6363-2031-513D-430EEA777C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180818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6480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6b602ea5a7_1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2684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6b4f495656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6b4f495656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a:t>
            </a:r>
          </a:p>
          <a:p>
            <a:pPr marL="0" lvl="0" indent="0" algn="l" rtl="0">
              <a:spcBef>
                <a:spcPts val="0"/>
              </a:spcBef>
              <a:spcAft>
                <a:spcPts val="0"/>
              </a:spcAft>
              <a:buNone/>
            </a:pPr>
            <a:endParaRPr/>
          </a:p>
          <a:p>
            <a:pPr marL="0" lvl="0" indent="0" algn="l" rtl="0">
              <a:spcBef>
                <a:spcPts val="0"/>
              </a:spcBef>
              <a:spcAft>
                <a:spcPts val="0"/>
              </a:spcAft>
              <a:buNone/>
            </a:pPr>
            <a:r>
              <a:rPr lang="en" dirty="0"/>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6b602ea5a7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6b602ea5a7_1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6b602ea5a7_1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6b602ea5a7_1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1">
    <p:bg>
      <p:bgPr>
        <a:solidFill>
          <a:srgbClr val="EC781C"/>
        </a:solidFill>
        <a:effectLst/>
      </p:bgPr>
    </p:bg>
    <p:spTree>
      <p:nvGrpSpPr>
        <p:cNvPr id="1" name="Shape 9"/>
        <p:cNvGrpSpPr/>
        <p:nvPr/>
      </p:nvGrpSpPr>
      <p:grpSpPr>
        <a:xfrm>
          <a:off x="0" y="0"/>
          <a:ext cx="0" cy="0"/>
          <a:chOff x="0" y="0"/>
          <a:chExt cx="0" cy="0"/>
        </a:xfrm>
      </p:grpSpPr>
      <p:sp>
        <p:nvSpPr>
          <p:cNvPr id="10" name="Google Shape;10;p2"/>
          <p:cNvSpPr/>
          <p:nvPr/>
        </p:nvSpPr>
        <p:spPr>
          <a:xfrm>
            <a:off x="3109025" y="-1200"/>
            <a:ext cx="6035100" cy="51462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0" y="4363525"/>
            <a:ext cx="9144000" cy="777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657600" y="548650"/>
            <a:ext cx="4937700" cy="3264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1800"/>
              <a:buNone/>
              <a:defRPr sz="1800">
                <a:solidFill>
                  <a:srgbClr val="FFFFFF"/>
                </a:solidFill>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3" name="Google Shape;13;p2"/>
          <p:cNvSpPr txBox="1">
            <a:spLocks noGrp="1"/>
          </p:cNvSpPr>
          <p:nvPr>
            <p:ph type="subTitle" idx="1"/>
          </p:nvPr>
        </p:nvSpPr>
        <p:spPr>
          <a:xfrm>
            <a:off x="548650" y="548650"/>
            <a:ext cx="2011800" cy="32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800"/>
              <a:buNone/>
              <a:defRPr sz="1800">
                <a:solidFill>
                  <a:srgbClr val="FFFFFF"/>
                </a:solidFill>
              </a:defRPr>
            </a:lvl1pPr>
            <a:lvl2pPr lvl="1" algn="ctr" rtl="0">
              <a:lnSpc>
                <a:spcPct val="100000"/>
              </a:lnSpc>
              <a:spcBef>
                <a:spcPts val="0"/>
              </a:spcBef>
              <a:spcAft>
                <a:spcPts val="0"/>
              </a:spcAft>
              <a:buClr>
                <a:srgbClr val="FFFFFF"/>
              </a:buClr>
              <a:buSzPts val="3000"/>
              <a:buNone/>
              <a:defRPr sz="3000">
                <a:solidFill>
                  <a:srgbClr val="FFFFFF"/>
                </a:solidFill>
              </a:defRPr>
            </a:lvl2pPr>
            <a:lvl3pPr lvl="2" algn="ctr" rtl="0">
              <a:lnSpc>
                <a:spcPct val="100000"/>
              </a:lnSpc>
              <a:spcBef>
                <a:spcPts val="0"/>
              </a:spcBef>
              <a:spcAft>
                <a:spcPts val="0"/>
              </a:spcAft>
              <a:buClr>
                <a:srgbClr val="FFFFFF"/>
              </a:buClr>
              <a:buSzPts val="3000"/>
              <a:buNone/>
              <a:defRPr sz="3000">
                <a:solidFill>
                  <a:srgbClr val="FFFFFF"/>
                </a:solidFill>
              </a:defRPr>
            </a:lvl3pPr>
            <a:lvl4pPr lvl="3" algn="ctr" rtl="0">
              <a:lnSpc>
                <a:spcPct val="100000"/>
              </a:lnSpc>
              <a:spcBef>
                <a:spcPts val="0"/>
              </a:spcBef>
              <a:spcAft>
                <a:spcPts val="0"/>
              </a:spcAft>
              <a:buClr>
                <a:srgbClr val="FFFFFF"/>
              </a:buClr>
              <a:buSzPts val="3000"/>
              <a:buNone/>
              <a:defRPr sz="3000">
                <a:solidFill>
                  <a:srgbClr val="FFFFFF"/>
                </a:solidFill>
              </a:defRPr>
            </a:lvl4pPr>
            <a:lvl5pPr lvl="4" algn="ctr" rtl="0">
              <a:lnSpc>
                <a:spcPct val="100000"/>
              </a:lnSpc>
              <a:spcBef>
                <a:spcPts val="0"/>
              </a:spcBef>
              <a:spcAft>
                <a:spcPts val="0"/>
              </a:spcAft>
              <a:buClr>
                <a:srgbClr val="FFFFFF"/>
              </a:buClr>
              <a:buSzPts val="3000"/>
              <a:buNone/>
              <a:defRPr sz="3000">
                <a:solidFill>
                  <a:srgbClr val="FFFFFF"/>
                </a:solidFill>
              </a:defRPr>
            </a:lvl5pPr>
            <a:lvl6pPr lvl="5" algn="ctr" rtl="0">
              <a:lnSpc>
                <a:spcPct val="100000"/>
              </a:lnSpc>
              <a:spcBef>
                <a:spcPts val="0"/>
              </a:spcBef>
              <a:spcAft>
                <a:spcPts val="0"/>
              </a:spcAft>
              <a:buClr>
                <a:srgbClr val="FFFFFF"/>
              </a:buClr>
              <a:buSzPts val="3000"/>
              <a:buNone/>
              <a:defRPr sz="3000">
                <a:solidFill>
                  <a:srgbClr val="FFFFFF"/>
                </a:solidFill>
              </a:defRPr>
            </a:lvl6pPr>
            <a:lvl7pPr lvl="6" algn="ctr" rtl="0">
              <a:lnSpc>
                <a:spcPct val="100000"/>
              </a:lnSpc>
              <a:spcBef>
                <a:spcPts val="0"/>
              </a:spcBef>
              <a:spcAft>
                <a:spcPts val="0"/>
              </a:spcAft>
              <a:buClr>
                <a:srgbClr val="FFFFFF"/>
              </a:buClr>
              <a:buSzPts val="3000"/>
              <a:buNone/>
              <a:defRPr sz="3000">
                <a:solidFill>
                  <a:srgbClr val="FFFFFF"/>
                </a:solidFill>
              </a:defRPr>
            </a:lvl7pPr>
            <a:lvl8pPr lvl="7" algn="ctr" rtl="0">
              <a:lnSpc>
                <a:spcPct val="100000"/>
              </a:lnSpc>
              <a:spcBef>
                <a:spcPts val="0"/>
              </a:spcBef>
              <a:spcAft>
                <a:spcPts val="0"/>
              </a:spcAft>
              <a:buClr>
                <a:srgbClr val="FFFFFF"/>
              </a:buClr>
              <a:buSzPts val="3000"/>
              <a:buNone/>
              <a:defRPr sz="3000">
                <a:solidFill>
                  <a:srgbClr val="FFFFFF"/>
                </a:solidFill>
              </a:defRPr>
            </a:lvl8pPr>
            <a:lvl9pPr lvl="8" algn="ctr" rtl="0">
              <a:lnSpc>
                <a:spcPct val="100000"/>
              </a:lnSpc>
              <a:spcBef>
                <a:spcPts val="0"/>
              </a:spcBef>
              <a:spcAft>
                <a:spcPts val="0"/>
              </a:spcAft>
              <a:buClr>
                <a:srgbClr val="FFFFFF"/>
              </a:buClr>
              <a:buSzPts val="3000"/>
              <a:buNone/>
              <a:defRPr sz="3000">
                <a:solidFill>
                  <a:srgbClr val="FFFFFF"/>
                </a:solidFill>
              </a:defRPr>
            </a:lvl9pPr>
          </a:lstStyle>
          <a:p>
            <a:endParaRPr/>
          </a:p>
        </p:txBody>
      </p:sp>
      <p:pic>
        <p:nvPicPr>
          <p:cNvPr id="14" name="Google Shape;14;p2"/>
          <p:cNvPicPr preferRelativeResize="0"/>
          <p:nvPr/>
        </p:nvPicPr>
        <p:blipFill>
          <a:blip r:embed="rId2">
            <a:alphaModFix/>
          </a:blip>
          <a:stretch>
            <a:fillRect/>
          </a:stretch>
        </p:blipFill>
        <p:spPr>
          <a:xfrm>
            <a:off x="164592" y="4523578"/>
            <a:ext cx="1329394" cy="457200"/>
          </a:xfrm>
          <a:prstGeom prst="rect">
            <a:avLst/>
          </a:prstGeom>
          <a:noFill/>
          <a:ln>
            <a:noFill/>
          </a:ln>
        </p:spPr>
      </p:pic>
      <p:sp>
        <p:nvSpPr>
          <p:cNvPr id="16" name="Google Shape;16;p2"/>
          <p:cNvSpPr txBox="1"/>
          <p:nvPr/>
        </p:nvSpPr>
        <p:spPr>
          <a:xfrm>
            <a:off x="1846250" y="4412100"/>
            <a:ext cx="6527400" cy="598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700" b="1" dirty="0">
                <a:solidFill>
                  <a:srgbClr val="999999"/>
                </a:solidFill>
                <a:latin typeface="Helvetica Neue"/>
                <a:ea typeface="Helvetica Neue"/>
                <a:cs typeface="Helvetica Neue"/>
                <a:sym typeface="Helvetica Neue"/>
              </a:rPr>
              <a:t>Project Brief &amp; Assessment Assignment : </a:t>
            </a:r>
            <a:r>
              <a:rPr lang="en-US" sz="700" b="1" dirty="0">
                <a:latin typeface="Helvetica Neue"/>
                <a:ea typeface="Helvetica Neue"/>
                <a:cs typeface="Helvetica Neue"/>
                <a:sym typeface="Helvetica Neue"/>
              </a:rPr>
              <a:t>FAI1.P1-01 Project 1A ADS&amp;AI 2024-25</a:t>
            </a:r>
            <a:endParaRPr sz="700" b="1" dirty="0">
              <a:latin typeface="Helvetica Neue"/>
              <a:ea typeface="Helvetica Neue"/>
              <a:cs typeface="Helvetica Neue"/>
              <a:sym typeface="Helvetica Neue"/>
            </a:endParaRPr>
          </a:p>
          <a:p>
            <a:pPr marL="0" lvl="0" indent="0" algn="l" rtl="0">
              <a:spcBef>
                <a:spcPts val="0"/>
              </a:spcBef>
              <a:spcAft>
                <a:spcPts val="0"/>
              </a:spcAft>
              <a:buNone/>
            </a:pPr>
            <a:r>
              <a:rPr lang="en" sz="700" b="1" dirty="0">
                <a:solidFill>
                  <a:srgbClr val="999999"/>
                </a:solidFill>
                <a:latin typeface="Helvetica Neue"/>
                <a:ea typeface="Helvetica Neue"/>
                <a:cs typeface="Helvetica Neue"/>
                <a:sym typeface="Helvetica Neue"/>
              </a:rPr>
              <a:t>GitHub Folder: </a:t>
            </a:r>
            <a:endParaRPr dirty="0">
              <a:latin typeface="Roboto"/>
              <a:ea typeface="Roboto"/>
              <a:cs typeface="Roboto"/>
              <a:sym typeface="Robo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CUSTOM_1_2">
    <p:bg>
      <p:bgPr>
        <a:solidFill>
          <a:srgbClr val="666666"/>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6000"/>
              <a:buFont typeface="Roboto Thin"/>
              <a:buNone/>
              <a:defRPr sz="6000" b="0">
                <a:solidFill>
                  <a:srgbClr val="FFFFFF"/>
                </a:solidFill>
                <a:latin typeface="Roboto Thin"/>
                <a:ea typeface="Roboto Thin"/>
                <a:cs typeface="Roboto Thin"/>
                <a:sym typeface="Roboto Thin"/>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9" name="Google Shape;19;p3"/>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1pPr>
            <a:lvl2pPr lvl="1"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2pPr>
            <a:lvl3pPr lvl="2"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3pPr>
            <a:lvl4pPr lvl="3"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4pPr>
            <a:lvl5pPr lvl="4"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5pPr>
            <a:lvl6pPr lvl="5"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6pPr>
            <a:lvl7pPr lvl="6"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7pPr>
            <a:lvl8pPr lvl="7"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8pPr>
            <a:lvl9pPr lvl="8"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9pPr>
          </a:lstStyle>
          <a:p>
            <a:endParaRPr/>
          </a:p>
        </p:txBody>
      </p:sp>
      <p:sp>
        <p:nvSpPr>
          <p:cNvPr id="2" name="Rectangle 1">
            <a:extLst>
              <a:ext uri="{FF2B5EF4-FFF2-40B4-BE49-F238E27FC236}">
                <a16:creationId xmlns:a16="http://schemas.microsoft.com/office/drawing/2014/main" id="{ED2E902F-3793-054A-A49F-5F75EC799503}"/>
              </a:ext>
            </a:extLst>
          </p:cNvPr>
          <p:cNvSpPr/>
          <p:nvPr userDrawn="1"/>
        </p:nvSpPr>
        <p:spPr>
          <a:xfrm>
            <a:off x="0" y="4393870"/>
            <a:ext cx="9144000" cy="749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oogle Shape;20;p3"/>
          <p:cNvPicPr preferRelativeResize="0"/>
          <p:nvPr/>
        </p:nvPicPr>
        <p:blipFill>
          <a:blip r:embed="rId2">
            <a:alphaModFix/>
          </a:blip>
          <a:stretch>
            <a:fillRect/>
          </a:stretch>
        </p:blipFill>
        <p:spPr>
          <a:xfrm>
            <a:off x="7214616" y="4434840"/>
            <a:ext cx="1691640" cy="5826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Sub-Header">
  <p:cSld name="CUSTOM_1_2_1">
    <p:bg>
      <p:bgPr>
        <a:solidFill>
          <a:srgbClr val="666666"/>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Font typeface="Roboto Thin"/>
              <a:buNone/>
              <a:defRPr sz="6000" b="0">
                <a:latin typeface="Roboto Thin"/>
                <a:ea typeface="Roboto Thin"/>
                <a:cs typeface="Roboto Thin"/>
                <a:sym typeface="Roboto Thin"/>
              </a:defRPr>
            </a:lvl1pPr>
            <a:lvl2pPr lvl="1" algn="ctr" rtl="0">
              <a:spcBef>
                <a:spcPts val="0"/>
              </a:spcBef>
              <a:spcAft>
                <a:spcPts val="0"/>
              </a:spcAft>
              <a:buClr>
                <a:srgbClr val="434343"/>
              </a:buClr>
              <a:buSzPts val="3600"/>
              <a:buNone/>
              <a:defRPr sz="3600">
                <a:solidFill>
                  <a:srgbClr val="434343"/>
                </a:solidFill>
              </a:defRPr>
            </a:lvl2pPr>
            <a:lvl3pPr lvl="2" algn="ctr" rtl="0">
              <a:spcBef>
                <a:spcPts val="0"/>
              </a:spcBef>
              <a:spcAft>
                <a:spcPts val="0"/>
              </a:spcAft>
              <a:buClr>
                <a:srgbClr val="434343"/>
              </a:buClr>
              <a:buSzPts val="3600"/>
              <a:buNone/>
              <a:defRPr sz="3600">
                <a:solidFill>
                  <a:srgbClr val="434343"/>
                </a:solidFill>
              </a:defRPr>
            </a:lvl3pPr>
            <a:lvl4pPr lvl="3" algn="ctr" rtl="0">
              <a:spcBef>
                <a:spcPts val="0"/>
              </a:spcBef>
              <a:spcAft>
                <a:spcPts val="0"/>
              </a:spcAft>
              <a:buClr>
                <a:srgbClr val="434343"/>
              </a:buClr>
              <a:buSzPts val="3600"/>
              <a:buNone/>
              <a:defRPr sz="3600">
                <a:solidFill>
                  <a:srgbClr val="434343"/>
                </a:solidFill>
              </a:defRPr>
            </a:lvl4pPr>
            <a:lvl5pPr lvl="4" algn="ctr" rtl="0">
              <a:spcBef>
                <a:spcPts val="0"/>
              </a:spcBef>
              <a:spcAft>
                <a:spcPts val="0"/>
              </a:spcAft>
              <a:buClr>
                <a:srgbClr val="434343"/>
              </a:buClr>
              <a:buSzPts val="3600"/>
              <a:buNone/>
              <a:defRPr sz="3600">
                <a:solidFill>
                  <a:srgbClr val="434343"/>
                </a:solidFill>
              </a:defRPr>
            </a:lvl5pPr>
            <a:lvl6pPr lvl="5" algn="ctr" rtl="0">
              <a:spcBef>
                <a:spcPts val="0"/>
              </a:spcBef>
              <a:spcAft>
                <a:spcPts val="0"/>
              </a:spcAft>
              <a:buClr>
                <a:srgbClr val="434343"/>
              </a:buClr>
              <a:buSzPts val="3600"/>
              <a:buNone/>
              <a:defRPr sz="3600">
                <a:solidFill>
                  <a:srgbClr val="434343"/>
                </a:solidFill>
              </a:defRPr>
            </a:lvl6pPr>
            <a:lvl7pPr lvl="6" algn="ctr" rtl="0">
              <a:spcBef>
                <a:spcPts val="0"/>
              </a:spcBef>
              <a:spcAft>
                <a:spcPts val="0"/>
              </a:spcAft>
              <a:buClr>
                <a:srgbClr val="434343"/>
              </a:buClr>
              <a:buSzPts val="3600"/>
              <a:buNone/>
              <a:defRPr sz="3600">
                <a:solidFill>
                  <a:srgbClr val="434343"/>
                </a:solidFill>
              </a:defRPr>
            </a:lvl7pPr>
            <a:lvl8pPr lvl="7" algn="ctr" rtl="0">
              <a:spcBef>
                <a:spcPts val="0"/>
              </a:spcBef>
              <a:spcAft>
                <a:spcPts val="0"/>
              </a:spcAft>
              <a:buClr>
                <a:srgbClr val="434343"/>
              </a:buClr>
              <a:buSzPts val="3600"/>
              <a:buNone/>
              <a:defRPr sz="3600">
                <a:solidFill>
                  <a:srgbClr val="434343"/>
                </a:solidFill>
              </a:defRPr>
            </a:lvl8pPr>
            <a:lvl9pPr lvl="8" algn="ctr" rtl="0">
              <a:spcBef>
                <a:spcPts val="0"/>
              </a:spcBef>
              <a:spcAft>
                <a:spcPts val="0"/>
              </a:spcAft>
              <a:buClr>
                <a:srgbClr val="434343"/>
              </a:buClr>
              <a:buSzPts val="3600"/>
              <a:buNone/>
              <a:defRPr sz="3600">
                <a:solidFill>
                  <a:srgbClr val="434343"/>
                </a:solidFill>
              </a:defRPr>
            </a:lvl9pPr>
          </a:lstStyle>
          <a:p>
            <a:endParaRPr/>
          </a:p>
        </p:txBody>
      </p:sp>
      <p:sp>
        <p:nvSpPr>
          <p:cNvPr id="23" name="Google Shape;23;p4"/>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1pPr>
            <a:lvl2pPr lvl="1"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4" name="Google Shape;24;p4"/>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Font typeface="Roboto Light"/>
              <a:buNone/>
              <a:defRPr>
                <a:latin typeface="Roboto Light"/>
                <a:ea typeface="Roboto Light"/>
                <a:cs typeface="Roboto Light"/>
                <a:sym typeface="Roboto Light"/>
              </a:defRPr>
            </a:lvl1pPr>
            <a:lvl2pPr lvl="1"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5" name="Google Shape;25;p4"/>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40000">
              <a:solidFill>
                <a:srgbClr val="B7B7B7"/>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CUSTOM_2_4">
    <p:spTree>
      <p:nvGrpSpPr>
        <p:cNvPr id="1" name="Shape 26"/>
        <p:cNvGrpSpPr/>
        <p:nvPr/>
      </p:nvGrpSpPr>
      <p:grpSpPr>
        <a:xfrm>
          <a:off x="0" y="0"/>
          <a:ext cx="0" cy="0"/>
          <a:chOff x="0" y="0"/>
          <a:chExt cx="0" cy="0"/>
        </a:xfrm>
      </p:grpSpPr>
      <p:sp>
        <p:nvSpPr>
          <p:cNvPr id="27" name="Google Shape;27;p5"/>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9" name="Google Shape;29;p5"/>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0" name="Google Shape;30;p5"/>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31" name="Google Shape;31;p5"/>
          <p:cNvSpPr txBox="1">
            <a:spLocks noGrp="1"/>
          </p:cNvSpPr>
          <p:nvPr>
            <p:ph type="body" idx="3"/>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endParaRPr/>
          </a:p>
        </p:txBody>
      </p:sp>
      <p:sp>
        <p:nvSpPr>
          <p:cNvPr id="32" name="Google Shape;32;p5"/>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LO's">
  <p:cSld name="CUSTOM_2_3_1">
    <p:spTree>
      <p:nvGrpSpPr>
        <p:cNvPr id="1" name="Shape 33"/>
        <p:cNvGrpSpPr/>
        <p:nvPr/>
      </p:nvGrpSpPr>
      <p:grpSpPr>
        <a:xfrm>
          <a:off x="0" y="0"/>
          <a:ext cx="0" cy="0"/>
          <a:chOff x="0" y="0"/>
          <a:chExt cx="0" cy="0"/>
        </a:xfrm>
      </p:grpSpPr>
      <p:sp>
        <p:nvSpPr>
          <p:cNvPr id="34" name="Google Shape;34;p6"/>
          <p:cNvSpPr/>
          <p:nvPr/>
        </p:nvSpPr>
        <p:spPr>
          <a:xfrm>
            <a:off x="0" y="571460"/>
            <a:ext cx="9144000" cy="49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0"/>
            <a:ext cx="9144000" cy="5727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7" name="Google Shape;37;p6"/>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8" name="Google Shape;38;p6"/>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endParaRPr/>
          </a:p>
        </p:txBody>
      </p:sp>
      <p:sp>
        <p:nvSpPr>
          <p:cNvPr id="39" name="Google Shape;39;p6"/>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0" name="Google Shape;40;p6"/>
          <p:cNvSpPr txBox="1">
            <a:spLocks noGrp="1"/>
          </p:cNvSpPr>
          <p:nvPr>
            <p:ph type="title" idx="4"/>
          </p:nvPr>
        </p:nvSpPr>
        <p:spPr>
          <a:xfrm>
            <a:off x="68250" y="576000"/>
            <a:ext cx="8397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6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1" name="Google Shape;41;p6"/>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2" name="Google Shape;42;p6"/>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200"/>
            </a:lvl1pPr>
            <a:lvl2pPr lvl="1" rtl="0">
              <a:spcBef>
                <a:spcPts val="0"/>
              </a:spcBef>
              <a:spcAft>
                <a:spcPts val="0"/>
              </a:spcAft>
              <a:buNone/>
              <a:defRPr sz="900"/>
            </a:lvl2pPr>
            <a:lvl3pPr lvl="2" rtl="0">
              <a:spcBef>
                <a:spcPts val="0"/>
              </a:spcBef>
              <a:spcAft>
                <a:spcPts val="0"/>
              </a:spcAft>
              <a:buNone/>
              <a:defRPr sz="900"/>
            </a:lvl3pPr>
            <a:lvl4pPr lvl="3" rtl="0">
              <a:spcBef>
                <a:spcPts val="0"/>
              </a:spcBef>
              <a:spcAft>
                <a:spcPts val="0"/>
              </a:spcAft>
              <a:buNone/>
              <a:defRPr sz="900"/>
            </a:lvl4pPr>
            <a:lvl5pPr lvl="4" rtl="0">
              <a:spcBef>
                <a:spcPts val="0"/>
              </a:spcBef>
              <a:spcAft>
                <a:spcPts val="0"/>
              </a:spcAft>
              <a:buNone/>
              <a:defRPr sz="900"/>
            </a:lvl5pPr>
            <a:lvl6pPr lvl="5" rtl="0">
              <a:spcBef>
                <a:spcPts val="0"/>
              </a:spcBef>
              <a:spcAft>
                <a:spcPts val="0"/>
              </a:spcAft>
              <a:buNone/>
              <a:defRPr sz="900"/>
            </a:lvl6pPr>
            <a:lvl7pPr lvl="6" rtl="0">
              <a:spcBef>
                <a:spcPts val="0"/>
              </a:spcBef>
              <a:spcAft>
                <a:spcPts val="0"/>
              </a:spcAft>
              <a:buNone/>
              <a:defRPr sz="900"/>
            </a:lvl7pPr>
            <a:lvl8pPr lvl="7" rtl="0">
              <a:spcBef>
                <a:spcPts val="0"/>
              </a:spcBef>
              <a:spcAft>
                <a:spcPts val="0"/>
              </a:spcAft>
              <a:buNone/>
              <a:defRPr sz="900"/>
            </a:lvl8pPr>
            <a:lvl9pPr lvl="8" rtl="0">
              <a:spcBef>
                <a:spcPts val="0"/>
              </a:spcBef>
              <a:spcAft>
                <a:spcPts val="0"/>
              </a:spcAft>
              <a:buNone/>
              <a:defRPr sz="900"/>
            </a:lvl9pPr>
          </a:lstStyle>
          <a:p>
            <a:endParaRPr/>
          </a:p>
        </p:txBody>
      </p:sp>
      <p:sp>
        <p:nvSpPr>
          <p:cNvPr id="43" name="Google Shape;43;p6"/>
          <p:cNvSpPr txBox="1"/>
          <p:nvPr/>
        </p:nvSpPr>
        <p:spPr>
          <a:xfrm>
            <a:off x="5852160" y="1252728"/>
            <a:ext cx="3108900" cy="1828800"/>
          </a:xfrm>
          <a:prstGeom prst="rect">
            <a:avLst/>
          </a:prstGeom>
          <a:noFill/>
          <a:ln w="9525" cap="flat" cmpd="sng">
            <a:solidFill>
              <a:srgbClr val="CCCCCC"/>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CCCCCC"/>
                </a:solidFill>
                <a:latin typeface="Roboto"/>
                <a:ea typeface="Roboto"/>
                <a:cs typeface="Roboto"/>
                <a:sym typeface="Roboto"/>
              </a:rPr>
              <a:t>Room for Pictures</a:t>
            </a:r>
            <a:endParaRPr sz="1000">
              <a:solidFill>
                <a:srgbClr val="CCCCCC"/>
              </a:solidFill>
              <a:latin typeface="Roboto"/>
              <a:ea typeface="Roboto"/>
              <a:cs typeface="Roboto"/>
              <a:sym typeface="Roboto"/>
            </a:endParaRPr>
          </a:p>
        </p:txBody>
      </p:sp>
      <p:sp>
        <p:nvSpPr>
          <p:cNvPr id="44" name="Google Shape;44;p6"/>
          <p:cNvSpPr txBox="1"/>
          <p:nvPr/>
        </p:nvSpPr>
        <p:spPr>
          <a:xfrm>
            <a:off x="5852160" y="3136253"/>
            <a:ext cx="3108900" cy="1828800"/>
          </a:xfrm>
          <a:prstGeom prst="rect">
            <a:avLst/>
          </a:prstGeom>
          <a:noFill/>
          <a:ln w="9525" cap="flat" cmpd="sng">
            <a:solidFill>
              <a:srgbClr val="CCCCCC"/>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CCCCCC"/>
                </a:solidFill>
                <a:latin typeface="Roboto"/>
                <a:ea typeface="Roboto"/>
                <a:cs typeface="Roboto"/>
                <a:sym typeface="Roboto"/>
              </a:rPr>
              <a:t>Room for Pictures</a:t>
            </a:r>
            <a:endParaRPr sz="1000">
              <a:solidFill>
                <a:srgbClr val="CCCCCC"/>
              </a:solidFill>
              <a:latin typeface="Roboto"/>
              <a:ea typeface="Roboto"/>
              <a:cs typeface="Roboto"/>
              <a:sym typeface="Robo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Weeks">
  <p:cSld name="CUSTOM_2_2">
    <p:spTree>
      <p:nvGrpSpPr>
        <p:cNvPr id="1" name="Shape 45"/>
        <p:cNvGrpSpPr/>
        <p:nvPr/>
      </p:nvGrpSpPr>
      <p:grpSpPr>
        <a:xfrm>
          <a:off x="0" y="0"/>
          <a:ext cx="0" cy="0"/>
          <a:chOff x="0" y="0"/>
          <a:chExt cx="0" cy="0"/>
        </a:xfrm>
      </p:grpSpPr>
      <p:sp>
        <p:nvSpPr>
          <p:cNvPr id="46" name="Google Shape;46;p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47" name="Google Shape;47;p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8" name="Google Shape;48;p7"/>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9" name="Google Shape;49;p7"/>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0" name="Google Shape;50;p7"/>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2" name="Google Shape;52;p7"/>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3" name="Google Shape;53;p7"/>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eek 4 goals">
  <p:cSld name="CUSTOM_2_2_2">
    <p:spTree>
      <p:nvGrpSpPr>
        <p:cNvPr id="1" name="Shape 54"/>
        <p:cNvGrpSpPr/>
        <p:nvPr/>
      </p:nvGrpSpPr>
      <p:grpSpPr>
        <a:xfrm>
          <a:off x="0" y="0"/>
          <a:ext cx="0" cy="0"/>
          <a:chOff x="0" y="0"/>
          <a:chExt cx="0" cy="0"/>
        </a:xfrm>
      </p:grpSpPr>
      <p:sp>
        <p:nvSpPr>
          <p:cNvPr id="55" name="Google Shape;55;p8"/>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6" name="Google Shape;56;p8"/>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7" name="Google Shape;57;p8"/>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8" name="Google Shape;58;p8"/>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9" name="Google Shape;59;p8"/>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1" name="Google Shape;61;p8"/>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2" name="Google Shape;62;p8"/>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3" name="Google Shape;63;p8"/>
          <p:cNvSpPr txBox="1">
            <a:spLocks noGrp="1"/>
          </p:cNvSpPr>
          <p:nvPr>
            <p:ph type="body" idx="7"/>
          </p:nvPr>
        </p:nvSpPr>
        <p:spPr>
          <a:xfrm>
            <a:off x="4663450" y="317214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4" name="Google Shape;64;p8"/>
          <p:cNvSpPr txBox="1">
            <a:spLocks noGrp="1"/>
          </p:cNvSpPr>
          <p:nvPr>
            <p:ph type="subTitle" idx="8"/>
          </p:nvPr>
        </p:nvSpPr>
        <p:spPr>
          <a:xfrm>
            <a:off x="4663440" y="277840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eedback Slides">
  <p:cSld name="CUSTOM_2_2_1">
    <p:bg>
      <p:bgPr>
        <a:solidFill>
          <a:srgbClr val="134F5C"/>
        </a:solidFill>
        <a:effectLst/>
      </p:bgPr>
    </p:bg>
    <p:spTree>
      <p:nvGrpSpPr>
        <p:cNvPr id="1" name="Shape 65"/>
        <p:cNvGrpSpPr/>
        <p:nvPr/>
      </p:nvGrpSpPr>
      <p:grpSpPr>
        <a:xfrm>
          <a:off x="0" y="0"/>
          <a:ext cx="0" cy="0"/>
          <a:chOff x="0" y="0"/>
          <a:chExt cx="0" cy="0"/>
        </a:xfrm>
      </p:grpSpPr>
      <p:sp>
        <p:nvSpPr>
          <p:cNvPr id="66" name="Google Shape;66;p9"/>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67" name="Google Shape;67;p9"/>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8" name="Google Shape;68;p9"/>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0" name="Google Shape;70;p9"/>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1" name="Google Shape;71;p9"/>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11"/>
          <p:cNvSpPr/>
          <p:nvPr/>
        </p:nvSpPr>
        <p:spPr>
          <a:xfrm>
            <a:off x="3108960" y="-1200"/>
            <a:ext cx="6035100" cy="51435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5" name="Google Shape;85;p11"/>
          <p:cNvSpPr txBox="1">
            <a:spLocks noGrp="1"/>
          </p:cNvSpPr>
          <p:nvPr>
            <p:ph type="title"/>
          </p:nvPr>
        </p:nvSpPr>
        <p:spPr>
          <a:xfrm>
            <a:off x="265500" y="308799"/>
            <a:ext cx="4045200" cy="155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endParaRPr/>
          </a:p>
        </p:txBody>
      </p:sp>
      <p:sp>
        <p:nvSpPr>
          <p:cNvPr id="86" name="Google Shape;86;p11"/>
          <p:cNvSpPr txBox="1">
            <a:spLocks noGrp="1"/>
          </p:cNvSpPr>
          <p:nvPr>
            <p:ph type="subTitle" idx="1"/>
          </p:nvPr>
        </p:nvSpPr>
        <p:spPr>
          <a:xfrm>
            <a:off x="265500" y="1860700"/>
            <a:ext cx="4045200" cy="301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7" name="Google Shape;87;p1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292100" rtl="0">
              <a:spcBef>
                <a:spcPts val="0"/>
              </a:spcBef>
              <a:spcAft>
                <a:spcPts val="0"/>
              </a:spcAft>
              <a:buClr>
                <a:schemeClr val="lt1"/>
              </a:buClr>
              <a:buSzPts val="1000"/>
              <a:buChar char="●"/>
              <a:defRPr>
                <a:solidFill>
                  <a:schemeClr val="lt1"/>
                </a:solidFill>
              </a:defRPr>
            </a:lvl1pPr>
            <a:lvl2pPr marL="914400" lvl="1" indent="-292100" rtl="0">
              <a:spcBef>
                <a:spcPts val="800"/>
              </a:spcBef>
              <a:spcAft>
                <a:spcPts val="0"/>
              </a:spcAft>
              <a:buClr>
                <a:schemeClr val="lt1"/>
              </a:buClr>
              <a:buSzPts val="1000"/>
              <a:buChar char="○"/>
              <a:defRPr>
                <a:solidFill>
                  <a:schemeClr val="lt1"/>
                </a:solidFill>
              </a:defRPr>
            </a:lvl2pPr>
            <a:lvl3pPr marL="1371600" lvl="2" indent="-292100" rtl="0">
              <a:spcBef>
                <a:spcPts val="800"/>
              </a:spcBef>
              <a:spcAft>
                <a:spcPts val="0"/>
              </a:spcAft>
              <a:buClr>
                <a:schemeClr val="lt1"/>
              </a:buClr>
              <a:buSzPts val="1000"/>
              <a:buChar char="■"/>
              <a:defRPr>
                <a:solidFill>
                  <a:schemeClr val="lt1"/>
                </a:solidFill>
              </a:defRPr>
            </a:lvl3pPr>
            <a:lvl4pPr marL="1828800" lvl="3" indent="-292100" rtl="0">
              <a:spcBef>
                <a:spcPts val="800"/>
              </a:spcBef>
              <a:spcAft>
                <a:spcPts val="0"/>
              </a:spcAft>
              <a:buClr>
                <a:schemeClr val="lt1"/>
              </a:buClr>
              <a:buSzPts val="1000"/>
              <a:buChar char="●"/>
              <a:defRPr>
                <a:solidFill>
                  <a:schemeClr val="lt1"/>
                </a:solidFill>
              </a:defRPr>
            </a:lvl4pPr>
            <a:lvl5pPr marL="2286000" lvl="4" indent="-292100" rtl="0">
              <a:spcBef>
                <a:spcPts val="800"/>
              </a:spcBef>
              <a:spcAft>
                <a:spcPts val="0"/>
              </a:spcAft>
              <a:buClr>
                <a:schemeClr val="lt1"/>
              </a:buClr>
              <a:buSzPts val="1000"/>
              <a:buChar char="○"/>
              <a:defRPr>
                <a:solidFill>
                  <a:schemeClr val="lt1"/>
                </a:solidFill>
              </a:defRPr>
            </a:lvl5pPr>
            <a:lvl6pPr marL="2743200" lvl="5" indent="-292100" rtl="0">
              <a:spcBef>
                <a:spcPts val="800"/>
              </a:spcBef>
              <a:spcAft>
                <a:spcPts val="0"/>
              </a:spcAft>
              <a:buClr>
                <a:schemeClr val="lt1"/>
              </a:buClr>
              <a:buSzPts val="1000"/>
              <a:buChar char="■"/>
              <a:defRPr>
                <a:solidFill>
                  <a:schemeClr val="lt1"/>
                </a:solidFill>
              </a:defRPr>
            </a:lvl6pPr>
            <a:lvl7pPr marL="3200400" lvl="6" indent="-292100" rtl="0">
              <a:spcBef>
                <a:spcPts val="800"/>
              </a:spcBef>
              <a:spcAft>
                <a:spcPts val="0"/>
              </a:spcAft>
              <a:buClr>
                <a:schemeClr val="lt1"/>
              </a:buClr>
              <a:buSzPts val="1000"/>
              <a:buChar char="●"/>
              <a:defRPr>
                <a:solidFill>
                  <a:schemeClr val="lt1"/>
                </a:solidFill>
              </a:defRPr>
            </a:lvl7pPr>
            <a:lvl8pPr marL="3657600" lvl="7" indent="-292100" rtl="0">
              <a:spcBef>
                <a:spcPts val="800"/>
              </a:spcBef>
              <a:spcAft>
                <a:spcPts val="0"/>
              </a:spcAft>
              <a:buClr>
                <a:schemeClr val="lt1"/>
              </a:buClr>
              <a:buSzPts val="1000"/>
              <a:buChar char="○"/>
              <a:defRPr>
                <a:solidFill>
                  <a:schemeClr val="lt1"/>
                </a:solidFill>
              </a:defRPr>
            </a:lvl8pPr>
            <a:lvl9pPr marL="4114800" lvl="8" indent="-292100" rtl="0">
              <a:spcBef>
                <a:spcPts val="800"/>
              </a:spcBef>
              <a:spcAft>
                <a:spcPts val="800"/>
              </a:spcAft>
              <a:buClr>
                <a:schemeClr val="lt1"/>
              </a:buClr>
              <a:buSzPts val="1000"/>
              <a:buChar char="■"/>
              <a:defRPr>
                <a:solidFill>
                  <a:schemeClr val="lt1"/>
                </a:solidFill>
              </a:defRPr>
            </a:lvl9pPr>
          </a:lstStyle>
          <a:p>
            <a:endParaRPr/>
          </a:p>
        </p:txBody>
      </p:sp>
      <p:sp>
        <p:nvSpPr>
          <p:cNvPr id="88" name="Google Shape;88;p11"/>
          <p:cNvSpPr txBox="1">
            <a:spLocks noGrp="1"/>
          </p:cNvSpPr>
          <p:nvPr>
            <p:ph type="sldNum" idx="12"/>
          </p:nvPr>
        </p:nvSpPr>
        <p:spPr>
          <a:xfrm>
            <a:off x="90450" y="4873575"/>
            <a:ext cx="548700" cy="2697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LO's" userDrawn="1">
  <p:cSld name="1_ILO's">
    <p:spTree>
      <p:nvGrpSpPr>
        <p:cNvPr id="1" name="Shape 33"/>
        <p:cNvGrpSpPr/>
        <p:nvPr/>
      </p:nvGrpSpPr>
      <p:grpSpPr>
        <a:xfrm>
          <a:off x="0" y="0"/>
          <a:ext cx="0" cy="0"/>
          <a:chOff x="0" y="0"/>
          <a:chExt cx="0" cy="0"/>
        </a:xfrm>
      </p:grpSpPr>
      <p:sp>
        <p:nvSpPr>
          <p:cNvPr id="34" name="Google Shape;34;p6"/>
          <p:cNvSpPr/>
          <p:nvPr/>
        </p:nvSpPr>
        <p:spPr>
          <a:xfrm>
            <a:off x="0" y="571460"/>
            <a:ext cx="9144000" cy="49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0"/>
            <a:ext cx="9144000" cy="5727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7" name="Google Shape;37;p6"/>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9" name="Google Shape;39;p6"/>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0" name="Google Shape;40;p6"/>
          <p:cNvSpPr txBox="1">
            <a:spLocks noGrp="1"/>
          </p:cNvSpPr>
          <p:nvPr>
            <p:ph type="title" idx="4"/>
          </p:nvPr>
        </p:nvSpPr>
        <p:spPr>
          <a:xfrm>
            <a:off x="68250" y="576000"/>
            <a:ext cx="8397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6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1" name="Google Shape;41;p6"/>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2" name="Google Shape;42;p6"/>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200"/>
            </a:lvl1pPr>
            <a:lvl2pPr lvl="1" rtl="0">
              <a:spcBef>
                <a:spcPts val="0"/>
              </a:spcBef>
              <a:spcAft>
                <a:spcPts val="0"/>
              </a:spcAft>
              <a:buNone/>
              <a:defRPr sz="900"/>
            </a:lvl2pPr>
            <a:lvl3pPr lvl="2" rtl="0">
              <a:spcBef>
                <a:spcPts val="0"/>
              </a:spcBef>
              <a:spcAft>
                <a:spcPts val="0"/>
              </a:spcAft>
              <a:buNone/>
              <a:defRPr sz="900"/>
            </a:lvl3pPr>
            <a:lvl4pPr lvl="3" rtl="0">
              <a:spcBef>
                <a:spcPts val="0"/>
              </a:spcBef>
              <a:spcAft>
                <a:spcPts val="0"/>
              </a:spcAft>
              <a:buNone/>
              <a:defRPr sz="900"/>
            </a:lvl4pPr>
            <a:lvl5pPr lvl="4" rtl="0">
              <a:spcBef>
                <a:spcPts val="0"/>
              </a:spcBef>
              <a:spcAft>
                <a:spcPts val="0"/>
              </a:spcAft>
              <a:buNone/>
              <a:defRPr sz="900"/>
            </a:lvl5pPr>
            <a:lvl6pPr lvl="5" rtl="0">
              <a:spcBef>
                <a:spcPts val="0"/>
              </a:spcBef>
              <a:spcAft>
                <a:spcPts val="0"/>
              </a:spcAft>
              <a:buNone/>
              <a:defRPr sz="900"/>
            </a:lvl6pPr>
            <a:lvl7pPr lvl="6" rtl="0">
              <a:spcBef>
                <a:spcPts val="0"/>
              </a:spcBef>
              <a:spcAft>
                <a:spcPts val="0"/>
              </a:spcAft>
              <a:buNone/>
              <a:defRPr sz="900"/>
            </a:lvl7pPr>
            <a:lvl8pPr lvl="7" rtl="0">
              <a:spcBef>
                <a:spcPts val="0"/>
              </a:spcBef>
              <a:spcAft>
                <a:spcPts val="0"/>
              </a:spcAft>
              <a:buNone/>
              <a:defRPr sz="900"/>
            </a:lvl8pPr>
            <a:lvl9pPr lvl="8" rtl="0">
              <a:spcBef>
                <a:spcPts val="0"/>
              </a:spcBef>
              <a:spcAft>
                <a:spcPts val="0"/>
              </a:spcAft>
              <a:buNone/>
              <a:defRPr sz="900"/>
            </a:lvl9pPr>
          </a:lstStyle>
          <a:p>
            <a:endParaRPr/>
          </a:p>
        </p:txBody>
      </p:sp>
    </p:spTree>
    <p:extLst>
      <p:ext uri="{BB962C8B-B14F-4D97-AF65-F5344CB8AC3E}">
        <p14:creationId xmlns:p14="http://schemas.microsoft.com/office/powerpoint/2010/main" val="2532129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rgbClr val="66666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2000"/>
              <a:buFont typeface="Roboto Light"/>
              <a:buNone/>
              <a:defRPr sz="2000">
                <a:solidFill>
                  <a:srgbClr val="FFFFFF"/>
                </a:solidFill>
                <a:latin typeface="Roboto Light"/>
                <a:ea typeface="Roboto Light"/>
                <a:cs typeface="Roboto Light"/>
                <a:sym typeface="Roboto Light"/>
              </a:defRPr>
            </a:lvl1pPr>
            <a:lvl2pPr lvl="1">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2pPr>
            <a:lvl3pPr lvl="2">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3pPr>
            <a:lvl4pPr lvl="3">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4pPr>
            <a:lvl5pPr lvl="4">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5pPr>
            <a:lvl6pPr lvl="5">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6pPr>
            <a:lvl7pPr lvl="6">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7pPr>
            <a:lvl8pPr lvl="7">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8pPr>
            <a:lvl9pPr lvl="8">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636725"/>
            <a:ext cx="8520600" cy="3932100"/>
          </a:xfrm>
          <a:prstGeom prst="rect">
            <a:avLst/>
          </a:prstGeom>
          <a:noFill/>
          <a:ln>
            <a:noFill/>
          </a:ln>
        </p:spPr>
        <p:txBody>
          <a:bodyPr spcFirstLastPara="1" wrap="square" lIns="91425" tIns="91425" rIns="91425" bIns="91425" anchor="t" anchorCtr="0">
            <a:noAutofit/>
          </a:bodyPr>
          <a:lstStyle>
            <a:lvl1pPr marL="457200" lvl="0" indent="-292100">
              <a:lnSpc>
                <a:spcPct val="104000"/>
              </a:lnSpc>
              <a:spcBef>
                <a:spcPts val="0"/>
              </a:spcBef>
              <a:spcAft>
                <a:spcPts val="0"/>
              </a:spcAft>
              <a:buClr>
                <a:srgbClr val="FFFFFF"/>
              </a:buClr>
              <a:buSzPts val="1000"/>
              <a:buFont typeface="Roboto"/>
              <a:buChar char="●"/>
              <a:defRPr sz="1000">
                <a:solidFill>
                  <a:srgbClr val="FFFFFF"/>
                </a:solidFill>
                <a:latin typeface="Roboto"/>
                <a:ea typeface="Roboto"/>
                <a:cs typeface="Roboto"/>
                <a:sym typeface="Roboto"/>
              </a:defRPr>
            </a:lvl1pPr>
            <a:lvl2pPr marL="914400" lvl="1"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2pPr>
            <a:lvl3pPr marL="1371600" lvl="2"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3pPr>
            <a:lvl4pPr marL="1828800" lvl="3"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4pPr>
            <a:lvl5pPr marL="2286000" lvl="4"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5pPr>
            <a:lvl6pPr marL="2743200" lvl="5"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6pPr>
            <a:lvl7pPr marL="3200400" lvl="6"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7pPr>
            <a:lvl8pPr marL="3657600" lvl="7"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8pPr>
            <a:lvl9pPr marL="4114800" lvl="8" indent="-292100">
              <a:lnSpc>
                <a:spcPct val="104000"/>
              </a:lnSpc>
              <a:spcBef>
                <a:spcPts val="800"/>
              </a:spcBef>
              <a:spcAft>
                <a:spcPts val="800"/>
              </a:spcAft>
              <a:buClr>
                <a:srgbClr val="FFFFFF"/>
              </a:buClr>
              <a:buSzPts val="1000"/>
              <a:buFont typeface="Roboto"/>
              <a:buChar char="■"/>
              <a:defRPr sz="1000" u="sng">
                <a:solidFill>
                  <a:srgbClr val="FFFFFF"/>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90450" y="4873575"/>
            <a:ext cx="548700" cy="269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adsai.buas.nl/" TargetMode="External"/><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adsai.buas.nl/" TargetMode="External"/><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adsai.buas.nl/" TargetMode="External"/><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s://adsai.buas.nl/" TargetMode="External"/><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hyperlink" Target="https://adsai.buas.nl/" TargetMode="External"/><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s://adsai.buas.nl/" TargetMode="External"/><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adsai.buas.nl/" TargetMode="External"/><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4.sv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4.sv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2"/>
          <p:cNvSpPr txBox="1">
            <a:spLocks noGrp="1"/>
          </p:cNvSpPr>
          <p:nvPr>
            <p:ph type="ctrTitle"/>
          </p:nvPr>
        </p:nvSpPr>
        <p:spPr>
          <a:xfrm>
            <a:off x="3657600" y="548650"/>
            <a:ext cx="4937700" cy="3264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FFFFFF"/>
                </a:solidFill>
                <a:latin typeface="Roboto"/>
                <a:ea typeface="Roboto"/>
                <a:cs typeface="Roboto"/>
                <a:sym typeface="Roboto"/>
              </a:rPr>
              <a:t>«</a:t>
            </a:r>
            <a:r>
              <a:rPr lang="en" dirty="0" err="1">
                <a:solidFill>
                  <a:srgbClr val="FFFFFF"/>
                </a:solidFill>
                <a:latin typeface="Roboto"/>
                <a:ea typeface="Roboto"/>
                <a:cs typeface="Roboto"/>
                <a:sym typeface="Roboto"/>
              </a:rPr>
              <a:t>studentname</a:t>
            </a:r>
            <a:r>
              <a:rPr lang="en" dirty="0">
                <a:solidFill>
                  <a:srgbClr val="FFFFFF"/>
                </a:solidFill>
                <a:latin typeface="Roboto"/>
                <a:ea typeface="Roboto"/>
                <a:cs typeface="Roboto"/>
                <a:sym typeface="Roboto"/>
              </a:rPr>
              <a:t>»</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 dirty="0">
                <a:solidFill>
                  <a:srgbClr val="FFFFFF"/>
                </a:solidFill>
                <a:latin typeface="Roboto"/>
                <a:ea typeface="Roboto"/>
                <a:cs typeface="Roboto"/>
                <a:sym typeface="Roboto"/>
              </a:rPr>
              <a:t>«</a:t>
            </a:r>
            <a:r>
              <a:rPr lang="en" dirty="0" err="1">
                <a:solidFill>
                  <a:srgbClr val="FFFFFF"/>
                </a:solidFill>
                <a:latin typeface="Roboto"/>
                <a:ea typeface="Roboto"/>
                <a:cs typeface="Roboto"/>
                <a:sym typeface="Roboto"/>
              </a:rPr>
              <a:t>studentid</a:t>
            </a:r>
            <a:r>
              <a:rPr lang="en" dirty="0">
                <a:solidFill>
                  <a:srgbClr val="FFFFFF"/>
                </a:solidFill>
                <a:latin typeface="Roboto"/>
                <a:ea typeface="Roboto"/>
                <a:cs typeface="Roboto"/>
                <a:sym typeface="Roboto"/>
              </a:rPr>
              <a:t>»</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 dirty="0">
                <a:solidFill>
                  <a:srgbClr val="FFFFFF"/>
                </a:solidFill>
                <a:latin typeface="Roboto"/>
                <a:ea typeface="Roboto"/>
                <a:cs typeface="Roboto"/>
                <a:sym typeface="Roboto"/>
              </a:rPr>
              <a:t>«</a:t>
            </a:r>
            <a:r>
              <a:rPr lang="en-NL" err="1">
                <a:latin typeface="Roboto"/>
                <a:ea typeface="Roboto"/>
                <a:cs typeface="Roboto"/>
                <a:sym typeface="Roboto"/>
              </a:rPr>
              <a:t>creativebrief</a:t>
            </a:r>
            <a:r>
              <a:rPr lang="en-NL">
                <a:latin typeface="Roboto"/>
                <a:ea typeface="Roboto"/>
                <a:cs typeface="Roboto"/>
                <a:sym typeface="Roboto"/>
              </a:rPr>
              <a:t>/</a:t>
            </a:r>
            <a:r>
              <a:rPr lang="en-NL" err="1">
                <a:latin typeface="Roboto"/>
                <a:ea typeface="Roboto"/>
                <a:cs typeface="Roboto"/>
                <a:sym typeface="Roboto"/>
              </a:rPr>
              <a:t>projectname</a:t>
            </a:r>
            <a:r>
              <a:rPr lang="en" dirty="0">
                <a:solidFill>
                  <a:srgbClr val="FFFFFF"/>
                </a:solidFill>
                <a:latin typeface="Roboto"/>
                <a:ea typeface="Roboto"/>
                <a:cs typeface="Roboto"/>
                <a:sym typeface="Roboto"/>
              </a:rPr>
              <a:t>»</a:t>
            </a:r>
            <a:endParaRPr dirty="0">
              <a:solidFill>
                <a:srgbClr val="FFFFFF"/>
              </a:solidFill>
              <a:latin typeface="Roboto"/>
              <a:ea typeface="Roboto"/>
              <a:cs typeface="Roboto"/>
              <a:sym typeface="Roboto"/>
            </a:endParaRPr>
          </a:p>
        </p:txBody>
      </p:sp>
      <p:sp>
        <p:nvSpPr>
          <p:cNvPr id="94" name="Google Shape;94;p12" descr="Face" title="Face"/>
          <p:cNvSpPr/>
          <p:nvPr/>
        </p:nvSpPr>
        <p:spPr>
          <a:xfrm>
            <a:off x="3749050" y="640075"/>
            <a:ext cx="1371600" cy="1371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[photo]</a:t>
            </a:r>
            <a:endParaRPr/>
          </a:p>
        </p:txBody>
      </p:sp>
      <p:sp>
        <p:nvSpPr>
          <p:cNvPr id="95" name="Google Shape;95;p12"/>
          <p:cNvSpPr txBox="1">
            <a:spLocks noGrp="1"/>
          </p:cNvSpPr>
          <p:nvPr>
            <p:ph type="subTitle" idx="1"/>
          </p:nvPr>
        </p:nvSpPr>
        <p:spPr>
          <a:xfrm>
            <a:off x="548650" y="2571750"/>
            <a:ext cx="2011800" cy="1406525"/>
          </a:xfrm>
          <a:prstGeom prst="rect">
            <a:avLst/>
          </a:prstGeom>
        </p:spPr>
        <p:txBody>
          <a:bodyPr spcFirstLastPara="1" wrap="square" lIns="91425" tIns="91425" rIns="91425" bIns="91425" anchor="b" anchorCtr="0">
            <a:noAutofit/>
          </a:bodyPr>
          <a:lstStyle/>
          <a:p>
            <a:pPr marL="0" indent="0">
              <a:lnSpc>
                <a:spcPct val="104000"/>
              </a:lnSpc>
            </a:pPr>
            <a:r>
              <a:rPr lang="en" sz="1800">
                <a:solidFill>
                  <a:srgbClr val="434343"/>
                </a:solidFill>
              </a:rPr>
              <a:t>Learning Log</a:t>
            </a:r>
            <a:r>
              <a:rPr lang="en">
                <a:solidFill>
                  <a:srgbClr val="434343"/>
                </a:solidFill>
              </a:rPr>
              <a:t> </a:t>
            </a:r>
            <a:endParaRPr sz="1800">
              <a:solidFill>
                <a:srgbClr val="434343"/>
              </a:solidFill>
            </a:endParaRPr>
          </a:p>
          <a:p>
            <a:pPr marL="0" indent="0">
              <a:lnSpc>
                <a:spcPct val="104000"/>
              </a:lnSpc>
              <a:spcBef>
                <a:spcPts val="800"/>
              </a:spcBef>
              <a:spcAft>
                <a:spcPts val="800"/>
              </a:spcAft>
            </a:pPr>
            <a:r>
              <a:rPr lang="en">
                <a:solidFill>
                  <a:srgbClr val="434343"/>
                </a:solidFill>
              </a:rPr>
              <a:t>Year  </a:t>
            </a:r>
            <a:r>
              <a:rPr lang="en-NL">
                <a:solidFill>
                  <a:srgbClr val="434343"/>
                </a:solidFill>
              </a:rPr>
              <a:t>X</a:t>
            </a:r>
            <a:endParaRPr lang="en">
              <a:solidFill>
                <a:srgbClr val="434343"/>
              </a:solidFill>
            </a:endParaRPr>
          </a:p>
          <a:p>
            <a:pPr marL="0" indent="0">
              <a:lnSpc>
                <a:spcPct val="104000"/>
              </a:lnSpc>
              <a:spcBef>
                <a:spcPts val="800"/>
              </a:spcBef>
              <a:spcAft>
                <a:spcPts val="800"/>
              </a:spcAft>
            </a:pPr>
            <a:r>
              <a:rPr lang="en">
                <a:solidFill>
                  <a:srgbClr val="434343"/>
                </a:solidFill>
              </a:rPr>
              <a:t>Block  </a:t>
            </a:r>
            <a:r>
              <a:rPr lang="en-NL">
                <a:solidFill>
                  <a:srgbClr val="434343"/>
                </a:solidFill>
              </a:rPr>
              <a:t>X</a:t>
            </a:r>
            <a:endParaRPr sz="1800">
              <a:solidFill>
                <a:srgbClr val="434343"/>
              </a:solidFill>
            </a:endParaRPr>
          </a:p>
        </p:txBody>
      </p:sp>
      <p:sp>
        <p:nvSpPr>
          <p:cNvPr id="4" name="Google Shape;16;p2">
            <a:extLst>
              <a:ext uri="{FF2B5EF4-FFF2-40B4-BE49-F238E27FC236}">
                <a16:creationId xmlns:a16="http://schemas.microsoft.com/office/drawing/2014/main" id="{8758BBB5-F7B4-27C5-E103-E7FBDED4DBC2}"/>
              </a:ext>
            </a:extLst>
          </p:cNvPr>
          <p:cNvSpPr txBox="1"/>
          <p:nvPr/>
        </p:nvSpPr>
        <p:spPr>
          <a:xfrm>
            <a:off x="2560450" y="453569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dirty="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title"/>
          </p:nvPr>
        </p:nvSpPr>
        <p:spPr>
          <a:xfrm>
            <a:off x="182880" y="2926080"/>
            <a:ext cx="2743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How To Use</a:t>
            </a:r>
            <a:endParaRPr/>
          </a:p>
          <a:p>
            <a:pPr marL="0" lvl="0" indent="0" algn="ctr" rtl="0">
              <a:spcBef>
                <a:spcPts val="0"/>
              </a:spcBef>
              <a:spcAft>
                <a:spcPts val="0"/>
              </a:spcAft>
              <a:buNone/>
            </a:pPr>
            <a:r>
              <a:rPr lang="en"/>
              <a:t>This Template</a:t>
            </a:r>
            <a:endParaRPr/>
          </a:p>
        </p:txBody>
      </p:sp>
      <p:sp>
        <p:nvSpPr>
          <p:cNvPr id="102" name="Google Shape;102;p13"/>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As a student at Breda University of Applied Sciences studying to become a professional, you are required to provide evidence that demonstrates your professional learning and growth during the block. This template is intended to provide you with a well-structured and </a:t>
            </a:r>
            <a:r>
              <a:rPr lang="en" err="1"/>
              <a:t>organised</a:t>
            </a:r>
            <a:r>
              <a:rPr lang="en"/>
              <a:t> format for doing this effectively. Keep in mind that certain competencies may require you to update your evidence every week, and others may have only be relevant during a particular week or two.</a:t>
            </a:r>
            <a:endParaRPr/>
          </a:p>
          <a:p>
            <a:pPr marL="0" lvl="0" indent="0" algn="l" rtl="0">
              <a:spcBef>
                <a:spcPts val="800"/>
              </a:spcBef>
              <a:spcAft>
                <a:spcPts val="0"/>
              </a:spcAft>
              <a:buNone/>
            </a:pPr>
            <a:endParaRPr/>
          </a:p>
          <a:p>
            <a:pPr marL="0" lvl="0" indent="0" algn="l" rtl="0">
              <a:spcBef>
                <a:spcPts val="800"/>
              </a:spcBef>
              <a:spcAft>
                <a:spcPts val="0"/>
              </a:spcAft>
              <a:buNone/>
            </a:pPr>
            <a:r>
              <a:rPr lang="en"/>
              <a:t>With the evidence you present here teachers should get a clear and comprehensive overview of your progress, how you’ve engaged with feedback, as well as your general attitude and performance as a student and as an aspiring professional developer.</a:t>
            </a:r>
            <a:endParaRPr/>
          </a:p>
          <a:p>
            <a:pPr marL="0" lvl="0" indent="0" algn="l" rtl="0">
              <a:spcBef>
                <a:spcPts val="800"/>
              </a:spcBef>
              <a:spcAft>
                <a:spcPts val="0"/>
              </a:spcAft>
              <a:buNone/>
            </a:pPr>
            <a:endParaRPr/>
          </a:p>
          <a:p>
            <a:pPr marL="0" lvl="0" indent="0" algn="l" rtl="0">
              <a:spcBef>
                <a:spcPts val="800"/>
              </a:spcBef>
              <a:spcAft>
                <a:spcPts val="0"/>
              </a:spcAft>
              <a:buNone/>
            </a:pPr>
            <a:r>
              <a:rPr lang="en"/>
              <a:t>Note that number and size of text boxes and how they are organized on each slide may be modified as needed. It is up to you to decide what layout is most effective for the content you are providing. You may also add slides if needed, but try to be as economical as possible, i.e. quality over quantity. Focus on the things that are the most significant and meaningful.</a:t>
            </a:r>
            <a:endParaRPr/>
          </a:p>
          <a:p>
            <a:pPr marL="0" lvl="0" indent="0" algn="l" rtl="0">
              <a:spcBef>
                <a:spcPts val="800"/>
              </a:spcBef>
              <a:spcAft>
                <a:spcPts val="0"/>
              </a:spcAft>
              <a:buNone/>
            </a:pPr>
            <a:endParaRPr/>
          </a:p>
          <a:p>
            <a:pPr marL="0" lvl="0" indent="0" algn="l" rtl="0">
              <a:spcBef>
                <a:spcPts val="800"/>
              </a:spcBef>
              <a:spcAft>
                <a:spcPts val="800"/>
              </a:spcAft>
              <a:buNone/>
            </a:pPr>
            <a:r>
              <a:rPr lang="en"/>
              <a:t>You are also free to stylise this template to improve the graphic design and visual appeal, but please remember its purpose: to provide evidence of your progress towards becoming a professional developer. Changes should only enhance and extend the information, and may never subtract. I.e. do not delete anything or change the order of things. If in doubt, seek approval from your teachers!</a:t>
            </a:r>
            <a:endParaRPr/>
          </a:p>
        </p:txBody>
      </p:sp>
      <p:pic>
        <p:nvPicPr>
          <p:cNvPr id="1026" name="Picture 2" descr="Artificial intelligence brain">
            <a:extLst>
              <a:ext uri="{FF2B5EF4-FFF2-40B4-BE49-F238E27FC236}">
                <a16:creationId xmlns:a16="http://schemas.microsoft.com/office/drawing/2014/main" id="{31E76062-B307-B28D-6D09-6AB7455F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4" y="453863"/>
            <a:ext cx="3102126" cy="1615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74320" y="308799"/>
            <a:ext cx="2560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Log</a:t>
            </a:r>
            <a:endParaRPr/>
          </a:p>
          <a:p>
            <a:pPr marL="0" lvl="0" indent="0" algn="ctr" rtl="0">
              <a:spcBef>
                <a:spcPts val="0"/>
              </a:spcBef>
              <a:spcAft>
                <a:spcPts val="0"/>
              </a:spcAft>
              <a:buNone/>
            </a:pPr>
            <a:r>
              <a:rPr lang="en"/>
              <a:t>Structure</a:t>
            </a:r>
            <a:endParaRPr/>
          </a:p>
        </p:txBody>
      </p:sp>
      <p:sp>
        <p:nvSpPr>
          <p:cNvPr id="109" name="Google Shape;109;p14"/>
          <p:cNvSpPr txBox="1">
            <a:spLocks noGrp="1"/>
          </p:cNvSpPr>
          <p:nvPr>
            <p:ph type="subTitle" idx="1"/>
          </p:nvPr>
        </p:nvSpPr>
        <p:spPr>
          <a:xfrm>
            <a:off x="274320" y="1860700"/>
            <a:ext cx="2560200" cy="301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t>Section A</a:t>
            </a:r>
            <a:endParaRPr sz="1400"/>
          </a:p>
          <a:p>
            <a:pPr marL="182880" lvl="0" indent="-180340" algn="l" rtl="0">
              <a:spcBef>
                <a:spcPts val="0"/>
              </a:spcBef>
              <a:spcAft>
                <a:spcPts val="0"/>
              </a:spcAft>
              <a:buSzPts val="1400"/>
              <a:buChar char="●"/>
            </a:pPr>
            <a:r>
              <a:rPr lang="en" sz="1400"/>
              <a:t>Starting this block</a:t>
            </a:r>
            <a:endParaRPr sz="1400"/>
          </a:p>
          <a:p>
            <a:pPr marL="182880" lvl="0" indent="-180340" algn="l" rtl="0">
              <a:spcBef>
                <a:spcPts val="0"/>
              </a:spcBef>
              <a:spcAft>
                <a:spcPts val="0"/>
              </a:spcAft>
              <a:buSzPts val="1400"/>
              <a:buChar char="●"/>
            </a:pPr>
            <a:r>
              <a:rPr lang="en" sz="1400"/>
              <a:t>Goals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B </a:t>
            </a:r>
            <a:endParaRPr sz="1400"/>
          </a:p>
          <a:p>
            <a:pPr marL="182880" lvl="0" indent="-180340" algn="l" rtl="0">
              <a:spcBef>
                <a:spcPts val="0"/>
              </a:spcBef>
              <a:spcAft>
                <a:spcPts val="0"/>
              </a:spcAft>
              <a:buSzPts val="1400"/>
              <a:buChar char="●"/>
            </a:pPr>
            <a:r>
              <a:rPr lang="en" sz="1400"/>
              <a:t>ILO section</a:t>
            </a:r>
            <a:endParaRPr sz="1400"/>
          </a:p>
          <a:p>
            <a:pPr marL="182880" lvl="0" indent="-180340" algn="l" rtl="0">
              <a:spcBef>
                <a:spcPts val="0"/>
              </a:spcBef>
              <a:spcAft>
                <a:spcPts val="0"/>
              </a:spcAft>
              <a:buSzPts val="1400"/>
              <a:buChar char="●"/>
            </a:pPr>
            <a:r>
              <a:rPr lang="en" sz="1400"/>
              <a:t>Week log section</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C</a:t>
            </a:r>
            <a:endParaRPr sz="1400"/>
          </a:p>
          <a:p>
            <a:pPr marL="182880" lvl="0" indent="-180340" algn="l" rtl="0">
              <a:spcBef>
                <a:spcPts val="0"/>
              </a:spcBef>
              <a:spcAft>
                <a:spcPts val="0"/>
              </a:spcAft>
              <a:buSzPts val="1400"/>
              <a:buChar char="●"/>
            </a:pPr>
            <a:r>
              <a:rPr lang="en" sz="1400"/>
              <a:t>Block reflection</a:t>
            </a:r>
            <a:endParaRPr sz="1400"/>
          </a:p>
        </p:txBody>
      </p:sp>
      <p:sp>
        <p:nvSpPr>
          <p:cNvPr id="110" name="Google Shape;110;p14"/>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200" b="1" u="sng" dirty="0"/>
              <a:t>Section A - My Plan 		</a:t>
            </a:r>
            <a:r>
              <a:rPr lang="en-US" i="1" dirty="0"/>
              <a:t>Not required in this block</a:t>
            </a:r>
            <a:endParaRPr i="1" u="sng" dirty="0"/>
          </a:p>
          <a:p>
            <a:pPr marL="0" lvl="0" indent="0" algn="l" rtl="0">
              <a:spcBef>
                <a:spcPts val="800"/>
              </a:spcBef>
              <a:spcAft>
                <a:spcPts val="0"/>
              </a:spcAft>
              <a:buNone/>
            </a:pPr>
            <a:r>
              <a:rPr lang="en" dirty="0"/>
              <a:t>Your plan describes your goals for the block. Starting with where you are right now, where do you want to be at the end of the block? I.e. what role(s) will you take responsibility for, and how will you demonstrate progress relevant to the ILOs for this block? What tasks and deliverables are best aligned with your role and the project brief?</a:t>
            </a:r>
            <a:endParaRPr dirty="0"/>
          </a:p>
          <a:p>
            <a:pPr marL="0" lvl="0" indent="0" algn="l" rtl="0">
              <a:spcBef>
                <a:spcPts val="800"/>
              </a:spcBef>
              <a:spcAft>
                <a:spcPts val="0"/>
              </a:spcAft>
              <a:buNone/>
            </a:pPr>
            <a:r>
              <a:rPr lang="en" sz="1200" b="1" u="sng" dirty="0"/>
              <a:t>Section B - ILO’s		</a:t>
            </a:r>
            <a:r>
              <a:rPr lang="en" i="1" dirty="0"/>
              <a:t>Must be completed in </a:t>
            </a:r>
            <a:r>
              <a:rPr lang="en" i="1" u="sng" dirty="0"/>
              <a:t>week 8</a:t>
            </a:r>
            <a:r>
              <a:rPr lang="en" i="1" dirty="0"/>
              <a:t>, but should be updated </a:t>
            </a:r>
            <a:r>
              <a:rPr lang="en" i="1" u="sng" dirty="0"/>
              <a:t>regularly</a:t>
            </a:r>
            <a:endParaRPr i="1" u="sng" dirty="0"/>
          </a:p>
          <a:p>
            <a:pPr marL="0" lvl="0" indent="0" algn="l" rtl="0">
              <a:spcBef>
                <a:spcPts val="800"/>
              </a:spcBef>
              <a:spcAft>
                <a:spcPts val="0"/>
              </a:spcAft>
              <a:buNone/>
            </a:pPr>
            <a:r>
              <a:rPr lang="en" dirty="0"/>
              <a:t>This is where you link your evidence to each of the Intended Learning Outcomes of this block.</a:t>
            </a:r>
            <a:endParaRPr dirty="0"/>
          </a:p>
          <a:p>
            <a:pPr marL="0" lvl="0" indent="0" algn="l" rtl="0">
              <a:spcBef>
                <a:spcPts val="800"/>
              </a:spcBef>
              <a:spcAft>
                <a:spcPts val="0"/>
              </a:spcAft>
              <a:buNone/>
            </a:pPr>
            <a:r>
              <a:rPr lang="en" sz="1200" b="1" u="sng" dirty="0"/>
              <a:t>Section C - Weekly Log	</a:t>
            </a:r>
            <a:r>
              <a:rPr lang="en" i="1" dirty="0"/>
              <a:t>Must be updated </a:t>
            </a:r>
            <a:r>
              <a:rPr lang="en" i="1" u="sng" dirty="0"/>
              <a:t>every week</a:t>
            </a:r>
            <a:endParaRPr i="1" u="sng" dirty="0"/>
          </a:p>
          <a:p>
            <a:pPr marL="0" lvl="0" indent="0" algn="l" rtl="0">
              <a:spcBef>
                <a:spcPts val="800"/>
              </a:spcBef>
              <a:spcAft>
                <a:spcPts val="0"/>
              </a:spcAft>
              <a:buNone/>
            </a:pPr>
            <a:r>
              <a:rPr lang="en" dirty="0"/>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dirty="0"/>
          </a:p>
          <a:p>
            <a:pPr marL="0" lvl="0" indent="0" algn="l" rtl="0">
              <a:spcBef>
                <a:spcPts val="800"/>
              </a:spcBef>
              <a:spcAft>
                <a:spcPts val="0"/>
              </a:spcAft>
              <a:buNone/>
            </a:pPr>
            <a:r>
              <a:rPr lang="en" dirty="0"/>
              <a:t>In such cases, you simply need to provide links to those artifacts and may include any explanatory comment or reflection you feel is appropriate. </a:t>
            </a:r>
            <a:endParaRPr dirty="0"/>
          </a:p>
          <a:p>
            <a:pPr marL="0" lvl="0" indent="0" algn="l" rtl="0">
              <a:spcBef>
                <a:spcPts val="800"/>
              </a:spcBef>
              <a:spcAft>
                <a:spcPts val="0"/>
              </a:spcAft>
              <a:buNone/>
            </a:pPr>
            <a:r>
              <a:rPr lang="en" dirty="0"/>
              <a:t>(Some reflection is almost always a good idea as it provides the foundation for Section C.)</a:t>
            </a:r>
            <a:endParaRPr dirty="0"/>
          </a:p>
          <a:p>
            <a:pPr marL="0" lvl="0" indent="0" algn="l" rtl="0">
              <a:spcBef>
                <a:spcPts val="800"/>
              </a:spcBef>
              <a:spcAft>
                <a:spcPts val="0"/>
              </a:spcAft>
              <a:buNone/>
            </a:pPr>
            <a:r>
              <a:rPr lang="en" sz="1200" b="1" u="sng" dirty="0"/>
              <a:t>Section D - Reflection	</a:t>
            </a:r>
            <a:r>
              <a:rPr lang="en" i="1" dirty="0"/>
              <a:t>Must be completed in </a:t>
            </a:r>
            <a:r>
              <a:rPr lang="en" i="1" u="sng" dirty="0"/>
              <a:t>week 8</a:t>
            </a:r>
            <a:endParaRPr i="1" u="sng" dirty="0"/>
          </a:p>
          <a:p>
            <a:pPr marL="0" lvl="0" indent="0" algn="l" rtl="0">
              <a:spcBef>
                <a:spcPts val="800"/>
              </a:spcBef>
              <a:spcAft>
                <a:spcPts val="800"/>
              </a:spcAft>
              <a:buNone/>
            </a:pPr>
            <a:r>
              <a:rPr lang="en" dirty="0"/>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Goal Setting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A</a:t>
            </a:r>
            <a:endParaRPr sz="40000">
              <a:solidFill>
                <a:srgbClr val="999999"/>
              </a:solidFill>
              <a:latin typeface="Roboto"/>
              <a:ea typeface="Roboto"/>
              <a:cs typeface="Roboto"/>
              <a:sym typeface="Roboto"/>
            </a:endParaRPr>
          </a:p>
        </p:txBody>
      </p:sp>
      <p:sp>
        <p:nvSpPr>
          <p:cNvPr id="2" name="Rectangle: Rounded Corners 1">
            <a:extLst>
              <a:ext uri="{FF2B5EF4-FFF2-40B4-BE49-F238E27FC236}">
                <a16:creationId xmlns:a16="http://schemas.microsoft.com/office/drawing/2014/main" id="{4E84F48E-9152-454D-9754-FA0D0AD81F68}"/>
              </a:ext>
            </a:extLst>
          </p:cNvPr>
          <p:cNvSpPr/>
          <p:nvPr/>
        </p:nvSpPr>
        <p:spPr>
          <a:xfrm>
            <a:off x="2033752" y="404648"/>
            <a:ext cx="6232634" cy="73046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t>NOT IN BLOCK A – IGNORE THIS SLIDE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B</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 Log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B</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53072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a:t>Week 1 - Log</a:t>
            </a:r>
            <a:endParaRPr lang="en-US"/>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1 - Feedback</a:t>
            </a:r>
            <a:endParaRPr/>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indent="0">
              <a:spcBef>
                <a:spcPts val="800"/>
              </a:spcBef>
              <a:spcAft>
                <a:spcPts val="800"/>
              </a:spcAft>
              <a:buNone/>
            </a:pPr>
            <a:r>
              <a:rPr lang="en"/>
              <a:t>Response</a:t>
            </a:r>
            <a:r>
              <a:rPr lang="en-US"/>
              <a:t> to Feedback</a:t>
            </a:r>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2" name="TextBox 1">
            <a:extLst>
              <a:ext uri="{FF2B5EF4-FFF2-40B4-BE49-F238E27FC236}">
                <a16:creationId xmlns:a16="http://schemas.microsoft.com/office/drawing/2014/main" id="{7D431F1F-F634-7FA5-06F3-E9A2BA1F45DE}"/>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Log</a:t>
            </a:r>
            <a:endParaRPr/>
          </a:p>
        </p:txBody>
      </p:sp>
      <p:sp>
        <p:nvSpPr>
          <p:cNvPr id="203" name="Google Shape;203;p24"/>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04" name="Google Shape;204;p24"/>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05" name="Google Shape;205;p24"/>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06" name="Google Shape;206;p24"/>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07" name="Google Shape;207;p24"/>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08" name="Google Shape;208;p24"/>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2</a:t>
            </a:r>
            <a:endParaRPr/>
          </a:p>
        </p:txBody>
      </p:sp>
      <p:sp>
        <p:nvSpPr>
          <p:cNvPr id="209" name="Google Shape;209;p24"/>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Feedback</a:t>
            </a:r>
            <a:endParaRPr/>
          </a:p>
        </p:txBody>
      </p:sp>
      <p:sp>
        <p:nvSpPr>
          <p:cNvPr id="215" name="Google Shape;215;p25"/>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16" name="Google Shape;216;p25"/>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17" name="Google Shape;217;p25"/>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218" name="Google Shape;218;p25"/>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2" name="TextBox 1">
            <a:extLst>
              <a:ext uri="{FF2B5EF4-FFF2-40B4-BE49-F238E27FC236}">
                <a16:creationId xmlns:a16="http://schemas.microsoft.com/office/drawing/2014/main" id="{B5758ED6-2E5B-74B1-2664-A630EA9A95AF}"/>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 name="TextBox 1">
            <a:extLst>
              <a:ext uri="{FF2B5EF4-FFF2-40B4-BE49-F238E27FC236}">
                <a16:creationId xmlns:a16="http://schemas.microsoft.com/office/drawing/2014/main" id="{921731BA-FB23-96B8-7D5B-D22581CDAED5}"/>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9973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2" name="TextBox 1">
            <a:extLst>
              <a:ext uri="{FF2B5EF4-FFF2-40B4-BE49-F238E27FC236}">
                <a16:creationId xmlns:a16="http://schemas.microsoft.com/office/drawing/2014/main" id="{D4F2C1F4-CF58-BC86-92ED-7A05955F6389}"/>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3366952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3140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2" name="TextBox 1">
            <a:extLst>
              <a:ext uri="{FF2B5EF4-FFF2-40B4-BE49-F238E27FC236}">
                <a16:creationId xmlns:a16="http://schemas.microsoft.com/office/drawing/2014/main" id="{9592EFFB-9B92-B2C5-0ACF-FDC0DE02C8F4}"/>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1600689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3163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2" name="TextBox 1">
            <a:extLst>
              <a:ext uri="{FF2B5EF4-FFF2-40B4-BE49-F238E27FC236}">
                <a16:creationId xmlns:a16="http://schemas.microsoft.com/office/drawing/2014/main" id="{DDFD7B23-1606-58BD-9C84-E92FE2A298BF}"/>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2397875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2546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2" name="TextBox 1">
            <a:extLst>
              <a:ext uri="{FF2B5EF4-FFF2-40B4-BE49-F238E27FC236}">
                <a16:creationId xmlns:a16="http://schemas.microsoft.com/office/drawing/2014/main" id="{810859A9-4068-F942-37B5-F053552E2331}"/>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628294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US"/>
              <a:t>8</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8</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9604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US"/>
              <a:t>8</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8</a:t>
            </a:r>
            <a:endParaRPr/>
          </a:p>
        </p:txBody>
      </p:sp>
      <p:sp>
        <p:nvSpPr>
          <p:cNvPr id="2" name="TextBox 1">
            <a:extLst>
              <a:ext uri="{FF2B5EF4-FFF2-40B4-BE49-F238E27FC236}">
                <a16:creationId xmlns:a16="http://schemas.microsoft.com/office/drawing/2014/main" id="{A3F79454-97A0-D52B-1105-DCF3588B2909}"/>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2861106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8"/>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C</a:t>
            </a:r>
            <a:endParaRPr sz="6000"/>
          </a:p>
        </p:txBody>
      </p:sp>
      <p:sp>
        <p:nvSpPr>
          <p:cNvPr id="357" name="Google Shape;357;p38"/>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a:t>
            </a:r>
            <a:endParaRPr/>
          </a:p>
          <a:p>
            <a:pPr marL="0" lvl="0" indent="0" algn="ctr" rtl="0">
              <a:spcBef>
                <a:spcPts val="0"/>
              </a:spcBef>
              <a:spcAft>
                <a:spcPts val="0"/>
              </a:spcAft>
              <a:buNone/>
            </a:pPr>
            <a:r>
              <a:rPr lang="en"/>
              <a:t>Intended Learning Outcomes</a:t>
            </a:r>
            <a:endParaRPr sz="3000"/>
          </a:p>
        </p:txBody>
      </p:sp>
      <p:sp>
        <p:nvSpPr>
          <p:cNvPr id="358" name="Google Shape;358;p38"/>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rPr>
              <a:t>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FBC29FFC-E02F-47EC-294D-EA007A0D6272}"/>
            </a:ext>
          </a:extLst>
        </p:cNvPr>
        <p:cNvGrpSpPr/>
        <p:nvPr/>
      </p:nvGrpSpPr>
      <p:grpSpPr>
        <a:xfrm>
          <a:off x="0" y="0"/>
          <a:ext cx="0" cy="0"/>
          <a:chOff x="0" y="0"/>
          <a:chExt cx="0" cy="0"/>
        </a:xfrm>
      </p:grpSpPr>
      <p:sp>
        <p:nvSpPr>
          <p:cNvPr id="363" name="Google Shape;363;p39">
            <a:extLst>
              <a:ext uri="{FF2B5EF4-FFF2-40B4-BE49-F238E27FC236}">
                <a16:creationId xmlns:a16="http://schemas.microsoft.com/office/drawing/2014/main" id="{E40A82D0-4EBE-D66F-712C-7F10132777E1}"/>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highlight>
                  <a:srgbClr val="FFFF00"/>
                </a:highlight>
              </a:rPr>
              <a:t>ILO 0.1</a:t>
            </a:r>
            <a:endParaRPr dirty="0">
              <a:highlight>
                <a:srgbClr val="FFFF00"/>
              </a:highlight>
            </a:endParaRPr>
          </a:p>
        </p:txBody>
      </p:sp>
      <p:sp>
        <p:nvSpPr>
          <p:cNvPr id="364" name="Google Shape;364;p39">
            <a:extLst>
              <a:ext uri="{FF2B5EF4-FFF2-40B4-BE49-F238E27FC236}">
                <a16:creationId xmlns:a16="http://schemas.microsoft.com/office/drawing/2014/main" id="{C2512A29-A3E9-45C4-7288-BD55C82BE3DB}"/>
              </a:ext>
            </a:extLst>
          </p:cNvPr>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indent="0"/>
            <a:r>
              <a:rPr lang="nl-NL" dirty="0" err="1"/>
              <a:t>Foundational</a:t>
            </a:r>
            <a:r>
              <a:rPr lang="nl-NL" dirty="0"/>
              <a:t> Skills - Python</a:t>
            </a:r>
          </a:p>
        </p:txBody>
      </p:sp>
      <p:sp>
        <p:nvSpPr>
          <p:cNvPr id="365" name="Google Shape;365;p39">
            <a:extLst>
              <a:ext uri="{FF2B5EF4-FFF2-40B4-BE49-F238E27FC236}">
                <a16:creationId xmlns:a16="http://schemas.microsoft.com/office/drawing/2014/main" id="{3041B62F-2828-5E78-7ED1-F3C5C8F702F7}"/>
              </a:ext>
            </a:extLst>
          </p:cNvPr>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GB" dirty="0"/>
              <a:t>The student masters the foundational skills and knowledge that form the basis of Data Science and Artificial Intelligence.  </a:t>
            </a:r>
            <a:endParaRPr lang="en" dirty="0"/>
          </a:p>
        </p:txBody>
      </p:sp>
      <p:sp>
        <p:nvSpPr>
          <p:cNvPr id="366" name="Google Shape;366;p39">
            <a:extLst>
              <a:ext uri="{FF2B5EF4-FFF2-40B4-BE49-F238E27FC236}">
                <a16:creationId xmlns:a16="http://schemas.microsoft.com/office/drawing/2014/main" id="{C6E53608-DB1C-747D-1DAC-03FECAE94FFA}"/>
              </a:ext>
            </a:extLst>
          </p:cNvPr>
          <p:cNvSpPr txBox="1"/>
          <p:nvPr/>
        </p:nvSpPr>
        <p:spPr>
          <a:xfrm>
            <a:off x="-106299" y="793213"/>
            <a:ext cx="3621024"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0000" dirty="0">
                <a:solidFill>
                  <a:srgbClr val="999999"/>
                </a:solidFill>
                <a:latin typeface="Roboto"/>
                <a:ea typeface="Roboto"/>
                <a:cs typeface="Roboto"/>
                <a:sym typeface="Roboto"/>
              </a:rPr>
              <a:t>0.1</a:t>
            </a:r>
            <a:endParaRPr sz="2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1376785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E63A8C97-E95D-54EA-B8A4-99042E9BC205}"/>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111EFD98-8E6D-359F-8AEE-AE6FFF99FA6C}"/>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0</a:t>
            </a:r>
            <a:endParaRPr dirty="0"/>
          </a:p>
        </p:txBody>
      </p:sp>
      <p:sp>
        <p:nvSpPr>
          <p:cNvPr id="394" name="Google Shape;394;p42">
            <a:extLst>
              <a:ext uri="{FF2B5EF4-FFF2-40B4-BE49-F238E27FC236}">
                <a16:creationId xmlns:a16="http://schemas.microsoft.com/office/drawing/2014/main" id="{431D8DB7-AB2B-1729-09D6-7A3F5C4EB07F}"/>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406007F9-0138-E41E-B977-E73C2663F6DB}"/>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0F578301-4EF6-EF97-0A60-3995A25EBBE3}"/>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GB" dirty="0"/>
              <a:t>The student masters the foundational skills and knowledge that form the basis of Data Science and Artificial Intelligence.  </a:t>
            </a:r>
          </a:p>
        </p:txBody>
      </p:sp>
      <p:sp>
        <p:nvSpPr>
          <p:cNvPr id="397" name="Google Shape;397;p42">
            <a:extLst>
              <a:ext uri="{FF2B5EF4-FFF2-40B4-BE49-F238E27FC236}">
                <a16:creationId xmlns:a16="http://schemas.microsoft.com/office/drawing/2014/main" id="{402A3C02-FEB8-7584-ABAA-EA8F489C3171}"/>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0.1</a:t>
            </a:r>
            <a:endParaRPr dirty="0"/>
          </a:p>
        </p:txBody>
      </p:sp>
      <p:sp>
        <p:nvSpPr>
          <p:cNvPr id="398" name="Google Shape;398;p42">
            <a:extLst>
              <a:ext uri="{FF2B5EF4-FFF2-40B4-BE49-F238E27FC236}">
                <a16:creationId xmlns:a16="http://schemas.microsoft.com/office/drawing/2014/main" id="{E8891FCB-0294-E750-8DAC-85B5664EEA03}"/>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Python. The student is able to write Python programs, to solve a wide range of introductory programming challenges and perform basic data analysis, using fundamental programming concepts.</a:t>
            </a:r>
            <a:endParaRPr lang="en-US" i="0" dirty="0"/>
          </a:p>
        </p:txBody>
      </p:sp>
      <p:sp>
        <p:nvSpPr>
          <p:cNvPr id="399" name="Google Shape;399;p42">
            <a:extLst>
              <a:ext uri="{FF2B5EF4-FFF2-40B4-BE49-F238E27FC236}">
                <a16:creationId xmlns:a16="http://schemas.microsoft.com/office/drawing/2014/main" id="{E7205601-D9AB-87C4-07B5-EC2DCE2FCC4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Foundational Skills</a:t>
            </a:r>
            <a:endParaRPr sz="900" dirty="0"/>
          </a:p>
        </p:txBody>
      </p:sp>
      <p:graphicFrame>
        <p:nvGraphicFramePr>
          <p:cNvPr id="4" name="Table 3">
            <a:extLst>
              <a:ext uri="{FF2B5EF4-FFF2-40B4-BE49-F238E27FC236}">
                <a16:creationId xmlns:a16="http://schemas.microsoft.com/office/drawing/2014/main" id="{D0F76162-544E-8312-73FC-48F1E6316FD1}"/>
              </a:ext>
            </a:extLst>
          </p:cNvPr>
          <p:cNvGraphicFramePr>
            <a:graphicFrameLocks noGrp="1"/>
          </p:cNvGraphicFramePr>
          <p:nvPr>
            <p:extLst>
              <p:ext uri="{D42A27DB-BD31-4B8C-83A1-F6EECF244321}">
                <p14:modId xmlns:p14="http://schemas.microsoft.com/office/powerpoint/2010/main" val="3718433569"/>
              </p:ext>
            </p:extLst>
          </p:nvPr>
        </p:nvGraphicFramePr>
        <p:xfrm>
          <a:off x="0" y="1102130"/>
          <a:ext cx="9144000" cy="3446304"/>
        </p:xfrm>
        <a:graphic>
          <a:graphicData uri="http://schemas.openxmlformats.org/drawingml/2006/table">
            <a:tbl>
              <a:tblPr/>
              <a:tblGrid>
                <a:gridCol w="1703956">
                  <a:extLst>
                    <a:ext uri="{9D8B030D-6E8A-4147-A177-3AD203B41FA5}">
                      <a16:colId xmlns:a16="http://schemas.microsoft.com/office/drawing/2014/main" val="4239193143"/>
                    </a:ext>
                  </a:extLst>
                </a:gridCol>
                <a:gridCol w="7440044">
                  <a:extLst>
                    <a:ext uri="{9D8B030D-6E8A-4147-A177-3AD203B41FA5}">
                      <a16:colId xmlns:a16="http://schemas.microsoft.com/office/drawing/2014/main" val="809835915"/>
                    </a:ext>
                  </a:extLst>
                </a:gridCol>
              </a:tblGrid>
              <a:tr h="139700">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 (Points: 20)</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279581867"/>
                  </a:ext>
                </a:extLst>
              </a:tr>
              <a:tr h="990124">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Student submits  a complete learning log, work log and self-assessment rubric. The student exhibits professional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The student was present at the Python exam or the planned retake and obtained the evidenced grade.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ctr"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a solid understanding of Python fundamentals, including variables, conditionals, functions, loops, and data structures such as strings, lists, dictionaries, and tuples. The student is proficient in writing functions that use a wide range of conditional executions and can effectively utilize strings and lists to solve diverse problems. Additionally, the student can convert simple algorithms provided in English into Python, create and execute algorithms to solve various problems and combine loops with strings and lists in their solutions, showcasing strong algorithmic thinking.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73337937"/>
                  </a:ext>
                </a:extLst>
              </a:tr>
              <a:tr h="279400">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r>
                        <a:rPr lang="en-GB" sz="700" dirty="0">
                          <a:latin typeface="Roboto" panose="02000000000000000000" pitchFamily="2" charset="0"/>
                          <a:ea typeface="Roboto" panose="02000000000000000000" pitchFamily="2" charset="0"/>
                          <a:cs typeface="Roboto" panose="02000000000000000000" pitchFamily="2" charset="0"/>
                        </a:rPr>
                        <a:t>.</a:t>
                      </a:r>
                      <a:endParaRPr lang="en-NL" sz="700">
                        <a:latin typeface="Roboto" panose="02000000000000000000" pitchFamily="2" charset="0"/>
                        <a:ea typeface="Roboto" panose="02000000000000000000" pitchFamily="2" charset="0"/>
                        <a:cs typeface="Roboto" panose="02000000000000000000" pitchFamily="2" charset="0"/>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highlight>
                            <a:srgbClr val="FFFF00"/>
                          </a:highlight>
                          <a:latin typeface="Roboto" panose="02000000000000000000" pitchFamily="2" charset="0"/>
                          <a:ea typeface="Roboto" panose="02000000000000000000" pitchFamily="2" charset="0"/>
                          <a:cs typeface="Roboto" panose="02000000000000000000" pitchFamily="2" charset="0"/>
                        </a:rPr>
                        <a:t>Attended Python retake exam (Oral and Coding) </a:t>
                      </a:r>
                      <a:endParaRPr lang="en-NL" sz="700">
                        <a:highlight>
                          <a:srgbClr val="FFFF00"/>
                        </a:highlight>
                        <a:latin typeface="Roboto" panose="02000000000000000000" pitchFamily="2" charset="0"/>
                        <a:ea typeface="Roboto" panose="02000000000000000000" pitchFamily="2" charset="0"/>
                        <a:cs typeface="Roboto" panose="02000000000000000000" pitchFamily="2" charset="0"/>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933039061"/>
                  </a:ext>
                </a:extLst>
              </a:tr>
              <a:tr h="279400">
                <a:tc>
                  <a:txBody>
                    <a:bodyPr/>
                    <a:lstStyle/>
                    <a:p>
                      <a:pPr lvl="0">
                        <a:buNone/>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lvl="0">
                        <a:buNone/>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555023960"/>
                  </a:ext>
                </a:extLst>
              </a:tr>
            </a:tbl>
          </a:graphicData>
        </a:graphic>
      </p:graphicFrame>
    </p:spTree>
    <p:extLst>
      <p:ext uri="{BB962C8B-B14F-4D97-AF65-F5344CB8AC3E}">
        <p14:creationId xmlns:p14="http://schemas.microsoft.com/office/powerpoint/2010/main" val="4245262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C57C81CE-5EC2-DA8D-1717-F625803F5C6E}"/>
            </a:ext>
          </a:extLst>
        </p:cNvPr>
        <p:cNvGrpSpPr/>
        <p:nvPr/>
      </p:nvGrpSpPr>
      <p:grpSpPr>
        <a:xfrm>
          <a:off x="0" y="0"/>
          <a:ext cx="0" cy="0"/>
          <a:chOff x="0" y="0"/>
          <a:chExt cx="0" cy="0"/>
        </a:xfrm>
      </p:grpSpPr>
      <p:sp>
        <p:nvSpPr>
          <p:cNvPr id="363" name="Google Shape;363;p39">
            <a:extLst>
              <a:ext uri="{FF2B5EF4-FFF2-40B4-BE49-F238E27FC236}">
                <a16:creationId xmlns:a16="http://schemas.microsoft.com/office/drawing/2014/main" id="{B9F370B9-EB14-C6C1-E7D2-1DF97E97333A}"/>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0.2</a:t>
            </a:r>
            <a:endParaRPr dirty="0"/>
          </a:p>
        </p:txBody>
      </p:sp>
      <p:sp>
        <p:nvSpPr>
          <p:cNvPr id="364" name="Google Shape;364;p39">
            <a:extLst>
              <a:ext uri="{FF2B5EF4-FFF2-40B4-BE49-F238E27FC236}">
                <a16:creationId xmlns:a16="http://schemas.microsoft.com/office/drawing/2014/main" id="{FE0F58E3-0188-6AB3-D8D7-C2038336D3B0}"/>
              </a:ext>
            </a:extLst>
          </p:cNvPr>
          <p:cNvSpPr txBox="1">
            <a:spLocks noGrp="1"/>
          </p:cNvSpPr>
          <p:nvPr>
            <p:ph type="subTitle" idx="1"/>
          </p:nvPr>
        </p:nvSpPr>
        <p:spPr>
          <a:xfrm>
            <a:off x="3083243" y="2514514"/>
            <a:ext cx="6400800" cy="685800"/>
          </a:xfrm>
          <a:prstGeom prst="rect">
            <a:avLst/>
          </a:prstGeom>
        </p:spPr>
        <p:txBody>
          <a:bodyPr spcFirstLastPara="1" wrap="square" lIns="91425" tIns="91425" rIns="91425" bIns="91425" anchor="ctr" anchorCtr="0">
            <a:noAutofit/>
          </a:bodyPr>
          <a:lstStyle/>
          <a:p>
            <a:pPr marL="0" indent="0"/>
            <a:r>
              <a:rPr lang="nl-NL" dirty="0" err="1"/>
              <a:t>Foundational</a:t>
            </a:r>
            <a:r>
              <a:rPr lang="nl-NL" dirty="0"/>
              <a:t> Skills - </a:t>
            </a:r>
            <a:r>
              <a:rPr lang="nl-NL" dirty="0" err="1"/>
              <a:t>Mathematics</a:t>
            </a:r>
            <a:endParaRPr lang="nl-NL" dirty="0"/>
          </a:p>
        </p:txBody>
      </p:sp>
      <p:sp>
        <p:nvSpPr>
          <p:cNvPr id="365" name="Google Shape;365;p39">
            <a:extLst>
              <a:ext uri="{FF2B5EF4-FFF2-40B4-BE49-F238E27FC236}">
                <a16:creationId xmlns:a16="http://schemas.microsoft.com/office/drawing/2014/main" id="{BE0159C6-DB27-54CA-6862-264BAC82D55D}"/>
              </a:ext>
            </a:extLst>
          </p:cNvPr>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GB" dirty="0"/>
              <a:t>The student masters the foundational skills and knowledge that form the basis of Data Science and Artificial Intelligence.  </a:t>
            </a:r>
            <a:endParaRPr lang="en" dirty="0"/>
          </a:p>
        </p:txBody>
      </p:sp>
      <p:sp>
        <p:nvSpPr>
          <p:cNvPr id="366" name="Google Shape;366;p39">
            <a:extLst>
              <a:ext uri="{FF2B5EF4-FFF2-40B4-BE49-F238E27FC236}">
                <a16:creationId xmlns:a16="http://schemas.microsoft.com/office/drawing/2014/main" id="{CBD64B0B-2DA8-3660-48FB-BB45D4DBFCA4}"/>
              </a:ext>
            </a:extLst>
          </p:cNvPr>
          <p:cNvSpPr txBox="1"/>
          <p:nvPr/>
        </p:nvSpPr>
        <p:spPr>
          <a:xfrm>
            <a:off x="-106299" y="793213"/>
            <a:ext cx="3621024"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0000" dirty="0">
                <a:solidFill>
                  <a:srgbClr val="999999"/>
                </a:solidFill>
                <a:latin typeface="Roboto"/>
                <a:ea typeface="Roboto"/>
                <a:cs typeface="Roboto"/>
                <a:sym typeface="Roboto"/>
              </a:rPr>
              <a:t>0.2</a:t>
            </a:r>
            <a:endParaRPr sz="2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515728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612ED845-C6F6-9036-ACDD-0617975C8963}"/>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14E02293-B601-AEDA-3DDC-9DF610C6D29F}"/>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0</a:t>
            </a:r>
            <a:endParaRPr dirty="0"/>
          </a:p>
        </p:txBody>
      </p:sp>
      <p:sp>
        <p:nvSpPr>
          <p:cNvPr id="394" name="Google Shape;394;p42">
            <a:extLst>
              <a:ext uri="{FF2B5EF4-FFF2-40B4-BE49-F238E27FC236}">
                <a16:creationId xmlns:a16="http://schemas.microsoft.com/office/drawing/2014/main" id="{AD1301A5-FFD9-E320-1B17-6556A9150D92}"/>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85D8D7D4-D306-ADCD-DF4F-35832C6BF0F3}"/>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CE2EDEFD-76EB-E649-9B77-EF0A43410F37}"/>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GB" dirty="0"/>
              <a:t>The student masters the foundational skills and knowledge that form the basis of Data Science and Artificial Intelligence.  </a:t>
            </a:r>
          </a:p>
        </p:txBody>
      </p:sp>
      <p:sp>
        <p:nvSpPr>
          <p:cNvPr id="397" name="Google Shape;397;p42">
            <a:extLst>
              <a:ext uri="{FF2B5EF4-FFF2-40B4-BE49-F238E27FC236}">
                <a16:creationId xmlns:a16="http://schemas.microsoft.com/office/drawing/2014/main" id="{1FCE02C2-2EB4-1EB4-566A-700175D7EC8A}"/>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0.2</a:t>
            </a:r>
            <a:endParaRPr dirty="0"/>
          </a:p>
        </p:txBody>
      </p:sp>
      <p:sp>
        <p:nvSpPr>
          <p:cNvPr id="398" name="Google Shape;398;p42">
            <a:extLst>
              <a:ext uri="{FF2B5EF4-FFF2-40B4-BE49-F238E27FC236}">
                <a16:creationId xmlns:a16="http://schemas.microsoft.com/office/drawing/2014/main" id="{301F8C0A-6FDE-BC5F-9E32-E0FF9248B214}"/>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Mathematics. The student is able to perform elementary operations on matrices and understand the concepts of derivatives, gradients, optimization algorithms, and can implement a simple machine learning model from scratch. </a:t>
            </a:r>
            <a:endParaRPr lang="en-US" i="0" dirty="0"/>
          </a:p>
        </p:txBody>
      </p:sp>
      <p:sp>
        <p:nvSpPr>
          <p:cNvPr id="399" name="Google Shape;399;p42">
            <a:extLst>
              <a:ext uri="{FF2B5EF4-FFF2-40B4-BE49-F238E27FC236}">
                <a16:creationId xmlns:a16="http://schemas.microsoft.com/office/drawing/2014/main" id="{81794021-2B1F-AF94-F7C9-FBC8FE3F304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Foundational Skills</a:t>
            </a:r>
            <a:endParaRPr sz="900" dirty="0"/>
          </a:p>
        </p:txBody>
      </p:sp>
      <p:graphicFrame>
        <p:nvGraphicFramePr>
          <p:cNvPr id="4" name="Table 3">
            <a:extLst>
              <a:ext uri="{FF2B5EF4-FFF2-40B4-BE49-F238E27FC236}">
                <a16:creationId xmlns:a16="http://schemas.microsoft.com/office/drawing/2014/main" id="{7883FDB9-865F-3BCA-30D0-628E24079D73}"/>
              </a:ext>
            </a:extLst>
          </p:cNvPr>
          <p:cNvGraphicFramePr>
            <a:graphicFrameLocks noGrp="1"/>
          </p:cNvGraphicFramePr>
          <p:nvPr>
            <p:extLst>
              <p:ext uri="{D42A27DB-BD31-4B8C-83A1-F6EECF244321}">
                <p14:modId xmlns:p14="http://schemas.microsoft.com/office/powerpoint/2010/main" val="1010986360"/>
              </p:ext>
            </p:extLst>
          </p:nvPr>
        </p:nvGraphicFramePr>
        <p:xfrm>
          <a:off x="0" y="1102130"/>
          <a:ext cx="9144000" cy="3446304"/>
        </p:xfrm>
        <a:graphic>
          <a:graphicData uri="http://schemas.openxmlformats.org/drawingml/2006/table">
            <a:tbl>
              <a:tblPr/>
              <a:tblGrid>
                <a:gridCol w="1703956">
                  <a:extLst>
                    <a:ext uri="{9D8B030D-6E8A-4147-A177-3AD203B41FA5}">
                      <a16:colId xmlns:a16="http://schemas.microsoft.com/office/drawing/2014/main" val="4239193143"/>
                    </a:ext>
                  </a:extLst>
                </a:gridCol>
                <a:gridCol w="7440044">
                  <a:extLst>
                    <a:ext uri="{9D8B030D-6E8A-4147-A177-3AD203B41FA5}">
                      <a16:colId xmlns:a16="http://schemas.microsoft.com/office/drawing/2014/main" val="809835915"/>
                    </a:ext>
                  </a:extLst>
                </a:gridCol>
              </a:tblGrid>
              <a:tr h="139700">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 (Points: 20)</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279581867"/>
                  </a:ext>
                </a:extLst>
              </a:tr>
              <a:tr h="990124">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Student submits  a complete learning log, work log and self-assessment rubric. The student exhibits professional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The student was present at the Math exam or the planned retake and obtained the evidenced grade.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ctr"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perform calculations using basic arithmetic operators, work with variables, solve linear equations and inequalities both analytically and graphically, and analyze power, exponential, logarithmic, and trigonometric functions, as well as their inverses. The student can interpret derivative functions, determine the derivative of common mathematical functions, find the minimum and maximum on a graph, and describe changes using differences, slopes, and rates of change. The student is able to use trigonometric ratios and the unit circle, and understands how to use sine, cosine, and tangent to solve real-world problems. Additionally, the student can summarize data in various ways, find common measures of center like mean and median, and measure spread or variability using standard deviation and interquartile range.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73337937"/>
                  </a:ext>
                </a:extLst>
              </a:tr>
              <a:tr h="279400">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r>
                        <a:rPr lang="en-GB" sz="700" dirty="0">
                          <a:latin typeface="Roboto" panose="02000000000000000000" pitchFamily="2" charset="0"/>
                          <a:ea typeface="Roboto" panose="02000000000000000000" pitchFamily="2" charset="0"/>
                          <a:cs typeface="Roboto" panose="02000000000000000000" pitchFamily="2" charset="0"/>
                        </a:rPr>
                        <a:t>.</a:t>
                      </a:r>
                      <a:endParaRPr lang="en-NL" sz="700">
                        <a:latin typeface="Roboto" panose="02000000000000000000" pitchFamily="2" charset="0"/>
                        <a:ea typeface="Roboto" panose="02000000000000000000" pitchFamily="2" charset="0"/>
                        <a:cs typeface="Roboto" panose="02000000000000000000" pitchFamily="2" charset="0"/>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r>
                        <a:rPr lang="en-GB" sz="700" dirty="0">
                          <a:latin typeface="Roboto" panose="02000000000000000000" pitchFamily="2" charset="0"/>
                          <a:ea typeface="Roboto" panose="02000000000000000000" pitchFamily="2" charset="0"/>
                          <a:cs typeface="Roboto" panose="02000000000000000000" pitchFamily="2" charset="0"/>
                        </a:rPr>
                        <a:t>.</a:t>
                      </a:r>
                      <a:endParaRPr lang="en-NL" sz="700">
                        <a:latin typeface="Roboto" panose="02000000000000000000" pitchFamily="2" charset="0"/>
                        <a:ea typeface="Roboto" panose="02000000000000000000" pitchFamily="2" charset="0"/>
                        <a:cs typeface="Roboto" panose="02000000000000000000" pitchFamily="2" charset="0"/>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933039061"/>
                  </a:ext>
                </a:extLst>
              </a:tr>
              <a:tr h="279400">
                <a:tc>
                  <a:txBody>
                    <a:bodyPr/>
                    <a:lstStyle/>
                    <a:p>
                      <a:pPr lvl="0">
                        <a:buNone/>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lvl="0">
                        <a:buNone/>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555023960"/>
                  </a:ext>
                </a:extLst>
              </a:tr>
            </a:tbl>
          </a:graphicData>
        </a:graphic>
      </p:graphicFrame>
    </p:spTree>
    <p:extLst>
      <p:ext uri="{BB962C8B-B14F-4D97-AF65-F5344CB8AC3E}">
        <p14:creationId xmlns:p14="http://schemas.microsoft.com/office/powerpoint/2010/main" val="4242006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1</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indent="0"/>
            <a:r>
              <a:rPr lang="nl-NL"/>
              <a:t>Professional </a:t>
            </a:r>
            <a:r>
              <a:rPr lang="nl-NL" err="1"/>
              <a:t>Practice</a:t>
            </a:r>
          </a:p>
        </p:txBody>
      </p:sp>
      <p:sp>
        <p:nvSpPr>
          <p:cNvPr id="365" name="Google Shape;365;p39"/>
          <p:cNvSpPr txBox="1">
            <a:spLocks noGrp="1"/>
          </p:cNvSpPr>
          <p:nvPr>
            <p:ph type="subTitle" idx="2"/>
          </p:nvPr>
        </p:nvSpPr>
        <p:spPr>
          <a:xfrm>
            <a:off x="3200400" y="3087445"/>
            <a:ext cx="5486400" cy="1294816"/>
          </a:xfrm>
          <a:prstGeom prst="rect">
            <a:avLst/>
          </a:prstGeom>
        </p:spPr>
        <p:txBody>
          <a:bodyPr spcFirstLastPara="1" wrap="square" lIns="91425" tIns="91425" rIns="91425" bIns="91425" anchor="ctr" anchorCtr="0">
            <a:noAutofit/>
          </a:bodyPr>
          <a:lstStyle/>
          <a:p>
            <a:r>
              <a:rPr lang="en-GB" dirty="0"/>
              <a:t>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p>
          <a:p>
            <a:endParaRPr lang="en-GB" dirty="0"/>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1</a:t>
            </a:r>
            <a:endParaRPr sz="40000">
              <a:solidFill>
                <a:srgbClr val="999999"/>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1</a:t>
            </a:r>
            <a:endParaRPr dirty="0"/>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63446" y="156393"/>
            <a:ext cx="6588929" cy="5760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GB" dirty="0"/>
              <a:t>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br>
              <a:rPr lang="en-GB" dirty="0"/>
            </a:br>
            <a:br>
              <a:rPr lang="en-GB" dirty="0"/>
            </a:br>
            <a:endParaRPr lang="en-GB" dirty="0"/>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1</a:t>
            </a:r>
            <a:r>
              <a:rPr lang="en" dirty="0"/>
              <a:t>.</a:t>
            </a:r>
            <a:r>
              <a:rPr lang="en-US" dirty="0"/>
              <a:t>1</a:t>
            </a:r>
            <a:endParaRPr dirty="0"/>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The student adheres to professional standards, and submits work, adhering to defined guidelines and processes in the Creative Brief.</a:t>
            </a:r>
            <a:endParaRPr lang="en-US" i="0" dirty="0"/>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Professional Practice</a:t>
            </a:r>
            <a:endParaRPr sz="900" dirty="0"/>
          </a:p>
        </p:txBody>
      </p:sp>
      <p:graphicFrame>
        <p:nvGraphicFramePr>
          <p:cNvPr id="4" name="Table 3">
            <a:extLst>
              <a:ext uri="{FF2B5EF4-FFF2-40B4-BE49-F238E27FC236}">
                <a16:creationId xmlns:a16="http://schemas.microsoft.com/office/drawing/2014/main" id="{E43769FC-7EA1-C9ED-07CA-9C5724B9CD95}"/>
              </a:ext>
            </a:extLst>
          </p:cNvPr>
          <p:cNvGraphicFramePr>
            <a:graphicFrameLocks noGrp="1"/>
          </p:cNvGraphicFramePr>
          <p:nvPr>
            <p:extLst>
              <p:ext uri="{D42A27DB-BD31-4B8C-83A1-F6EECF244321}">
                <p14:modId xmlns:p14="http://schemas.microsoft.com/office/powerpoint/2010/main" val="3811197090"/>
              </p:ext>
            </p:extLst>
          </p:nvPr>
        </p:nvGraphicFramePr>
        <p:xfrm>
          <a:off x="0" y="1063425"/>
          <a:ext cx="9144000" cy="4075113"/>
        </p:xfrm>
        <a:graphic>
          <a:graphicData uri="http://schemas.openxmlformats.org/drawingml/2006/table">
            <a:tbl>
              <a:tblPr/>
              <a:tblGrid>
                <a:gridCol w="1702909">
                  <a:extLst>
                    <a:ext uri="{9D8B030D-6E8A-4147-A177-3AD203B41FA5}">
                      <a16:colId xmlns:a16="http://schemas.microsoft.com/office/drawing/2014/main" val="1563489774"/>
                    </a:ext>
                  </a:extLst>
                </a:gridCol>
                <a:gridCol w="2652715">
                  <a:extLst>
                    <a:ext uri="{9D8B030D-6E8A-4147-A177-3AD203B41FA5}">
                      <a16:colId xmlns:a16="http://schemas.microsoft.com/office/drawing/2014/main" val="604979593"/>
                    </a:ext>
                  </a:extLst>
                </a:gridCol>
                <a:gridCol w="1491216">
                  <a:extLst>
                    <a:ext uri="{9D8B030D-6E8A-4147-A177-3AD203B41FA5}">
                      <a16:colId xmlns:a16="http://schemas.microsoft.com/office/drawing/2014/main" val="2456996155"/>
                    </a:ext>
                  </a:extLst>
                </a:gridCol>
                <a:gridCol w="1648580">
                  <a:extLst>
                    <a:ext uri="{9D8B030D-6E8A-4147-A177-3AD203B41FA5}">
                      <a16:colId xmlns:a16="http://schemas.microsoft.com/office/drawing/2014/main" val="1908524195"/>
                    </a:ext>
                  </a:extLst>
                </a:gridCol>
                <a:gridCol w="1648580">
                  <a:extLst>
                    <a:ext uri="{9D8B030D-6E8A-4147-A177-3AD203B41FA5}">
                      <a16:colId xmlns:a16="http://schemas.microsoft.com/office/drawing/2014/main" val="1548998117"/>
                    </a:ext>
                  </a:extLst>
                </a:gridCol>
              </a:tblGrid>
              <a:tr h="174625">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 (Points: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B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C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D (Points: 2)</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129039445"/>
                  </a:ext>
                </a:extLst>
              </a:tr>
              <a:tr h="990124">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Student submits  a complete learning log, work log and self-assessment rubric. The student exhibits professional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ctr"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completed tasks are outlined in the learning log, with detailed comments provided where necessary.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ctr"/>
                      <a:r>
                        <a:rPr lang="en-US" sz="7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The student fills out the learning log for each of the weeks.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ctr"/>
                      <a:r>
                        <a:rPr lang="en-US" sz="7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All references to important resources used are included in the learning log for the listed tasks.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student's writing style in learning log is professional and free of spelling and grammar mistakes. The student comprehends what was completed and why individual and project feedback was given.  </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256007393"/>
                  </a:ext>
                </a:extLst>
              </a:tr>
              <a:tr h="990124">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1769954004"/>
                  </a:ext>
                </a:extLst>
              </a:tr>
              <a:tr h="990124">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p>
                    <a:p>
                      <a:pPr algn="ctr"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E1C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3438072080"/>
                  </a:ext>
                </a:extLst>
              </a:tr>
            </a:tbl>
          </a:graphicData>
        </a:graphic>
      </p:graphicFrame>
    </p:spTree>
    <p:extLst>
      <p:ext uri="{BB962C8B-B14F-4D97-AF65-F5344CB8AC3E}">
        <p14:creationId xmlns:p14="http://schemas.microsoft.com/office/powerpoint/2010/main" val="31326037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4"/>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2</a:t>
            </a:r>
            <a:endParaRPr sz="40000">
              <a:solidFill>
                <a:srgbClr val="999999"/>
              </a:solidFill>
              <a:latin typeface="Roboto"/>
              <a:ea typeface="Roboto"/>
              <a:cs typeface="Roboto"/>
              <a:sym typeface="Roboto"/>
            </a:endParaRPr>
          </a:p>
        </p:txBody>
      </p:sp>
      <p:sp>
        <p:nvSpPr>
          <p:cNvPr id="416" name="Google Shape;416;p44"/>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2</a:t>
            </a:r>
            <a:endParaRPr/>
          </a:p>
        </p:txBody>
      </p:sp>
      <p:sp>
        <p:nvSpPr>
          <p:cNvPr id="417" name="Google Shape;417;p44"/>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Personal Development &amp; Academic Practice</a:t>
            </a:r>
            <a:endParaRPr dirty="0"/>
          </a:p>
        </p:txBody>
      </p:sp>
      <p:sp>
        <p:nvSpPr>
          <p:cNvPr id="418" name="Google Shape;418;p44"/>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endParaRPr lang="en-GB" dirty="0"/>
          </a:p>
          <a:p>
            <a:r>
              <a:rPr lang="en-GB" dirty="0"/>
              <a:t> 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2</a:t>
            </a:r>
            <a:endParaRPr dirty="0"/>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312893" y="10758"/>
            <a:ext cx="6164133" cy="576000"/>
          </a:xfrm>
          <a:prstGeom prst="rect">
            <a:avLst/>
          </a:prstGeom>
        </p:spPr>
        <p:txBody>
          <a:bodyPr spcFirstLastPara="1" wrap="square" lIns="91425" tIns="91425" rIns="91425" bIns="91425" anchor="ctr" anchorCtr="0">
            <a:noAutofit/>
          </a:bodyPr>
          <a:lstStyle/>
          <a:p>
            <a:br>
              <a:rPr lang="en-GB" dirty="0"/>
            </a:br>
            <a:r>
              <a:rPr lang="en-GB" dirty="0"/>
              <a:t> 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 </a:t>
            </a:r>
            <a:br>
              <a:rPr lang="en-GB" dirty="0"/>
            </a:br>
            <a:endParaRPr lang="en-GB" dirty="0"/>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2</a:t>
            </a:r>
            <a:r>
              <a:rPr lang="en" dirty="0"/>
              <a:t>.</a:t>
            </a:r>
            <a:r>
              <a:rPr lang="en-US" dirty="0"/>
              <a:t>1</a:t>
            </a:r>
            <a:endParaRPr dirty="0"/>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The student reports on learning progress and updates plans in a well-written, concise format with appropriate visual communication, guided by active engagement with feedback. </a:t>
            </a:r>
            <a:endParaRPr lang="en-US" i="0" dirty="0"/>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Personal Development &amp; Academic Practice</a:t>
            </a:r>
            <a:endParaRPr sz="900" dirty="0"/>
          </a:p>
        </p:txBody>
      </p:sp>
      <p:graphicFrame>
        <p:nvGraphicFramePr>
          <p:cNvPr id="4" name="Table 3">
            <a:extLst>
              <a:ext uri="{FF2B5EF4-FFF2-40B4-BE49-F238E27FC236}">
                <a16:creationId xmlns:a16="http://schemas.microsoft.com/office/drawing/2014/main" id="{7A01F0FE-2D8B-B9BC-9747-96D60CCF6EBF}"/>
              </a:ext>
            </a:extLst>
          </p:cNvPr>
          <p:cNvGraphicFramePr>
            <a:graphicFrameLocks noGrp="1"/>
          </p:cNvGraphicFramePr>
          <p:nvPr>
            <p:extLst>
              <p:ext uri="{D42A27DB-BD31-4B8C-83A1-F6EECF244321}">
                <p14:modId xmlns:p14="http://schemas.microsoft.com/office/powerpoint/2010/main" val="100178859"/>
              </p:ext>
            </p:extLst>
          </p:nvPr>
        </p:nvGraphicFramePr>
        <p:xfrm>
          <a:off x="0" y="1069801"/>
          <a:ext cx="9144000" cy="4195457"/>
        </p:xfrm>
        <a:graphic>
          <a:graphicData uri="http://schemas.openxmlformats.org/drawingml/2006/table">
            <a:tbl>
              <a:tblPr/>
              <a:tblGrid>
                <a:gridCol w="1702560">
                  <a:extLst>
                    <a:ext uri="{9D8B030D-6E8A-4147-A177-3AD203B41FA5}">
                      <a16:colId xmlns:a16="http://schemas.microsoft.com/office/drawing/2014/main" val="1946826867"/>
                    </a:ext>
                  </a:extLst>
                </a:gridCol>
                <a:gridCol w="1320467">
                  <a:extLst>
                    <a:ext uri="{9D8B030D-6E8A-4147-A177-3AD203B41FA5}">
                      <a16:colId xmlns:a16="http://schemas.microsoft.com/office/drawing/2014/main" val="2722072811"/>
                    </a:ext>
                  </a:extLst>
                </a:gridCol>
                <a:gridCol w="1333578">
                  <a:extLst>
                    <a:ext uri="{9D8B030D-6E8A-4147-A177-3AD203B41FA5}">
                      <a16:colId xmlns:a16="http://schemas.microsoft.com/office/drawing/2014/main" val="3290534058"/>
                    </a:ext>
                  </a:extLst>
                </a:gridCol>
                <a:gridCol w="1490911">
                  <a:extLst>
                    <a:ext uri="{9D8B030D-6E8A-4147-A177-3AD203B41FA5}">
                      <a16:colId xmlns:a16="http://schemas.microsoft.com/office/drawing/2014/main" val="749269228"/>
                    </a:ext>
                  </a:extLst>
                </a:gridCol>
                <a:gridCol w="1648242">
                  <a:extLst>
                    <a:ext uri="{9D8B030D-6E8A-4147-A177-3AD203B41FA5}">
                      <a16:colId xmlns:a16="http://schemas.microsoft.com/office/drawing/2014/main" val="3119643303"/>
                    </a:ext>
                  </a:extLst>
                </a:gridCol>
                <a:gridCol w="1648242">
                  <a:extLst>
                    <a:ext uri="{9D8B030D-6E8A-4147-A177-3AD203B41FA5}">
                      <a16:colId xmlns:a16="http://schemas.microsoft.com/office/drawing/2014/main" val="46269273"/>
                    </a:ext>
                  </a:extLst>
                </a:gridCol>
              </a:tblGrid>
              <a:tr h="136249">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B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C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D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E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85108605"/>
                  </a:ext>
                </a:extLst>
              </a:tr>
              <a:tr h="909464">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Student submits  a complete learning log, work log and self-assessment rubric. The student exhibits professional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l" fontAlgn="ctr"/>
                      <a:r>
                        <a:rPr lang="en-US" sz="7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Weekly reflections have been completed in Section B of the learning log.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The reflection for the project and block (Section D of the learning log) has been completed.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The reflections have been written professionally and make sense given the context.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The reflections are critical wherever necessary and identify key lessons.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There are clear steps identified from the key lessons that make sense. There are steps applicable to future projects and your professional development.</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90927699"/>
                  </a:ext>
                </a:extLst>
              </a:tr>
              <a:tr h="2118523">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48184317"/>
                  </a:ext>
                </a:extLst>
              </a:tr>
              <a:tr h="909464">
                <a:tc>
                  <a:txBody>
                    <a:bodyPr/>
                    <a:lstStyle/>
                    <a:p>
                      <a:pPr algn="l" fontAlgn="ct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1407529909"/>
                  </a:ext>
                </a:extLst>
              </a:tr>
            </a:tbl>
          </a:graphicData>
        </a:graphic>
      </p:graphicFrame>
    </p:spTree>
    <p:extLst>
      <p:ext uri="{BB962C8B-B14F-4D97-AF65-F5344CB8AC3E}">
        <p14:creationId xmlns:p14="http://schemas.microsoft.com/office/powerpoint/2010/main" val="1024526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3</a:t>
            </a:r>
            <a:endParaRPr/>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Ethical and Legal Responsibility</a:t>
            </a:r>
            <a:endParaRPr dirty="0"/>
          </a:p>
        </p:txBody>
      </p:sp>
      <p:sp>
        <p:nvSpPr>
          <p:cNvPr id="469" name="Google Shape;469;p4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a:t>The student is aware of legal and ethical aspects within the context of their professional work environment and is able to make substantiated considerations in this regard. They act with justice and integrity. </a:t>
            </a:r>
          </a:p>
          <a:p>
            <a:pPr marL="0" lvl="0" indent="0" algn="r" rtl="0">
              <a:spcBef>
                <a:spcPts val="0"/>
              </a:spcBef>
              <a:spcAft>
                <a:spcPts val="0"/>
              </a:spcAft>
              <a:buNone/>
            </a:pPr>
            <a:endParaRPr lang="en-US" dirty="0"/>
          </a:p>
        </p:txBody>
      </p:sp>
      <p:sp>
        <p:nvSpPr>
          <p:cNvPr id="470" name="Google Shape;470;p49"/>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3</a:t>
            </a:r>
            <a:endParaRPr sz="40000">
              <a:solidFill>
                <a:srgbClr val="999999"/>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80C0D0F3-DF1D-25B7-09DD-B2B37CC317E2}"/>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30C4F663-5CDD-318C-84BA-F4D6A64EB2DC}"/>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3</a:t>
            </a:r>
            <a:endParaRPr dirty="0"/>
          </a:p>
        </p:txBody>
      </p:sp>
      <p:sp>
        <p:nvSpPr>
          <p:cNvPr id="394" name="Google Shape;394;p42">
            <a:extLst>
              <a:ext uri="{FF2B5EF4-FFF2-40B4-BE49-F238E27FC236}">
                <a16:creationId xmlns:a16="http://schemas.microsoft.com/office/drawing/2014/main" id="{7B19FA19-8B28-1914-4D55-F57ACF80FC08}"/>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D03BC4C0-E609-0645-FCEC-51019D8C02D6}"/>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223FA8A6-5B5E-D942-1BF7-77DFF37D885D}"/>
              </a:ext>
            </a:extLst>
          </p:cNvPr>
          <p:cNvSpPr txBox="1">
            <a:spLocks noGrp="1"/>
          </p:cNvSpPr>
          <p:nvPr>
            <p:ph type="title" idx="3"/>
          </p:nvPr>
        </p:nvSpPr>
        <p:spPr>
          <a:xfrm>
            <a:off x="2097740" y="73373"/>
            <a:ext cx="6422315"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1100" dirty="0"/>
              <a:t>The student is aware of legal and ethical aspects within the context of their professional work environment and is able to make substantiated considerations in this regard. They act with justice and integrity. </a:t>
            </a:r>
            <a:br>
              <a:rPr lang="en-US" sz="1100" dirty="0"/>
            </a:br>
            <a:endParaRPr lang="en-US" sz="1100" dirty="0"/>
          </a:p>
        </p:txBody>
      </p:sp>
      <p:sp>
        <p:nvSpPr>
          <p:cNvPr id="397" name="Google Shape;397;p42">
            <a:extLst>
              <a:ext uri="{FF2B5EF4-FFF2-40B4-BE49-F238E27FC236}">
                <a16:creationId xmlns:a16="http://schemas.microsoft.com/office/drawing/2014/main" id="{93A0B96A-7E99-21A6-1CB2-489FB08D48D2}"/>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3</a:t>
            </a:r>
            <a:r>
              <a:rPr lang="en" dirty="0"/>
              <a:t>.</a:t>
            </a:r>
            <a:r>
              <a:rPr lang="en-US" dirty="0"/>
              <a:t>1</a:t>
            </a:r>
            <a:endParaRPr dirty="0"/>
          </a:p>
        </p:txBody>
      </p:sp>
      <p:sp>
        <p:nvSpPr>
          <p:cNvPr id="398" name="Google Shape;398;p42">
            <a:extLst>
              <a:ext uri="{FF2B5EF4-FFF2-40B4-BE49-F238E27FC236}">
                <a16:creationId xmlns:a16="http://schemas.microsoft.com/office/drawing/2014/main" id="{CD5897FF-17FD-EC63-2380-4A022DEC54EE}"/>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The student is able to identify, and analyze AI applications in fictional and real-life (business) scenarios by examining and applying relevant concepts from AI literature and theory.</a:t>
            </a:r>
            <a:endParaRPr lang="en-US" i="0" dirty="0"/>
          </a:p>
        </p:txBody>
      </p:sp>
      <p:sp>
        <p:nvSpPr>
          <p:cNvPr id="399" name="Google Shape;399;p42">
            <a:extLst>
              <a:ext uri="{FF2B5EF4-FFF2-40B4-BE49-F238E27FC236}">
                <a16:creationId xmlns:a16="http://schemas.microsoft.com/office/drawing/2014/main" id="{03F02E45-1D1B-3FAB-2EEA-97DE75003543}"/>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900" dirty="0"/>
              <a:t>Ethical and Legal Responsibility</a:t>
            </a:r>
          </a:p>
        </p:txBody>
      </p:sp>
      <p:graphicFrame>
        <p:nvGraphicFramePr>
          <p:cNvPr id="4" name="Table 3">
            <a:extLst>
              <a:ext uri="{FF2B5EF4-FFF2-40B4-BE49-F238E27FC236}">
                <a16:creationId xmlns:a16="http://schemas.microsoft.com/office/drawing/2014/main" id="{D8A919F8-2902-BD2D-CBE6-0378098CF9EB}"/>
              </a:ext>
            </a:extLst>
          </p:cNvPr>
          <p:cNvGraphicFramePr>
            <a:graphicFrameLocks noGrp="1"/>
          </p:cNvGraphicFramePr>
          <p:nvPr>
            <p:extLst>
              <p:ext uri="{D42A27DB-BD31-4B8C-83A1-F6EECF244321}">
                <p14:modId xmlns:p14="http://schemas.microsoft.com/office/powerpoint/2010/main" val="921087628"/>
              </p:ext>
            </p:extLst>
          </p:nvPr>
        </p:nvGraphicFramePr>
        <p:xfrm>
          <a:off x="0" y="1069800"/>
          <a:ext cx="9143999" cy="4073701"/>
        </p:xfrm>
        <a:graphic>
          <a:graphicData uri="http://schemas.openxmlformats.org/drawingml/2006/table">
            <a:tbl>
              <a:tblPr/>
              <a:tblGrid>
                <a:gridCol w="1676203">
                  <a:extLst>
                    <a:ext uri="{9D8B030D-6E8A-4147-A177-3AD203B41FA5}">
                      <a16:colId xmlns:a16="http://schemas.microsoft.com/office/drawing/2014/main" val="1946826867"/>
                    </a:ext>
                  </a:extLst>
                </a:gridCol>
                <a:gridCol w="1325144">
                  <a:extLst>
                    <a:ext uri="{9D8B030D-6E8A-4147-A177-3AD203B41FA5}">
                      <a16:colId xmlns:a16="http://schemas.microsoft.com/office/drawing/2014/main" val="2722072811"/>
                    </a:ext>
                  </a:extLst>
                </a:gridCol>
                <a:gridCol w="1338301">
                  <a:extLst>
                    <a:ext uri="{9D8B030D-6E8A-4147-A177-3AD203B41FA5}">
                      <a16:colId xmlns:a16="http://schemas.microsoft.com/office/drawing/2014/main" val="3290534058"/>
                    </a:ext>
                  </a:extLst>
                </a:gridCol>
                <a:gridCol w="1496191">
                  <a:extLst>
                    <a:ext uri="{9D8B030D-6E8A-4147-A177-3AD203B41FA5}">
                      <a16:colId xmlns:a16="http://schemas.microsoft.com/office/drawing/2014/main" val="749269228"/>
                    </a:ext>
                  </a:extLst>
                </a:gridCol>
                <a:gridCol w="1654080">
                  <a:extLst>
                    <a:ext uri="{9D8B030D-6E8A-4147-A177-3AD203B41FA5}">
                      <a16:colId xmlns:a16="http://schemas.microsoft.com/office/drawing/2014/main" val="3119643303"/>
                    </a:ext>
                  </a:extLst>
                </a:gridCol>
                <a:gridCol w="1654080">
                  <a:extLst>
                    <a:ext uri="{9D8B030D-6E8A-4147-A177-3AD203B41FA5}">
                      <a16:colId xmlns:a16="http://schemas.microsoft.com/office/drawing/2014/main" val="46269273"/>
                    </a:ext>
                  </a:extLst>
                </a:gridCol>
              </a:tblGrid>
              <a:tr h="142027">
                <a:tc>
                  <a:txBody>
                    <a:bodyPr/>
                    <a:lstStyle/>
                    <a:p>
                      <a:pPr algn="ctr" fontAlgn="ctr"/>
                      <a:r>
                        <a:rPr lang="en-US" sz="6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6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6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6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 (Points: 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6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D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6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E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85108605"/>
                  </a:ext>
                </a:extLst>
              </a:tr>
              <a:tr h="1239127">
                <a:tc>
                  <a:txBody>
                    <a:bodyPr/>
                    <a:lstStyle/>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Student submits a complete learning log, work log and self-assessment rubric. The student exhibits professional </a:t>
                      </a:r>
                      <a:r>
                        <a:rPr lang="en-US" sz="6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6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The chosen Sci-Fi movie or (TV) series must receive approval from the mentor. Additionally, presentation slides should be uploaded through Brightspace Assignments, and the presentation itself should be no longer than 7 minutes. Finally, the student must complete the </a:t>
                      </a:r>
                      <a:r>
                        <a:rPr lang="en-US" sz="6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Preparation Quizzes available on Brightspace before the set deadline.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identify, and describe an AI topic within a Sci-Fi movie or (TV) series, and connect it to the relevant domain(s), and subdomain(s) of the Taxonomy of AI.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provide one example of an AI application within a real-life (business) setting that is related to their chosen AI topic.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evaluate the technical feasibility of the AI topic by critically assessing its application within a real-life (business) setting.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articulate the potential ethical and/or legal consequences of implementing the chosen AI topic in a real-life (business) setting.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incorporate academic practices by including in-text citations and a reference list, and at least one scholarly source in the presentation.</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90927699"/>
                  </a:ext>
                </a:extLst>
              </a:tr>
              <a:tr h="1744518">
                <a:tc>
                  <a:txBody>
                    <a:bodyPr/>
                    <a:lstStyle/>
                    <a:p>
                      <a:pPr marL="0" lvl="0" indent="0" algn="l">
                        <a:lnSpc>
                          <a:spcPct val="100000"/>
                        </a:lnSpc>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6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6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lvl="0" indent="0" algn="l">
                        <a:lnSpc>
                          <a:spcPct val="100000"/>
                        </a:lnSpc>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6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lvl="0" indent="0" algn="l">
                        <a:lnSpc>
                          <a:spcPct val="100000"/>
                        </a:lnSpc>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6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lvl="0" indent="0" algn="l">
                        <a:lnSpc>
                          <a:spcPct val="100000"/>
                        </a:lnSpc>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6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lvl="0" indent="0" algn="l">
                        <a:lnSpc>
                          <a:spcPct val="100000"/>
                        </a:lnSpc>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6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48184317"/>
                  </a:ext>
                </a:extLst>
              </a:tr>
              <a:tr h="948029">
                <a:tc>
                  <a:txBody>
                    <a:bodyPr/>
                    <a:lstStyle/>
                    <a:p>
                      <a:pPr algn="l" fontAlgn="ctr"/>
                      <a:r>
                        <a:rPr lang="en-US" sz="6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6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6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6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6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6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1407529909"/>
                  </a:ext>
                </a:extLst>
              </a:tr>
            </a:tbl>
          </a:graphicData>
        </a:graphic>
      </p:graphicFrame>
    </p:spTree>
    <p:extLst>
      <p:ext uri="{BB962C8B-B14F-4D97-AF65-F5344CB8AC3E}">
        <p14:creationId xmlns:p14="http://schemas.microsoft.com/office/powerpoint/2010/main" val="1734670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7</a:t>
            </a:r>
            <a:endParaRPr dirty="0"/>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t>Data Analysis</a:t>
            </a:r>
            <a:endParaRPr dirty="0"/>
          </a:p>
        </p:txBody>
      </p:sp>
      <p:sp>
        <p:nvSpPr>
          <p:cNvPr id="469" name="Google Shape;469;p4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dirty="0"/>
              <a:t>The student can use analytical and statistical methods to </a:t>
            </a:r>
            <a:r>
              <a:rPr lang="en-GB" dirty="0" err="1"/>
              <a:t>analyze</a:t>
            </a:r>
            <a:r>
              <a:rPr lang="en-GB" dirty="0"/>
              <a:t> data to create value for individuals, organizations and domains. </a:t>
            </a:r>
          </a:p>
          <a:p>
            <a:pPr marL="0" lvl="0" indent="0" algn="r" rtl="0">
              <a:spcBef>
                <a:spcPts val="0"/>
              </a:spcBef>
              <a:spcAft>
                <a:spcPts val="0"/>
              </a:spcAft>
              <a:buNone/>
            </a:pPr>
            <a:endParaRPr lang="en-GB" dirty="0"/>
          </a:p>
          <a:p>
            <a:pPr marL="0" lvl="0" indent="0" algn="r" rtl="0">
              <a:spcBef>
                <a:spcPts val="0"/>
              </a:spcBef>
              <a:spcAft>
                <a:spcPts val="0"/>
              </a:spcAft>
              <a:buNone/>
            </a:pPr>
            <a:r>
              <a:rPr lang="en-GB" dirty="0"/>
              <a:t> </a:t>
            </a:r>
            <a:endParaRPr dirty="0"/>
          </a:p>
        </p:txBody>
      </p:sp>
      <p:sp>
        <p:nvSpPr>
          <p:cNvPr id="470" name="Google Shape;470;p49"/>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dirty="0">
                <a:solidFill>
                  <a:srgbClr val="999999"/>
                </a:solidFill>
                <a:latin typeface="Roboto"/>
                <a:ea typeface="Roboto"/>
                <a:cs typeface="Roboto"/>
                <a:sym typeface="Roboto"/>
              </a:rPr>
              <a:t>7</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41115616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5BE77DF4-C60B-E993-CFD5-E2C112F9740F}"/>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81AEB320-A954-A31B-7DDC-4B43AA6029D0}"/>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7</a:t>
            </a:r>
            <a:endParaRPr dirty="0"/>
          </a:p>
        </p:txBody>
      </p:sp>
      <p:sp>
        <p:nvSpPr>
          <p:cNvPr id="394" name="Google Shape;394;p42">
            <a:extLst>
              <a:ext uri="{FF2B5EF4-FFF2-40B4-BE49-F238E27FC236}">
                <a16:creationId xmlns:a16="http://schemas.microsoft.com/office/drawing/2014/main" id="{5D87170E-8D6D-6B0A-07CA-E696C6918887}"/>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D281877C-76FA-DE5A-43FD-6B15ABC8FD81}"/>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75EBA52F-314E-ACB0-6E03-9455B6CFAC2E}"/>
              </a:ext>
            </a:extLst>
          </p:cNvPr>
          <p:cNvSpPr txBox="1">
            <a:spLocks noGrp="1"/>
          </p:cNvSpPr>
          <p:nvPr>
            <p:ph type="title" idx="3"/>
          </p:nvPr>
        </p:nvSpPr>
        <p:spPr>
          <a:xfrm>
            <a:off x="1840065" y="73373"/>
            <a:ext cx="6099079"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sz="1100" dirty="0"/>
              <a:t>The student can use analytical and statistical methods to </a:t>
            </a:r>
            <a:r>
              <a:rPr lang="en-GB" sz="1100" dirty="0" err="1"/>
              <a:t>analyze</a:t>
            </a:r>
            <a:r>
              <a:rPr lang="en-GB" sz="1100" dirty="0"/>
              <a:t> data to create value for individuals, organizations and domains. </a:t>
            </a:r>
            <a:br>
              <a:rPr lang="en-GB" sz="1100" dirty="0"/>
            </a:br>
            <a:br>
              <a:rPr lang="en-GB" sz="1100" dirty="0"/>
            </a:br>
            <a:r>
              <a:rPr lang="en-GB" sz="1100" dirty="0"/>
              <a:t> </a:t>
            </a:r>
          </a:p>
        </p:txBody>
      </p:sp>
      <p:sp>
        <p:nvSpPr>
          <p:cNvPr id="397" name="Google Shape;397;p42">
            <a:extLst>
              <a:ext uri="{FF2B5EF4-FFF2-40B4-BE49-F238E27FC236}">
                <a16:creationId xmlns:a16="http://schemas.microsoft.com/office/drawing/2014/main" id="{49B7DF98-47B8-582E-8191-1FCEC46A2407}"/>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7</a:t>
            </a:r>
            <a:r>
              <a:rPr lang="en" dirty="0"/>
              <a:t>.</a:t>
            </a:r>
            <a:r>
              <a:rPr lang="en-US" dirty="0"/>
              <a:t>1</a:t>
            </a:r>
            <a:endParaRPr dirty="0"/>
          </a:p>
        </p:txBody>
      </p:sp>
      <p:sp>
        <p:nvSpPr>
          <p:cNvPr id="398" name="Google Shape;398;p42">
            <a:extLst>
              <a:ext uri="{FF2B5EF4-FFF2-40B4-BE49-F238E27FC236}">
                <a16:creationId xmlns:a16="http://schemas.microsoft.com/office/drawing/2014/main" id="{61C84108-E431-4398-CFAC-362C1AB05A22}"/>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The student can use analytical and statistical methods to analyze data to create value for individuals, organizations and domains. </a:t>
            </a:r>
            <a:endParaRPr lang="en-US" i="0" dirty="0"/>
          </a:p>
        </p:txBody>
      </p:sp>
      <p:sp>
        <p:nvSpPr>
          <p:cNvPr id="399" name="Google Shape;399;p42">
            <a:extLst>
              <a:ext uri="{FF2B5EF4-FFF2-40B4-BE49-F238E27FC236}">
                <a16:creationId xmlns:a16="http://schemas.microsoft.com/office/drawing/2014/main" id="{5448309E-CE1F-C045-1F2A-BDC14DBA9656}"/>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Data Analysis</a:t>
            </a:r>
            <a:endParaRPr sz="900" dirty="0"/>
          </a:p>
        </p:txBody>
      </p:sp>
      <p:graphicFrame>
        <p:nvGraphicFramePr>
          <p:cNvPr id="4" name="Table 3">
            <a:extLst>
              <a:ext uri="{FF2B5EF4-FFF2-40B4-BE49-F238E27FC236}">
                <a16:creationId xmlns:a16="http://schemas.microsoft.com/office/drawing/2014/main" id="{122378BB-51B4-4D05-8565-EB0A18F2B9EE}"/>
              </a:ext>
            </a:extLst>
          </p:cNvPr>
          <p:cNvGraphicFramePr>
            <a:graphicFrameLocks noGrp="1"/>
          </p:cNvGraphicFramePr>
          <p:nvPr>
            <p:extLst>
              <p:ext uri="{D42A27DB-BD31-4B8C-83A1-F6EECF244321}">
                <p14:modId xmlns:p14="http://schemas.microsoft.com/office/powerpoint/2010/main" val="1355525040"/>
              </p:ext>
            </p:extLst>
          </p:nvPr>
        </p:nvGraphicFramePr>
        <p:xfrm>
          <a:off x="0" y="1069801"/>
          <a:ext cx="9144000" cy="4195457"/>
        </p:xfrm>
        <a:graphic>
          <a:graphicData uri="http://schemas.openxmlformats.org/drawingml/2006/table">
            <a:tbl>
              <a:tblPr/>
              <a:tblGrid>
                <a:gridCol w="1702560">
                  <a:extLst>
                    <a:ext uri="{9D8B030D-6E8A-4147-A177-3AD203B41FA5}">
                      <a16:colId xmlns:a16="http://schemas.microsoft.com/office/drawing/2014/main" val="1946826867"/>
                    </a:ext>
                  </a:extLst>
                </a:gridCol>
                <a:gridCol w="1320467">
                  <a:extLst>
                    <a:ext uri="{9D8B030D-6E8A-4147-A177-3AD203B41FA5}">
                      <a16:colId xmlns:a16="http://schemas.microsoft.com/office/drawing/2014/main" val="2722072811"/>
                    </a:ext>
                  </a:extLst>
                </a:gridCol>
                <a:gridCol w="1333578">
                  <a:extLst>
                    <a:ext uri="{9D8B030D-6E8A-4147-A177-3AD203B41FA5}">
                      <a16:colId xmlns:a16="http://schemas.microsoft.com/office/drawing/2014/main" val="3290534058"/>
                    </a:ext>
                  </a:extLst>
                </a:gridCol>
                <a:gridCol w="1490911">
                  <a:extLst>
                    <a:ext uri="{9D8B030D-6E8A-4147-A177-3AD203B41FA5}">
                      <a16:colId xmlns:a16="http://schemas.microsoft.com/office/drawing/2014/main" val="749269228"/>
                    </a:ext>
                  </a:extLst>
                </a:gridCol>
                <a:gridCol w="1648242">
                  <a:extLst>
                    <a:ext uri="{9D8B030D-6E8A-4147-A177-3AD203B41FA5}">
                      <a16:colId xmlns:a16="http://schemas.microsoft.com/office/drawing/2014/main" val="3119643303"/>
                    </a:ext>
                  </a:extLst>
                </a:gridCol>
                <a:gridCol w="1648242">
                  <a:extLst>
                    <a:ext uri="{9D8B030D-6E8A-4147-A177-3AD203B41FA5}">
                      <a16:colId xmlns:a16="http://schemas.microsoft.com/office/drawing/2014/main" val="46269273"/>
                    </a:ext>
                  </a:extLst>
                </a:gridCol>
              </a:tblGrid>
              <a:tr h="136249">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85108605"/>
                  </a:ext>
                </a:extLst>
              </a:tr>
              <a:tr h="909464">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Both the raw data files and the processed data files before the visualizations are built must be provided. The document detailing the process is submitted. Student submits  a complete learning log, work log and self-assessment rubric. The student exhibits professional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describe data using measure of central tendency such as mean, median, mode or measures of dispersion such as standard deviation, range and IQR and determine which measure is best applicable to solve a use-case.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can effectively apply fundamental data manipulation tools and techniques to organize and prepare data for visualization.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calculate and interpret measures of association such as a correlation coefficient that addresses the use-case, documenting the process.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utilize advanced data manipulation techniques to efficiently manipulate and structure data for visualization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recognize the data science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lifecyle</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as an iterative process and can clearly distinguish between phases of CRISP-DM , documenting the process.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90927699"/>
                  </a:ext>
                </a:extLst>
              </a:tr>
              <a:tr h="2118523">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48184317"/>
                  </a:ext>
                </a:extLst>
              </a:tr>
              <a:tr h="909464">
                <a:tc>
                  <a:txBody>
                    <a:bodyPr/>
                    <a:lstStyle/>
                    <a:p>
                      <a:pPr algn="l" fontAlgn="ct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1407529909"/>
                  </a:ext>
                </a:extLst>
              </a:tr>
            </a:tbl>
          </a:graphicData>
        </a:graphic>
      </p:graphicFrame>
    </p:spTree>
    <p:extLst>
      <p:ext uri="{BB962C8B-B14F-4D97-AF65-F5344CB8AC3E}">
        <p14:creationId xmlns:p14="http://schemas.microsoft.com/office/powerpoint/2010/main" val="2959613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6">
          <a:extLst>
            <a:ext uri="{FF2B5EF4-FFF2-40B4-BE49-F238E27FC236}">
              <a16:creationId xmlns:a16="http://schemas.microsoft.com/office/drawing/2014/main" id="{51806DED-7442-C571-EB12-DDF642A8A7D4}"/>
            </a:ext>
          </a:extLst>
        </p:cNvPr>
        <p:cNvGrpSpPr/>
        <p:nvPr/>
      </p:nvGrpSpPr>
      <p:grpSpPr>
        <a:xfrm>
          <a:off x="0" y="0"/>
          <a:ext cx="0" cy="0"/>
          <a:chOff x="0" y="0"/>
          <a:chExt cx="0" cy="0"/>
        </a:xfrm>
      </p:grpSpPr>
      <p:sp>
        <p:nvSpPr>
          <p:cNvPr id="467" name="Google Shape;467;p49">
            <a:extLst>
              <a:ext uri="{FF2B5EF4-FFF2-40B4-BE49-F238E27FC236}">
                <a16:creationId xmlns:a16="http://schemas.microsoft.com/office/drawing/2014/main" id="{DBC7FD91-1B30-EBB6-48D3-6E314B7456D4}"/>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10</a:t>
            </a:r>
            <a:endParaRPr dirty="0"/>
          </a:p>
        </p:txBody>
      </p:sp>
      <p:sp>
        <p:nvSpPr>
          <p:cNvPr id="468" name="Google Shape;468;p49">
            <a:extLst>
              <a:ext uri="{FF2B5EF4-FFF2-40B4-BE49-F238E27FC236}">
                <a16:creationId xmlns:a16="http://schemas.microsoft.com/office/drawing/2014/main" id="{18769213-B9C5-7707-3628-384D57212FD5}"/>
              </a:ext>
            </a:extLst>
          </p:cNvPr>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Visualization</a:t>
            </a:r>
            <a:endParaRPr dirty="0"/>
          </a:p>
        </p:txBody>
      </p:sp>
      <p:sp>
        <p:nvSpPr>
          <p:cNvPr id="469" name="Google Shape;469;p49">
            <a:extLst>
              <a:ext uri="{FF2B5EF4-FFF2-40B4-BE49-F238E27FC236}">
                <a16:creationId xmlns:a16="http://schemas.microsoft.com/office/drawing/2014/main" id="{5B112C09-34DB-0701-FCFD-094242A5A5BF}"/>
              </a:ext>
            </a:extLst>
          </p:cNvPr>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dirty="0"/>
              <a:t>The student can apply visualization and storytelling techniques and skills to effectively and accurately inform stakeholders about (interim) results of AI and DS approaches. </a:t>
            </a:r>
          </a:p>
          <a:p>
            <a:pPr marL="0" lvl="0" indent="0" algn="r" rtl="0">
              <a:spcBef>
                <a:spcPts val="0"/>
              </a:spcBef>
              <a:spcAft>
                <a:spcPts val="0"/>
              </a:spcAft>
              <a:buNone/>
            </a:pPr>
            <a:endParaRPr lang="en-GB" dirty="0"/>
          </a:p>
        </p:txBody>
      </p:sp>
      <p:sp>
        <p:nvSpPr>
          <p:cNvPr id="470" name="Google Shape;470;p49">
            <a:extLst>
              <a:ext uri="{FF2B5EF4-FFF2-40B4-BE49-F238E27FC236}">
                <a16:creationId xmlns:a16="http://schemas.microsoft.com/office/drawing/2014/main" id="{2D3C4998-4F9A-3ECB-2985-6A02526D2FBD}"/>
              </a:ext>
            </a:extLst>
          </p:cNvPr>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0000" dirty="0">
                <a:solidFill>
                  <a:srgbClr val="999999"/>
                </a:solidFill>
                <a:latin typeface="Roboto"/>
                <a:ea typeface="Roboto"/>
                <a:cs typeface="Roboto"/>
                <a:sym typeface="Roboto"/>
              </a:rPr>
              <a:t>10</a:t>
            </a:r>
            <a:endParaRPr sz="2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5349086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66CDF1C2-4699-9074-0496-4886C7EA0FC5}"/>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08BAD8D4-7305-8598-3D8B-C44D6649AE36}"/>
              </a:ext>
            </a:extLst>
          </p:cNvPr>
          <p:cNvSpPr txBox="1">
            <a:spLocks noGrp="1"/>
          </p:cNvSpPr>
          <p:nvPr>
            <p:ph type="title"/>
          </p:nvPr>
        </p:nvSpPr>
        <p:spPr>
          <a:xfrm>
            <a:off x="68250" y="0"/>
            <a:ext cx="90795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10</a:t>
            </a:r>
            <a:endParaRPr dirty="0"/>
          </a:p>
        </p:txBody>
      </p:sp>
      <p:sp>
        <p:nvSpPr>
          <p:cNvPr id="394" name="Google Shape;394;p42">
            <a:extLst>
              <a:ext uri="{FF2B5EF4-FFF2-40B4-BE49-F238E27FC236}">
                <a16:creationId xmlns:a16="http://schemas.microsoft.com/office/drawing/2014/main" id="{48EA9C23-B60F-EFE2-1E4B-CA7988F4CC5A}"/>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383D5F96-501C-3E87-F575-ADBD2C02F66D}"/>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0DFDD3B0-6830-4139-79BE-E425FE1FF777}"/>
              </a:ext>
            </a:extLst>
          </p:cNvPr>
          <p:cNvSpPr txBox="1">
            <a:spLocks noGrp="1"/>
          </p:cNvSpPr>
          <p:nvPr>
            <p:ph type="title" idx="3"/>
          </p:nvPr>
        </p:nvSpPr>
        <p:spPr>
          <a:xfrm>
            <a:off x="2054711" y="0"/>
            <a:ext cx="6766560"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sz="1100" dirty="0"/>
              <a:t>The student can apply visualization and storytelling techniques and skills to effectively and accurately inform stakeholders about (interim) results of AI and DS approaches. </a:t>
            </a:r>
          </a:p>
        </p:txBody>
      </p:sp>
      <p:sp>
        <p:nvSpPr>
          <p:cNvPr id="397" name="Google Shape;397;p42">
            <a:extLst>
              <a:ext uri="{FF2B5EF4-FFF2-40B4-BE49-F238E27FC236}">
                <a16:creationId xmlns:a16="http://schemas.microsoft.com/office/drawing/2014/main" id="{CF334CE0-EA72-3D6A-3110-3308FBE660EC}"/>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000" dirty="0"/>
              <a:t>10</a:t>
            </a:r>
            <a:r>
              <a:rPr lang="en" sz="3000" dirty="0"/>
              <a:t>.</a:t>
            </a:r>
            <a:r>
              <a:rPr lang="en-US" sz="3000" dirty="0"/>
              <a:t>1</a:t>
            </a:r>
            <a:endParaRPr sz="3000" dirty="0"/>
          </a:p>
        </p:txBody>
      </p:sp>
      <p:sp>
        <p:nvSpPr>
          <p:cNvPr id="398" name="Google Shape;398;p42">
            <a:extLst>
              <a:ext uri="{FF2B5EF4-FFF2-40B4-BE49-F238E27FC236}">
                <a16:creationId xmlns:a16="http://schemas.microsoft.com/office/drawing/2014/main" id="{CD7A760C-CE82-B1F6-E059-9CEB41C5BADC}"/>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The student is able to produce relevant and understandable data visualizations or reports for specific targets groups using industry standard tools.</a:t>
            </a:r>
            <a:endParaRPr lang="en-US" i="0" dirty="0"/>
          </a:p>
        </p:txBody>
      </p:sp>
      <p:sp>
        <p:nvSpPr>
          <p:cNvPr id="399" name="Google Shape;399;p42">
            <a:extLst>
              <a:ext uri="{FF2B5EF4-FFF2-40B4-BE49-F238E27FC236}">
                <a16:creationId xmlns:a16="http://schemas.microsoft.com/office/drawing/2014/main" id="{CAAB0FDC-F662-C148-6A44-75F8A457D0AD}"/>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Visualization</a:t>
            </a:r>
            <a:endParaRPr sz="900" dirty="0"/>
          </a:p>
        </p:txBody>
      </p:sp>
      <p:graphicFrame>
        <p:nvGraphicFramePr>
          <p:cNvPr id="4" name="Table 3">
            <a:extLst>
              <a:ext uri="{FF2B5EF4-FFF2-40B4-BE49-F238E27FC236}">
                <a16:creationId xmlns:a16="http://schemas.microsoft.com/office/drawing/2014/main" id="{B35F64D0-ACEE-1677-2E18-A0B2FEF33344}"/>
              </a:ext>
            </a:extLst>
          </p:cNvPr>
          <p:cNvGraphicFramePr>
            <a:graphicFrameLocks noGrp="1"/>
          </p:cNvGraphicFramePr>
          <p:nvPr>
            <p:extLst>
              <p:ext uri="{D42A27DB-BD31-4B8C-83A1-F6EECF244321}">
                <p14:modId xmlns:p14="http://schemas.microsoft.com/office/powerpoint/2010/main" val="1482078175"/>
              </p:ext>
            </p:extLst>
          </p:nvPr>
        </p:nvGraphicFramePr>
        <p:xfrm>
          <a:off x="0" y="1069801"/>
          <a:ext cx="9144000" cy="4195457"/>
        </p:xfrm>
        <a:graphic>
          <a:graphicData uri="http://schemas.openxmlformats.org/drawingml/2006/table">
            <a:tbl>
              <a:tblPr/>
              <a:tblGrid>
                <a:gridCol w="1702560">
                  <a:extLst>
                    <a:ext uri="{9D8B030D-6E8A-4147-A177-3AD203B41FA5}">
                      <a16:colId xmlns:a16="http://schemas.microsoft.com/office/drawing/2014/main" val="1946826867"/>
                    </a:ext>
                  </a:extLst>
                </a:gridCol>
                <a:gridCol w="1320467">
                  <a:extLst>
                    <a:ext uri="{9D8B030D-6E8A-4147-A177-3AD203B41FA5}">
                      <a16:colId xmlns:a16="http://schemas.microsoft.com/office/drawing/2014/main" val="2722072811"/>
                    </a:ext>
                  </a:extLst>
                </a:gridCol>
                <a:gridCol w="1333578">
                  <a:extLst>
                    <a:ext uri="{9D8B030D-6E8A-4147-A177-3AD203B41FA5}">
                      <a16:colId xmlns:a16="http://schemas.microsoft.com/office/drawing/2014/main" val="3290534058"/>
                    </a:ext>
                  </a:extLst>
                </a:gridCol>
                <a:gridCol w="1490911">
                  <a:extLst>
                    <a:ext uri="{9D8B030D-6E8A-4147-A177-3AD203B41FA5}">
                      <a16:colId xmlns:a16="http://schemas.microsoft.com/office/drawing/2014/main" val="749269228"/>
                    </a:ext>
                  </a:extLst>
                </a:gridCol>
                <a:gridCol w="1648242">
                  <a:extLst>
                    <a:ext uri="{9D8B030D-6E8A-4147-A177-3AD203B41FA5}">
                      <a16:colId xmlns:a16="http://schemas.microsoft.com/office/drawing/2014/main" val="3119643303"/>
                    </a:ext>
                  </a:extLst>
                </a:gridCol>
                <a:gridCol w="1648242">
                  <a:extLst>
                    <a:ext uri="{9D8B030D-6E8A-4147-A177-3AD203B41FA5}">
                      <a16:colId xmlns:a16="http://schemas.microsoft.com/office/drawing/2014/main" val="46269273"/>
                    </a:ext>
                  </a:extLst>
                </a:gridCol>
              </a:tblGrid>
              <a:tr h="136249">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B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C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D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E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85108605"/>
                  </a:ext>
                </a:extLst>
              </a:tr>
              <a:tr h="909464">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should submit the dashboard and the document detailing the process, addressing the creative brief. Student submits  a complete learning log, work log and self-assessment rubric. The student exhibits professional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compose a clear data-driven research question and is able to import data from 'flat-file' format to the visualization tool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identify the variable types in the chosen dataset, select, clean and/or transform an appropriate dataset to answer the data-driven research question.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generate appropriate visuals, effectively explain the generated visuals, link the explanations to the data driven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reasearch</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question, and justify their creation.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utilize advanced functions in the visualization tool. The student is able to create a user-friendly dashboard, adhering to UI/UX principles. The rationale connecting these advanced visuals to the data-driven research question is documented.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identify the shortcomings of the current implementation and  propose next steps for future research.</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90927699"/>
                  </a:ext>
                </a:extLst>
              </a:tr>
              <a:tr h="2118523">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written justification supported with evidence as to why you qualify for a given ILO criteria. Here's </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3"/>
                        </a:rPr>
                        <a:t>an explainer on how to evidence</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well!</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Your evidence can be anything from graphs, pictures, descriptions but should mainly consist of links to material on version-controlled repositories owned by </a:t>
                      </a:r>
                      <a:r>
                        <a:rPr lang="en-GB"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BUas</a:t>
                      </a: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such as GitHub, One-drive, Perforce etc. Other repositories such as Google drive are not allowed! </a:t>
                      </a:r>
                    </a:p>
                    <a:p>
                      <a:pPr marL="0" lvl="0" indent="0" algn="l">
                        <a:lnSpc>
                          <a:spcPct val="100000"/>
                        </a:lnSpc>
                        <a:buNone/>
                      </a:pPr>
                      <a:endPar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Consult your mentor if you’re unsure about how to evidence your work</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48184317"/>
                  </a:ext>
                </a:extLst>
              </a:tr>
              <a:tr h="909464">
                <a:tc>
                  <a:txBody>
                    <a:bodyPr/>
                    <a:lstStyle/>
                    <a:p>
                      <a:pPr algn="l" fontAlgn="ct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Provide evidence (links) for each criterion</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1407529909"/>
                  </a:ext>
                </a:extLst>
              </a:tr>
            </a:tbl>
          </a:graphicData>
        </a:graphic>
      </p:graphicFrame>
    </p:spTree>
    <p:extLst>
      <p:ext uri="{BB962C8B-B14F-4D97-AF65-F5344CB8AC3E}">
        <p14:creationId xmlns:p14="http://schemas.microsoft.com/office/powerpoint/2010/main" val="34308232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a:t>
            </a:r>
            <a:r>
              <a:rPr lang="en-NL" dirty="0" err="1"/>
              <a:t>edal</a:t>
            </a:r>
            <a:r>
              <a:rPr lang="en-NL" dirty="0"/>
              <a:t> Challenges</a:t>
            </a:r>
            <a:endParaRPr dirty="0"/>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dirty="0"/>
              <a:t>Going the extra mile!</a:t>
            </a:r>
            <a:endParaRPr dirty="0"/>
          </a:p>
        </p:txBody>
      </p:sp>
      <p:pic>
        <p:nvPicPr>
          <p:cNvPr id="7" name="Graphic 6" descr="Medal">
            <a:extLst>
              <a:ext uri="{FF2B5EF4-FFF2-40B4-BE49-F238E27FC236}">
                <a16:creationId xmlns:a16="http://schemas.microsoft.com/office/drawing/2014/main" id="{2C2C6876-7040-0594-5C65-F9EFF1B3B3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666" y="1379845"/>
            <a:ext cx="3492405" cy="3492405"/>
          </a:xfrm>
          <a:prstGeom prst="rect">
            <a:avLst/>
          </a:prstGeom>
        </p:spPr>
      </p:pic>
    </p:spTree>
    <p:extLst>
      <p:ext uri="{BB962C8B-B14F-4D97-AF65-F5344CB8AC3E}">
        <p14:creationId xmlns:p14="http://schemas.microsoft.com/office/powerpoint/2010/main" val="35324318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6" name="Google Shape;476;p50"/>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477" name="Google Shape;477;p50"/>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480" name="Google Shape;480;p50"/>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P</a:t>
            </a:r>
            <a:r>
              <a:rPr lang="en-NL" dirty="0" err="1"/>
              <a:t>ut</a:t>
            </a:r>
            <a:r>
              <a:rPr lang="en-NL" dirty="0"/>
              <a:t> your evidence down here to receive a medal!</a:t>
            </a:r>
            <a:endParaRPr lang="en-GB" dirty="0"/>
          </a:p>
        </p:txBody>
      </p:sp>
      <p:sp>
        <p:nvSpPr>
          <p:cNvPr id="7" name="Google Shape;459;p48">
            <a:extLst>
              <a:ext uri="{FF2B5EF4-FFF2-40B4-BE49-F238E27FC236}">
                <a16:creationId xmlns:a16="http://schemas.microsoft.com/office/drawing/2014/main" id="{5161B9CD-FD90-1846-8EE0-48554F0A839A}"/>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dirty="0"/>
              <a:t>Going the extra mile!</a:t>
            </a:r>
            <a:endParaRPr lang="en-GB" dirty="0"/>
          </a:p>
        </p:txBody>
      </p:sp>
      <p:sp>
        <p:nvSpPr>
          <p:cNvPr id="2" name="Google Shape;462;p48">
            <a:extLst>
              <a:ext uri="{FF2B5EF4-FFF2-40B4-BE49-F238E27FC236}">
                <a16:creationId xmlns:a16="http://schemas.microsoft.com/office/drawing/2014/main" id="{504CBF35-FBEA-FA87-F016-E6278C3C94B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dirty="0"/>
              <a:t>Medal Challenges</a:t>
            </a:r>
            <a:endParaRPr lang="en-US" dirty="0"/>
          </a:p>
        </p:txBody>
      </p:sp>
      <p:pic>
        <p:nvPicPr>
          <p:cNvPr id="12" name="Graphic 11" descr="Medal">
            <a:extLst>
              <a:ext uri="{FF2B5EF4-FFF2-40B4-BE49-F238E27FC236}">
                <a16:creationId xmlns:a16="http://schemas.microsoft.com/office/drawing/2014/main" id="{DAEAD1FE-ADA8-7092-2C63-52D1D8722E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5771" y="58096"/>
            <a:ext cx="459808" cy="459808"/>
          </a:xfrm>
          <a:prstGeom prst="rect">
            <a:avLst/>
          </a:prstGeom>
        </p:spPr>
      </p:pic>
    </p:spTree>
    <p:extLst>
      <p:ext uri="{BB962C8B-B14F-4D97-AF65-F5344CB8AC3E}">
        <p14:creationId xmlns:p14="http://schemas.microsoft.com/office/powerpoint/2010/main" val="1352897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2"/>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D</a:t>
            </a:r>
            <a:endParaRPr sz="6000"/>
          </a:p>
        </p:txBody>
      </p:sp>
      <p:sp>
        <p:nvSpPr>
          <p:cNvPr id="498" name="Google Shape;498;p52"/>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Reflection</a:t>
            </a:r>
            <a:endParaRPr sz="3000"/>
          </a:p>
        </p:txBody>
      </p:sp>
      <p:sp>
        <p:nvSpPr>
          <p:cNvPr id="499" name="Google Shape;499;p52"/>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rPr>
              <a:t>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3"/>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did I achieve this block?</a:t>
            </a:r>
            <a:endParaRPr/>
          </a:p>
        </p:txBody>
      </p:sp>
      <p:sp>
        <p:nvSpPr>
          <p:cNvPr id="505" name="Google Shape;505;p53"/>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1/2</a:t>
            </a:r>
            <a:endParaRPr/>
          </a:p>
        </p:txBody>
      </p:sp>
      <p:sp>
        <p:nvSpPr>
          <p:cNvPr id="506" name="Google Shape;506;p53"/>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My most significant achievements this block</a:t>
            </a:r>
            <a:endParaRPr/>
          </a:p>
        </p:txBody>
      </p:sp>
      <p:sp>
        <p:nvSpPr>
          <p:cNvPr id="507" name="Google Shape;507;p53"/>
          <p:cNvSpPr txBox="1">
            <a:spLocks noGrp="1"/>
          </p:cNvSpPr>
          <p:nvPr>
            <p:ph type="body" idx="3"/>
          </p:nvPr>
        </p:nvSpPr>
        <p:spPr>
          <a:xfrm>
            <a:off x="182880" y="1069848"/>
            <a:ext cx="87783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My most difficult challenges this block</a:t>
            </a:r>
            <a:endParaRPr sz="1400" b="1"/>
          </a:p>
          <a:p>
            <a:pPr marL="0" lvl="0" indent="0" algn="just" rtl="0">
              <a:spcBef>
                <a:spcPts val="80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The most important lessons I learned</a:t>
            </a:r>
            <a:endParaRPr sz="1400" b="1"/>
          </a:p>
          <a:p>
            <a:pPr marL="0" lvl="0" indent="0" algn="just" rtl="0">
              <a:spcBef>
                <a:spcPts val="800"/>
              </a:spcBef>
              <a:spcAft>
                <a:spcPts val="800"/>
              </a:spcAft>
              <a:buNone/>
            </a:pPr>
            <a:r>
              <a:rPr lang="en"/>
              <a:t>...</a:t>
            </a:r>
            <a:endParaRPr/>
          </a:p>
        </p:txBody>
      </p:sp>
      <p:sp>
        <p:nvSpPr>
          <p:cNvPr id="508" name="Google Shape;508;p53"/>
          <p:cNvSpPr txBox="1">
            <a:spLocks noGrp="1"/>
          </p:cNvSpPr>
          <p:nvPr>
            <p:ph type="title" idx="4"/>
          </p:nvPr>
        </p:nvSpPr>
        <p:spPr>
          <a:xfrm>
            <a:off x="-91848" y="96951"/>
            <a:ext cx="851544"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well am I progressing?</a:t>
            </a:r>
            <a:endParaRPr/>
          </a:p>
        </p:txBody>
      </p:sp>
      <p:sp>
        <p:nvSpPr>
          <p:cNvPr id="514" name="Google Shape;514;p54"/>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 sz="1400"/>
              <a:t>/</a:t>
            </a:r>
            <a:r>
              <a:rPr lang="en"/>
              <a:t>2</a:t>
            </a:r>
            <a:endParaRPr sz="1400"/>
          </a:p>
        </p:txBody>
      </p:sp>
      <p:sp>
        <p:nvSpPr>
          <p:cNvPr id="516" name="Google Shape;516;p54"/>
          <p:cNvSpPr txBox="1">
            <a:spLocks noGrp="1"/>
          </p:cNvSpPr>
          <p:nvPr>
            <p:ph type="subTitle" idx="1"/>
          </p:nvPr>
        </p:nvSpPr>
        <p:spPr>
          <a:xfrm>
            <a:off x="182880" y="667512"/>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 on my self assessment						My self assessment grade is a</a:t>
            </a:r>
            <a:endParaRPr b="0" i="1"/>
          </a:p>
        </p:txBody>
      </p:sp>
      <p:sp>
        <p:nvSpPr>
          <p:cNvPr id="517" name="Google Shape;517;p54"/>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How I plan to improve next block</a:t>
            </a:r>
            <a:endParaRPr sz="1400" b="1"/>
          </a:p>
          <a:p>
            <a:pPr marL="0" lvl="0" indent="0" algn="just" rtl="0">
              <a:spcBef>
                <a:spcPts val="800"/>
              </a:spcBef>
              <a:spcAft>
                <a:spcPts val="800"/>
              </a:spcAft>
              <a:buNone/>
            </a:pPr>
            <a:r>
              <a:rPr lang="en"/>
              <a:t>...</a:t>
            </a:r>
            <a:endParaRPr/>
          </a:p>
        </p:txBody>
      </p:sp>
      <p:sp>
        <p:nvSpPr>
          <p:cNvPr id="518" name="Google Shape;518;p54"/>
          <p:cNvSpPr txBox="1"/>
          <p:nvPr/>
        </p:nvSpPr>
        <p:spPr>
          <a:xfrm>
            <a:off x="7918704" y="676700"/>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a:solidFill>
                  <a:srgbClr val="434343"/>
                </a:solidFill>
                <a:latin typeface="Roboto"/>
                <a:ea typeface="Roboto"/>
                <a:cs typeface="Roboto"/>
                <a:sym typeface="Roboto"/>
              </a:rPr>
              <a:t>x.x</a:t>
            </a:r>
            <a:endParaRPr sz="3600" b="1">
              <a:solidFill>
                <a:srgbClr val="434343"/>
              </a:solidFill>
              <a:latin typeface="Roboto"/>
              <a:ea typeface="Roboto"/>
              <a:cs typeface="Roboto"/>
              <a:sym typeface="Roboto"/>
            </a:endParaRPr>
          </a:p>
        </p:txBody>
      </p:sp>
      <p:sp>
        <p:nvSpPr>
          <p:cNvPr id="5" name="Google Shape;508;p53">
            <a:extLst>
              <a:ext uri="{FF2B5EF4-FFF2-40B4-BE49-F238E27FC236}">
                <a16:creationId xmlns:a16="http://schemas.microsoft.com/office/drawing/2014/main" id="{EAC66E3E-7997-3FB2-868E-2DAC206B613B}"/>
              </a:ext>
            </a:extLst>
          </p:cNvPr>
          <p:cNvSpPr txBox="1">
            <a:spLocks/>
          </p:cNvSpPr>
          <p:nvPr/>
        </p:nvSpPr>
        <p:spPr>
          <a:xfrm>
            <a:off x="-91848" y="96951"/>
            <a:ext cx="851544"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FFFFF"/>
              </a:buClr>
              <a:buSzPts val="2000"/>
              <a:buFont typeface="Roboto Light"/>
              <a:buNone/>
              <a:defRPr sz="4800" b="0" i="0" u="none" strike="noStrike" cap="none">
                <a:solidFill>
                  <a:schemeClr val="lt1"/>
                </a:solidFill>
                <a:latin typeface="Roboto Light"/>
                <a:ea typeface="Roboto Light"/>
                <a:cs typeface="Roboto Light"/>
                <a:sym typeface="Roboto Light"/>
              </a:defRPr>
            </a:lvl1pPr>
            <a:lvl2pPr marR="0" lvl="1"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2pPr>
            <a:lvl3pPr marR="0" lvl="2"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3pPr>
            <a:lvl4pPr marR="0" lvl="3"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4pPr>
            <a:lvl5pPr marR="0" lvl="4"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5pPr>
            <a:lvl6pPr marR="0" lvl="5"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6pPr>
            <a:lvl7pPr marR="0" lvl="6"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7pPr>
            <a:lvl8pPr marR="0" lvl="7"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8pPr>
            <a:lvl9pPr marR="0" lvl="8"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9pPr>
          </a:lstStyle>
          <a:p>
            <a:endParaRPr lang="en"/>
          </a:p>
        </p:txBody>
      </p:sp>
      <p:sp>
        <p:nvSpPr>
          <p:cNvPr id="7" name="Google Shape;508;p53">
            <a:extLst>
              <a:ext uri="{FF2B5EF4-FFF2-40B4-BE49-F238E27FC236}">
                <a16:creationId xmlns:a16="http://schemas.microsoft.com/office/drawing/2014/main" id="{6ADF2B66-4C53-E1C0-7D9C-21EFEAFCBDB5}"/>
              </a:ext>
            </a:extLst>
          </p:cNvPr>
          <p:cNvSpPr txBox="1">
            <a:spLocks noGrp="1"/>
          </p:cNvSpPr>
          <p:nvPr>
            <p:ph type="title" idx="4"/>
          </p:nvPr>
        </p:nvSpPr>
        <p:spPr>
          <a:xfrm>
            <a:off x="-89467" y="49326"/>
            <a:ext cx="851544"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p>
        </p:txBody>
      </p:sp>
    </p:spTree>
  </p:cSld>
  <p:clrMapOvr>
    <a:masterClrMapping/>
  </p:clrMapOvr>
</p:sld>
</file>

<file path=ppt/theme/theme1.xml><?xml version="1.0" encoding="utf-8"?>
<a:theme xmlns:a="http://schemas.openxmlformats.org/drawingml/2006/main" name="BUAS 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3C78D8"/>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BADAD4AA324BF48804EF76FD903323C" ma:contentTypeVersion="15" ma:contentTypeDescription="Create a new document." ma:contentTypeScope="" ma:versionID="4ea0feda506421460444ca95554a0aab">
  <xsd:schema xmlns:xsd="http://www.w3.org/2001/XMLSchema" xmlns:xs="http://www.w3.org/2001/XMLSchema" xmlns:p="http://schemas.microsoft.com/office/2006/metadata/properties" xmlns:ns2="5ff92c65-ed86-4457-baee-ccd535c9ea21" xmlns:ns3="6c8d291c-a5bf-4049-930d-38db8e991d8e" targetNamespace="http://schemas.microsoft.com/office/2006/metadata/properties" ma:root="true" ma:fieldsID="0fc8cf7d0f5ee312899395875a30595e" ns2:_="" ns3:_="">
    <xsd:import namespace="5ff92c65-ed86-4457-baee-ccd535c9ea21"/>
    <xsd:import namespace="6c8d291c-a5bf-4049-930d-38db8e991d8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f92c65-ed86-4457-baee-ccd535c9ea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65a90ea-d0e7-4aae-8ef9-9f5dd1eb65e3"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c8d291c-a5bf-4049-930d-38db8e991d8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ad53588-c864-4711-ad43-fad96b40598a}" ma:internalName="TaxCatchAll" ma:showField="CatchAllData" ma:web="6c8d291c-a5bf-4049-930d-38db8e991d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ff92c65-ed86-4457-baee-ccd535c9ea21">
      <Terms xmlns="http://schemas.microsoft.com/office/infopath/2007/PartnerControls"/>
    </lcf76f155ced4ddcb4097134ff3c332f>
    <TaxCatchAll xmlns="6c8d291c-a5bf-4049-930d-38db8e991d8e" xsi:nil="true"/>
  </documentManagement>
</p:properties>
</file>

<file path=customXml/itemProps1.xml><?xml version="1.0" encoding="utf-8"?>
<ds:datastoreItem xmlns:ds="http://schemas.openxmlformats.org/officeDocument/2006/customXml" ds:itemID="{98D9791E-52D0-4ABB-925A-4EAECF798D9B}">
  <ds:schemaRefs>
    <ds:schemaRef ds:uri="http://schemas.microsoft.com/sharepoint/v3/contenttype/forms"/>
  </ds:schemaRefs>
</ds:datastoreItem>
</file>

<file path=customXml/itemProps2.xml><?xml version="1.0" encoding="utf-8"?>
<ds:datastoreItem xmlns:ds="http://schemas.openxmlformats.org/officeDocument/2006/customXml" ds:itemID="{AEEE2CFC-DBC5-4A82-9F95-F9B80A5EF5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f92c65-ed86-4457-baee-ccd535c9ea21"/>
    <ds:schemaRef ds:uri="6c8d291c-a5bf-4049-930d-38db8e991d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67B86F-F5BB-4BE6-9A37-0E19E53CB68B}">
  <ds:schemaRefs>
    <ds:schemaRef ds:uri="http://schemas.microsoft.com/office/infopath/2007/PartnerControls"/>
    <ds:schemaRef ds:uri="5ff92c65-ed86-4457-baee-ccd535c9ea21"/>
    <ds:schemaRef ds:uri="http://schemas.openxmlformats.org/package/2006/metadata/core-properties"/>
    <ds:schemaRef ds:uri="http://schemas.microsoft.com/office/2006/metadata/properties"/>
    <ds:schemaRef ds:uri="http://purl.org/dc/terms/"/>
    <ds:schemaRef ds:uri="http://purl.org/dc/elements/1.1/"/>
    <ds:schemaRef ds:uri="6c8d291c-a5bf-4049-930d-38db8e991d8e"/>
    <ds:schemaRef ds:uri="http://schemas.microsoft.com/office/2006/documentManagement/typ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77</TotalTime>
  <Words>7512</Words>
  <Application>Microsoft Macintosh PowerPoint</Application>
  <PresentationFormat>On-screen Show (16:9)</PresentationFormat>
  <Paragraphs>604</Paragraphs>
  <Slides>41</Slides>
  <Notes>41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Proxima Nova</vt:lpstr>
      <vt:lpstr>Helvetica Neue</vt:lpstr>
      <vt:lpstr>Roboto Light</vt:lpstr>
      <vt:lpstr>Roboto</vt:lpstr>
      <vt:lpstr>Roboto Thin</vt:lpstr>
      <vt:lpstr>BUAS Gameday</vt:lpstr>
      <vt:lpstr>«studentname» «studentid» «creativebrief/projectname»</vt:lpstr>
      <vt:lpstr>How To Use This Template</vt:lpstr>
      <vt:lpstr>Learning Log Structure</vt:lpstr>
      <vt:lpstr>Section A</vt:lpstr>
      <vt:lpstr>Section B</vt:lpstr>
      <vt:lpstr>Week 1 - Log</vt:lpstr>
      <vt:lpstr>Week 1 - Feedback</vt:lpstr>
      <vt:lpstr>Week 2 - Log</vt:lpstr>
      <vt:lpstr>Week 2 - Feedback</vt:lpstr>
      <vt:lpstr>Week 3 - Log</vt:lpstr>
      <vt:lpstr>Week 3 - Feedback</vt:lpstr>
      <vt:lpstr>Week 4 - Log</vt:lpstr>
      <vt:lpstr>Week 4 - Feedback</vt:lpstr>
      <vt:lpstr>Week 5 - Log</vt:lpstr>
      <vt:lpstr>Week 5 - Feedback</vt:lpstr>
      <vt:lpstr>Week 6 - Log</vt:lpstr>
      <vt:lpstr>Week 6 - Feedback</vt:lpstr>
      <vt:lpstr>Week 7 - Log</vt:lpstr>
      <vt:lpstr>Week 7 - Feedback</vt:lpstr>
      <vt:lpstr>Week 8 - Log</vt:lpstr>
      <vt:lpstr>Week 8 - Feedback</vt:lpstr>
      <vt:lpstr>Section C</vt:lpstr>
      <vt:lpstr>ILO 0.1</vt:lpstr>
      <vt:lpstr>ILO 0</vt:lpstr>
      <vt:lpstr>ILO 0.2</vt:lpstr>
      <vt:lpstr>ILO 0</vt:lpstr>
      <vt:lpstr>ILO 1</vt:lpstr>
      <vt:lpstr>ILO 1</vt:lpstr>
      <vt:lpstr>ILO 2</vt:lpstr>
      <vt:lpstr>ILO 2</vt:lpstr>
      <vt:lpstr>ILO 3</vt:lpstr>
      <vt:lpstr>ILO 3</vt:lpstr>
      <vt:lpstr>ILO 7</vt:lpstr>
      <vt:lpstr>ILO 7</vt:lpstr>
      <vt:lpstr>ILO 10</vt:lpstr>
      <vt:lpstr>ILO 10</vt:lpstr>
      <vt:lpstr>Medal Challenges</vt:lpstr>
      <vt:lpstr>1/1</vt:lpstr>
      <vt:lpstr>Section D</vt:lpstr>
      <vt:lpstr>What did I achieve this block?</vt:lpstr>
      <vt:lpstr>How well am I progressing?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«studentname» «studentid» «studentacademicproject»</dc:title>
  <cp:lastModifiedBy>Elavendan Rajendran</cp:lastModifiedBy>
  <cp:revision>4</cp:revision>
  <dcterms:modified xsi:type="dcterms:W3CDTF">2025-01-17T10:20:07Z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0x0101000BADAD4AA324BF48804EF76FD903323C</vt:lpwstr>
  </property>
  <property fmtid="{D5CDD505-2E9C-101B-9397-08002B2CF9AE}" pid="3" name="MediaServiceImageTags">
    <vt:lpwstr/>
  </property>
</Properties>
</file>