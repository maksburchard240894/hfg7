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8" r:id="rId4"/>
  </p:sldMasterIdLst>
  <p:notesMasterIdLst>
    <p:notesMasterId r:id="rId49"/>
  </p:notesMasterIdLst>
  <p:sldIdLst>
    <p:sldId id="256" r:id="rId5"/>
    <p:sldId id="257" r:id="rId6"/>
    <p:sldId id="258" r:id="rId7"/>
    <p:sldId id="263" r:id="rId8"/>
    <p:sldId id="260" r:id="rId9"/>
    <p:sldId id="261" r:id="rId10"/>
    <p:sldId id="262" r:id="rId11"/>
    <p:sldId id="305" r:id="rId12"/>
    <p:sldId id="264" r:id="rId13"/>
    <p:sldId id="265" r:id="rId14"/>
    <p:sldId id="268" r:id="rId15"/>
    <p:sldId id="269" r:id="rId16"/>
    <p:sldId id="270" r:id="rId17"/>
    <p:sldId id="271" r:id="rId18"/>
    <p:sldId id="324" r:id="rId19"/>
    <p:sldId id="325" r:id="rId20"/>
    <p:sldId id="308" r:id="rId21"/>
    <p:sldId id="326" r:id="rId22"/>
    <p:sldId id="327" r:id="rId23"/>
    <p:sldId id="311" r:id="rId24"/>
    <p:sldId id="328" r:id="rId25"/>
    <p:sldId id="329" r:id="rId26"/>
    <p:sldId id="331" r:id="rId27"/>
    <p:sldId id="332" r:id="rId28"/>
    <p:sldId id="282" r:id="rId29"/>
    <p:sldId id="283" r:id="rId30"/>
    <p:sldId id="343" r:id="rId31"/>
    <p:sldId id="345" r:id="rId32"/>
    <p:sldId id="352" r:id="rId33"/>
    <p:sldId id="346" r:id="rId34"/>
    <p:sldId id="353" r:id="rId35"/>
    <p:sldId id="347" r:id="rId36"/>
    <p:sldId id="354" r:id="rId37"/>
    <p:sldId id="348" r:id="rId38"/>
    <p:sldId id="355" r:id="rId39"/>
    <p:sldId id="360" r:id="rId40"/>
    <p:sldId id="359" r:id="rId41"/>
    <p:sldId id="350" r:id="rId42"/>
    <p:sldId id="357" r:id="rId43"/>
    <p:sldId id="333" r:id="rId44"/>
    <p:sldId id="334" r:id="rId45"/>
    <p:sldId id="296" r:id="rId46"/>
    <p:sldId id="297" r:id="rId47"/>
    <p:sldId id="298" r:id="rId48"/>
  </p:sldIdLst>
  <p:sldSz cx="9144000" cy="5143500" type="screen16x9"/>
  <p:notesSz cx="6858000" cy="9144000"/>
  <p:embeddedFontLst>
    <p:embeddedFont>
      <p:font typeface="Helvetica Neue" panose="020B0604020202020204" charset="0"/>
      <p:regular r:id="rId50"/>
      <p:bold r:id="rId51"/>
      <p:italic r:id="rId52"/>
      <p:boldItalic r:id="rId53"/>
    </p:embeddedFont>
    <p:embeddedFont>
      <p:font typeface="Open Sans" panose="020B0606030504020204" pitchFamily="34" charset="0"/>
      <p:regular r:id="rId54"/>
      <p:bold r:id="rId55"/>
      <p:italic r:id="rId56"/>
      <p:boldItalic r:id="rId57"/>
    </p:embeddedFont>
    <p:embeddedFont>
      <p:font typeface="Proxima Nova" panose="020B0604020202020204" charset="0"/>
      <p:regular r:id="rId58"/>
      <p:bold r:id="rId59"/>
      <p:italic r:id="rId60"/>
      <p:boldItalic r:id="rId61"/>
    </p:embeddedFont>
    <p:embeddedFont>
      <p:font typeface="Roboto" panose="02000000000000000000" pitchFamily="2" charset="0"/>
      <p:regular r:id="rId62"/>
      <p:bold r:id="rId63"/>
      <p:italic r:id="rId64"/>
      <p:boldItalic r:id="rId65"/>
    </p:embeddedFont>
    <p:embeddedFont>
      <p:font typeface="Roboto Light" panose="02000000000000000000" pitchFamily="2" charset="0"/>
      <p:regular r:id="rId66"/>
      <p:italic r:id="rId67"/>
    </p:embeddedFont>
    <p:embeddedFont>
      <p:font typeface="Roboto Thin" panose="02000000000000000000" pitchFamily="2" charset="0"/>
      <p:regular r:id="rId68"/>
      <p:italic r:id="rId6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3F07B12-FAE0-28AD-E538-EEDF72EBCEF7}" name="Noyan, Alican" initials="NA" userId="S::noyan.a@buas.nl::f2106684-872a-4b1d-b983-18c991c4133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iswas, Abhishek" initials="BA" lastIdx="1" clrIdx="0">
    <p:extLst>
      <p:ext uri="{19B8F6BF-5375-455C-9EA6-DF929625EA0E}">
        <p15:presenceInfo xmlns:p15="http://schemas.microsoft.com/office/powerpoint/2012/main" userId="S::biswas.a@buas.nl::fb8d240a-d551-4b24-ab9a-9862bbc79dd8" providerId="AD"/>
      </p:ext>
    </p:extLst>
  </p:cmAuthor>
  <p:cmAuthor id="2" name="Noyan, Alican" initials="NA" lastIdx="3" clrIdx="1">
    <p:extLst>
      <p:ext uri="{19B8F6BF-5375-455C-9EA6-DF929625EA0E}">
        <p15:presenceInfo xmlns:p15="http://schemas.microsoft.com/office/powerpoint/2012/main" userId="S::noyan.a@buas.nl::f2106684-872a-4b1d-b983-18c991c41330" providerId="AD"/>
      </p:ext>
    </p:extLst>
  </p:cmAuthor>
  <p:cmAuthor id="3" name="Heijligers, Bram" initials="HB" lastIdx="3" clrIdx="2">
    <p:extLst>
      <p:ext uri="{19B8F6BF-5375-455C-9EA6-DF929625EA0E}">
        <p15:presenceInfo xmlns:p15="http://schemas.microsoft.com/office/powerpoint/2012/main" userId="S::heijligers.b@buas.nl::5cef929d-ecf9-4fca-bf12-bc5ee065fc9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CC"/>
    <a:srgbClr val="00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DE4B18-C8E5-9083-0879-DA16C72BA878}" v="6" dt="2024-11-19T09:26:58.345"/>
    <p1510:client id="{925896CF-2934-AE40-9346-8DAA55A656D1}" v="12" dt="2024-11-19T04:15:32.799"/>
    <p1510:client id="{A7FBBC6F-7762-5F33-BE83-DB69F7694010}" v="148" dt="2024-11-19T08:19:17.950"/>
    <p1510:client id="{CD9E5212-1E66-6ED2-C9A9-E0B7D2519126}" v="883" dt="2024-11-18T15:45:56.763"/>
    <p1510:client id="{E4169D13-82C7-3490-4C71-8AEE22B0DBE0}" v="62" dt="2024-11-19T08:15:02.372"/>
  </p1510:revLst>
</p1510:revInfo>
</file>

<file path=ppt/tableStyles.xml><?xml version="1.0" encoding="utf-8"?>
<a:tblStyleLst xmlns:a="http://schemas.openxmlformats.org/drawingml/2006/main" def="{764D4AE7-FFBC-431D-9275-528F30A785D3}">
  <a:tblStyle styleId="{764D4AE7-FFBC-431D-9275-528F30A785D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802" y="6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14.fntdata"/><Relationship Id="rId68" Type="http://schemas.openxmlformats.org/officeDocument/2006/relationships/font" Target="fonts/font19.fntdata"/><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font" Target="fonts/font17.fntdata"/><Relationship Id="rId74"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font" Target="fonts/font12.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font" Target="fonts/font7.fntdata"/><Relationship Id="rId64" Type="http://schemas.openxmlformats.org/officeDocument/2006/relationships/font" Target="fonts/font15.fntdata"/><Relationship Id="rId69" Type="http://schemas.openxmlformats.org/officeDocument/2006/relationships/font" Target="fonts/font20.fntdata"/><Relationship Id="rId8" Type="http://schemas.openxmlformats.org/officeDocument/2006/relationships/slide" Target="slides/slide4.xml"/><Relationship Id="rId51" Type="http://schemas.openxmlformats.org/officeDocument/2006/relationships/font" Target="fonts/font2.fntdata"/><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10.fntdata"/><Relationship Id="rId67" Type="http://schemas.openxmlformats.org/officeDocument/2006/relationships/font" Target="fonts/font18.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5.fntdata"/><Relationship Id="rId62" Type="http://schemas.openxmlformats.org/officeDocument/2006/relationships/font" Target="fonts/font13.fntdata"/><Relationship Id="rId70" Type="http://schemas.openxmlformats.org/officeDocument/2006/relationships/commentAuthors" Target="commentAuthors.xml"/><Relationship Id="rId75"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 Id="rId57" Type="http://schemas.openxmlformats.org/officeDocument/2006/relationships/font" Target="fonts/font8.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font" Target="fonts/font16.fntdata"/><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font" Target="fonts/font1.fntdata"/><Relationship Id="rId55" Type="http://schemas.openxmlformats.org/officeDocument/2006/relationships/font" Target="fonts/font6.fntdata"/><Relationship Id="rId76" Type="http://schemas.microsoft.com/office/2018/10/relationships/authors" Target="authors.xml"/><Relationship Id="rId7" Type="http://schemas.openxmlformats.org/officeDocument/2006/relationships/slide" Target="slides/slide3.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6b4f495656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6b4f495656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6b4f495656_0_6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6b4f495656_0_6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6b4f495656_0_6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6b4f495656_0_6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6b4f495656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6b4f495656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UPDATED EVERY WEEK</a:t>
            </a:r>
            <a:endParaRPr/>
          </a:p>
          <a:p>
            <a:pPr marL="0" lvl="0" indent="0" algn="l" rtl="0">
              <a:spcBef>
                <a:spcPts val="0"/>
              </a:spcBef>
              <a:spcAft>
                <a:spcPts val="0"/>
              </a:spcAft>
              <a:buNone/>
            </a:pPr>
            <a:r>
              <a:rPr lang="en"/>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a:p>
          <a:p>
            <a:pPr marL="0" lvl="0" indent="0" algn="l" rtl="0">
              <a:spcBef>
                <a:spcPts val="0"/>
              </a:spcBef>
              <a:spcAft>
                <a:spcPts val="0"/>
              </a:spcAft>
              <a:buNone/>
            </a:pPr>
            <a:r>
              <a:rPr lang="en"/>
              <a:t>In such cases, you simply need to provide links to those artifacts and may include any explanatory comment or reflection you feel is appropriate. </a:t>
            </a:r>
            <a:endParaRPr/>
          </a:p>
          <a:p>
            <a:pPr marL="0" lvl="0" indent="0" algn="l" rtl="0">
              <a:spcBef>
                <a:spcPts val="0"/>
              </a:spcBef>
              <a:spcAft>
                <a:spcPts val="0"/>
              </a:spcAft>
              <a:buNone/>
            </a:pPr>
            <a:r>
              <a:rPr lang="en"/>
              <a:t>(Some reflection is almost always a good idea as it provides the foundation for Section C.)</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6b602ea5a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6b602ea5a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Copy and paste the feedback from the previous block’s assessment into the text box.</a:t>
            </a:r>
            <a:endParaRPr dirty="0"/>
          </a:p>
          <a:p>
            <a:pPr marL="0" lvl="0" indent="0" algn="l" rtl="0">
              <a:spcBef>
                <a:spcPts val="0"/>
              </a:spcBef>
              <a:spcAft>
                <a:spcPts val="0"/>
              </a:spcAft>
              <a:buNone/>
            </a:pPr>
            <a:r>
              <a:rPr lang="en" dirty="0"/>
              <a:t>Copy and paste the bullet points you listed on the “Lessons Learned” page in section C of your last block’s log.</a:t>
            </a:r>
            <a:endParaRPr dirty="0"/>
          </a:p>
          <a:p>
            <a:pPr marL="0" lvl="0" indent="0" algn="l" rtl="0">
              <a:spcBef>
                <a:spcPts val="0"/>
              </a:spcBef>
              <a:spcAft>
                <a:spcPts val="0"/>
              </a:spcAft>
              <a:buNone/>
            </a:pPr>
            <a:r>
              <a:rPr lang="en" dirty="0"/>
              <a:t>Compare the grade you gave yourself with the grade you received, and reevaluate or restate your feeling on your current level of progress.</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6b602ea5a7_1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6b602ea5a7_1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Copy and paste the feedback from the previous block’s assessment into the text box.</a:t>
            </a:r>
            <a:endParaRPr dirty="0"/>
          </a:p>
          <a:p>
            <a:pPr marL="0" lvl="0" indent="0" algn="l" rtl="0">
              <a:spcBef>
                <a:spcPts val="0"/>
              </a:spcBef>
              <a:spcAft>
                <a:spcPts val="0"/>
              </a:spcAft>
              <a:buNone/>
            </a:pPr>
            <a:r>
              <a:rPr lang="en" dirty="0"/>
              <a:t>Copy and paste the bullet points you listed on the “Lessons Learned” page in section C of your last block’s log.</a:t>
            </a:r>
            <a:endParaRPr dirty="0"/>
          </a:p>
          <a:p>
            <a:pPr marL="0" lvl="0" indent="0" algn="l" rtl="0">
              <a:spcBef>
                <a:spcPts val="0"/>
              </a:spcBef>
              <a:spcAft>
                <a:spcPts val="0"/>
              </a:spcAft>
              <a:buNone/>
            </a:pPr>
            <a:r>
              <a:rPr lang="en" dirty="0"/>
              <a:t>Compare the grade you gave yourself with the grade you received, and reevaluate or restate your feeling on your current level of progress.</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6b602ea5a7_1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6b602ea5a7_1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Describe your goals for this block using the SMARTER method. Make sure they are clear, relevant, have a measurable outcome, and can be recorded. Consider how well do they align with the role(s) you wish to take, and with the requirements given in the project brief. Think about the objectives you plan to choose, or that are mandated by the project. Are there any competencies that you need to focus 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For each goal, find concrete examples of tasks you expect to undertake that will demonstrate this within the project for the block. Make sure the plan has an outcome that can be tracked and assessed. Make sure you have a clearly stated target for each goal. If you are unsure of how to demonstrate something, ask for help from your teachers.</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6b4f495656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6b4f495656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UPDATED EVERY WEEK</a:t>
            </a:r>
            <a:endParaRPr/>
          </a:p>
          <a:p>
            <a:pPr marL="0" lvl="0" indent="0" algn="l" rtl="0">
              <a:spcBef>
                <a:spcPts val="0"/>
              </a:spcBef>
              <a:spcAft>
                <a:spcPts val="0"/>
              </a:spcAft>
              <a:buNone/>
            </a:pPr>
            <a:r>
              <a:rPr lang="en"/>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a:p>
          <a:p>
            <a:pPr marL="0" lvl="0" indent="0" algn="l" rtl="0">
              <a:spcBef>
                <a:spcPts val="0"/>
              </a:spcBef>
              <a:spcAft>
                <a:spcPts val="0"/>
              </a:spcAft>
              <a:buNone/>
            </a:pPr>
            <a:r>
              <a:rPr lang="en"/>
              <a:t>In such cases, you simply need to provide links to those artifacts and may include any explanatory comment or reflection you feel is appropriate. </a:t>
            </a:r>
            <a:endParaRPr/>
          </a:p>
          <a:p>
            <a:pPr marL="0" lvl="0" indent="0" algn="l" rtl="0">
              <a:spcBef>
                <a:spcPts val="0"/>
              </a:spcBef>
              <a:spcAft>
                <a:spcPts val="0"/>
              </a:spcAft>
              <a:buNone/>
            </a:pPr>
            <a:r>
              <a:rPr lang="en"/>
              <a:t>(Some reflection is almost always a good idea as it provides the foundation for Section C.)</a:t>
            </a:r>
            <a:endParaRPr/>
          </a:p>
        </p:txBody>
      </p:sp>
    </p:spTree>
    <p:extLst>
      <p:ext uri="{BB962C8B-B14F-4D97-AF65-F5344CB8AC3E}">
        <p14:creationId xmlns:p14="http://schemas.microsoft.com/office/powerpoint/2010/main" val="326737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75e44ff1a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75e44ff1a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6b602ea5a7_1_5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6b602ea5a7_1_5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83444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77827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82411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7772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39993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5870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93011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52333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60816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23156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6b4f495656_0_6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6b4f495656_0_6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COMPLETED IN WEEK 8, BUT SHOULD BE UPDATED REGULARLY</a:t>
            </a:r>
            <a:endParaRPr/>
          </a:p>
          <a:p>
            <a:pPr marL="0" lvl="0" indent="0" algn="l" rtl="0">
              <a:spcBef>
                <a:spcPts val="0"/>
              </a:spcBef>
              <a:spcAft>
                <a:spcPts val="0"/>
              </a:spcAft>
              <a:buNone/>
            </a:pPr>
            <a:r>
              <a:rPr lang="en"/>
              <a:t>This is where you link your evidence to each of the Intended Learning Outcomes of this block.</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67210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38435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24284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1638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23348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94239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36045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76626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12843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42176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15746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98919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95789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6b4f495656_0_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6b4f495656_0_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76480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6b602ea5a7_1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6b602ea5a7_1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02684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6b4f495656_0_7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6b4f495656_0_7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COMPLETED IN WEEK 8</a:t>
            </a:r>
            <a:endParaRPr/>
          </a:p>
          <a:p>
            <a:pPr marL="0" lvl="0" indent="0" algn="l" rtl="0">
              <a:spcBef>
                <a:spcPts val="0"/>
              </a:spcBef>
              <a:spcAft>
                <a:spcPts val="0"/>
              </a:spcAft>
              <a:buNone/>
            </a:pPr>
            <a:r>
              <a:rPr lang="en"/>
              <a:t>Summative reflection on your progress during the block including a critical assessment of everything you did and learned during the block. This is a comprehensive review of everything recorded in Section B, evaluated against the goals and planning laid out in Section A.</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6b602ea5a7_1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6b602ea5a7_1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6b602ea5a7_1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6b602ea5a7_1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_1">
    <p:bg>
      <p:bgPr>
        <a:solidFill>
          <a:srgbClr val="EC781C"/>
        </a:solidFill>
        <a:effectLst/>
      </p:bgPr>
    </p:bg>
    <p:spTree>
      <p:nvGrpSpPr>
        <p:cNvPr id="1" name="Shape 9"/>
        <p:cNvGrpSpPr/>
        <p:nvPr/>
      </p:nvGrpSpPr>
      <p:grpSpPr>
        <a:xfrm>
          <a:off x="0" y="0"/>
          <a:ext cx="0" cy="0"/>
          <a:chOff x="0" y="0"/>
          <a:chExt cx="0" cy="0"/>
        </a:xfrm>
      </p:grpSpPr>
      <p:sp>
        <p:nvSpPr>
          <p:cNvPr id="10" name="Google Shape;10;p2"/>
          <p:cNvSpPr/>
          <p:nvPr/>
        </p:nvSpPr>
        <p:spPr>
          <a:xfrm>
            <a:off x="3109025" y="-1200"/>
            <a:ext cx="6035100" cy="51462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0" y="4363525"/>
            <a:ext cx="9144000" cy="7773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657600" y="548650"/>
            <a:ext cx="4937700" cy="3264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1800"/>
              <a:buNone/>
              <a:defRPr sz="1800">
                <a:solidFill>
                  <a:srgbClr val="FFFFFF"/>
                </a:solidFill>
              </a:defRPr>
            </a:lvl1pPr>
            <a:lvl2pPr lvl="1" algn="ctr" rtl="0">
              <a:spcBef>
                <a:spcPts val="0"/>
              </a:spcBef>
              <a:spcAft>
                <a:spcPts val="0"/>
              </a:spcAft>
              <a:buClr>
                <a:srgbClr val="FFFFFF"/>
              </a:buClr>
              <a:buSzPts val="3600"/>
              <a:buNone/>
              <a:defRPr sz="3600">
                <a:solidFill>
                  <a:srgbClr val="FFFFFF"/>
                </a:solidFill>
              </a:defRPr>
            </a:lvl2pPr>
            <a:lvl3pPr lvl="2" algn="ctr" rtl="0">
              <a:spcBef>
                <a:spcPts val="0"/>
              </a:spcBef>
              <a:spcAft>
                <a:spcPts val="0"/>
              </a:spcAft>
              <a:buClr>
                <a:srgbClr val="FFFFFF"/>
              </a:buClr>
              <a:buSzPts val="3600"/>
              <a:buNone/>
              <a:defRPr sz="3600">
                <a:solidFill>
                  <a:srgbClr val="FFFFFF"/>
                </a:solidFill>
              </a:defRPr>
            </a:lvl3pPr>
            <a:lvl4pPr lvl="3" algn="ctr" rtl="0">
              <a:spcBef>
                <a:spcPts val="0"/>
              </a:spcBef>
              <a:spcAft>
                <a:spcPts val="0"/>
              </a:spcAft>
              <a:buClr>
                <a:srgbClr val="FFFFFF"/>
              </a:buClr>
              <a:buSzPts val="3600"/>
              <a:buNone/>
              <a:defRPr sz="3600">
                <a:solidFill>
                  <a:srgbClr val="FFFFFF"/>
                </a:solidFill>
              </a:defRPr>
            </a:lvl4pPr>
            <a:lvl5pPr lvl="4" algn="ctr" rtl="0">
              <a:spcBef>
                <a:spcPts val="0"/>
              </a:spcBef>
              <a:spcAft>
                <a:spcPts val="0"/>
              </a:spcAft>
              <a:buClr>
                <a:srgbClr val="FFFFFF"/>
              </a:buClr>
              <a:buSzPts val="3600"/>
              <a:buNone/>
              <a:defRPr sz="3600">
                <a:solidFill>
                  <a:srgbClr val="FFFFFF"/>
                </a:solidFill>
              </a:defRPr>
            </a:lvl5pPr>
            <a:lvl6pPr lvl="5" algn="ctr" rtl="0">
              <a:spcBef>
                <a:spcPts val="0"/>
              </a:spcBef>
              <a:spcAft>
                <a:spcPts val="0"/>
              </a:spcAft>
              <a:buClr>
                <a:srgbClr val="FFFFFF"/>
              </a:buClr>
              <a:buSzPts val="3600"/>
              <a:buNone/>
              <a:defRPr sz="3600">
                <a:solidFill>
                  <a:srgbClr val="FFFFFF"/>
                </a:solidFill>
              </a:defRPr>
            </a:lvl6pPr>
            <a:lvl7pPr lvl="6" algn="ctr" rtl="0">
              <a:spcBef>
                <a:spcPts val="0"/>
              </a:spcBef>
              <a:spcAft>
                <a:spcPts val="0"/>
              </a:spcAft>
              <a:buClr>
                <a:srgbClr val="FFFFFF"/>
              </a:buClr>
              <a:buSzPts val="3600"/>
              <a:buNone/>
              <a:defRPr sz="3600">
                <a:solidFill>
                  <a:srgbClr val="FFFFFF"/>
                </a:solidFill>
              </a:defRPr>
            </a:lvl7pPr>
            <a:lvl8pPr lvl="7" algn="ctr" rtl="0">
              <a:spcBef>
                <a:spcPts val="0"/>
              </a:spcBef>
              <a:spcAft>
                <a:spcPts val="0"/>
              </a:spcAft>
              <a:buClr>
                <a:srgbClr val="FFFFFF"/>
              </a:buClr>
              <a:buSzPts val="3600"/>
              <a:buNone/>
              <a:defRPr sz="3600">
                <a:solidFill>
                  <a:srgbClr val="FFFFFF"/>
                </a:solidFill>
              </a:defRPr>
            </a:lvl8pPr>
            <a:lvl9pPr lvl="8" algn="ctr" rtl="0">
              <a:spcBef>
                <a:spcPts val="0"/>
              </a:spcBef>
              <a:spcAft>
                <a:spcPts val="0"/>
              </a:spcAft>
              <a:buClr>
                <a:srgbClr val="FFFFFF"/>
              </a:buClr>
              <a:buSzPts val="3600"/>
              <a:buNone/>
              <a:defRPr sz="3600">
                <a:solidFill>
                  <a:srgbClr val="FFFFFF"/>
                </a:solidFill>
              </a:defRPr>
            </a:lvl9pPr>
          </a:lstStyle>
          <a:p>
            <a:endParaRPr/>
          </a:p>
        </p:txBody>
      </p:sp>
      <p:sp>
        <p:nvSpPr>
          <p:cNvPr id="13" name="Google Shape;13;p2"/>
          <p:cNvSpPr txBox="1">
            <a:spLocks noGrp="1"/>
          </p:cNvSpPr>
          <p:nvPr>
            <p:ph type="subTitle" idx="1"/>
          </p:nvPr>
        </p:nvSpPr>
        <p:spPr>
          <a:xfrm>
            <a:off x="548650" y="548650"/>
            <a:ext cx="2011800" cy="326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800"/>
              <a:buNone/>
              <a:defRPr sz="1800">
                <a:solidFill>
                  <a:srgbClr val="FFFFFF"/>
                </a:solidFill>
              </a:defRPr>
            </a:lvl1pPr>
            <a:lvl2pPr lvl="1" algn="ctr" rtl="0">
              <a:lnSpc>
                <a:spcPct val="100000"/>
              </a:lnSpc>
              <a:spcBef>
                <a:spcPts val="0"/>
              </a:spcBef>
              <a:spcAft>
                <a:spcPts val="0"/>
              </a:spcAft>
              <a:buClr>
                <a:srgbClr val="FFFFFF"/>
              </a:buClr>
              <a:buSzPts val="3000"/>
              <a:buNone/>
              <a:defRPr sz="3000">
                <a:solidFill>
                  <a:srgbClr val="FFFFFF"/>
                </a:solidFill>
              </a:defRPr>
            </a:lvl2pPr>
            <a:lvl3pPr lvl="2" algn="ctr" rtl="0">
              <a:lnSpc>
                <a:spcPct val="100000"/>
              </a:lnSpc>
              <a:spcBef>
                <a:spcPts val="0"/>
              </a:spcBef>
              <a:spcAft>
                <a:spcPts val="0"/>
              </a:spcAft>
              <a:buClr>
                <a:srgbClr val="FFFFFF"/>
              </a:buClr>
              <a:buSzPts val="3000"/>
              <a:buNone/>
              <a:defRPr sz="3000">
                <a:solidFill>
                  <a:srgbClr val="FFFFFF"/>
                </a:solidFill>
              </a:defRPr>
            </a:lvl3pPr>
            <a:lvl4pPr lvl="3" algn="ctr" rtl="0">
              <a:lnSpc>
                <a:spcPct val="100000"/>
              </a:lnSpc>
              <a:spcBef>
                <a:spcPts val="0"/>
              </a:spcBef>
              <a:spcAft>
                <a:spcPts val="0"/>
              </a:spcAft>
              <a:buClr>
                <a:srgbClr val="FFFFFF"/>
              </a:buClr>
              <a:buSzPts val="3000"/>
              <a:buNone/>
              <a:defRPr sz="3000">
                <a:solidFill>
                  <a:srgbClr val="FFFFFF"/>
                </a:solidFill>
              </a:defRPr>
            </a:lvl4pPr>
            <a:lvl5pPr lvl="4" algn="ctr" rtl="0">
              <a:lnSpc>
                <a:spcPct val="100000"/>
              </a:lnSpc>
              <a:spcBef>
                <a:spcPts val="0"/>
              </a:spcBef>
              <a:spcAft>
                <a:spcPts val="0"/>
              </a:spcAft>
              <a:buClr>
                <a:srgbClr val="FFFFFF"/>
              </a:buClr>
              <a:buSzPts val="3000"/>
              <a:buNone/>
              <a:defRPr sz="3000">
                <a:solidFill>
                  <a:srgbClr val="FFFFFF"/>
                </a:solidFill>
              </a:defRPr>
            </a:lvl5pPr>
            <a:lvl6pPr lvl="5" algn="ctr" rtl="0">
              <a:lnSpc>
                <a:spcPct val="100000"/>
              </a:lnSpc>
              <a:spcBef>
                <a:spcPts val="0"/>
              </a:spcBef>
              <a:spcAft>
                <a:spcPts val="0"/>
              </a:spcAft>
              <a:buClr>
                <a:srgbClr val="FFFFFF"/>
              </a:buClr>
              <a:buSzPts val="3000"/>
              <a:buNone/>
              <a:defRPr sz="3000">
                <a:solidFill>
                  <a:srgbClr val="FFFFFF"/>
                </a:solidFill>
              </a:defRPr>
            </a:lvl6pPr>
            <a:lvl7pPr lvl="6" algn="ctr" rtl="0">
              <a:lnSpc>
                <a:spcPct val="100000"/>
              </a:lnSpc>
              <a:spcBef>
                <a:spcPts val="0"/>
              </a:spcBef>
              <a:spcAft>
                <a:spcPts val="0"/>
              </a:spcAft>
              <a:buClr>
                <a:srgbClr val="FFFFFF"/>
              </a:buClr>
              <a:buSzPts val="3000"/>
              <a:buNone/>
              <a:defRPr sz="3000">
                <a:solidFill>
                  <a:srgbClr val="FFFFFF"/>
                </a:solidFill>
              </a:defRPr>
            </a:lvl7pPr>
            <a:lvl8pPr lvl="7" algn="ctr" rtl="0">
              <a:lnSpc>
                <a:spcPct val="100000"/>
              </a:lnSpc>
              <a:spcBef>
                <a:spcPts val="0"/>
              </a:spcBef>
              <a:spcAft>
                <a:spcPts val="0"/>
              </a:spcAft>
              <a:buClr>
                <a:srgbClr val="FFFFFF"/>
              </a:buClr>
              <a:buSzPts val="3000"/>
              <a:buNone/>
              <a:defRPr sz="3000">
                <a:solidFill>
                  <a:srgbClr val="FFFFFF"/>
                </a:solidFill>
              </a:defRPr>
            </a:lvl8pPr>
            <a:lvl9pPr lvl="8" algn="ctr" rtl="0">
              <a:lnSpc>
                <a:spcPct val="100000"/>
              </a:lnSpc>
              <a:spcBef>
                <a:spcPts val="0"/>
              </a:spcBef>
              <a:spcAft>
                <a:spcPts val="0"/>
              </a:spcAft>
              <a:buClr>
                <a:srgbClr val="FFFFFF"/>
              </a:buClr>
              <a:buSzPts val="3000"/>
              <a:buNone/>
              <a:defRPr sz="3000">
                <a:solidFill>
                  <a:srgbClr val="FFFFFF"/>
                </a:solidFill>
              </a:defRPr>
            </a:lvl9pPr>
          </a:lstStyle>
          <a:p>
            <a:endParaRPr/>
          </a:p>
        </p:txBody>
      </p:sp>
      <p:pic>
        <p:nvPicPr>
          <p:cNvPr id="14" name="Google Shape;14;p2"/>
          <p:cNvPicPr preferRelativeResize="0"/>
          <p:nvPr/>
        </p:nvPicPr>
        <p:blipFill>
          <a:blip r:embed="rId2">
            <a:alphaModFix/>
          </a:blip>
          <a:stretch>
            <a:fillRect/>
          </a:stretch>
        </p:blipFill>
        <p:spPr>
          <a:xfrm>
            <a:off x="164592" y="4523578"/>
            <a:ext cx="1329394" cy="457200"/>
          </a:xfrm>
          <a:prstGeom prst="rect">
            <a:avLst/>
          </a:prstGeom>
          <a:noFill/>
          <a:ln>
            <a:noFill/>
          </a:ln>
        </p:spPr>
      </p:pic>
      <p:graphicFrame>
        <p:nvGraphicFramePr>
          <p:cNvPr id="4" name="Table 3">
            <a:extLst>
              <a:ext uri="{FF2B5EF4-FFF2-40B4-BE49-F238E27FC236}">
                <a16:creationId xmlns:a16="http://schemas.microsoft.com/office/drawing/2014/main" id="{9C37A2C8-F053-CFA5-72C7-D1B7AFD043D0}"/>
              </a:ext>
            </a:extLst>
          </p:cNvPr>
          <p:cNvGraphicFramePr>
            <a:graphicFrameLocks noGrp="1"/>
          </p:cNvGraphicFramePr>
          <p:nvPr userDrawn="1">
            <p:extLst>
              <p:ext uri="{D42A27DB-BD31-4B8C-83A1-F6EECF244321}">
                <p14:modId xmlns:p14="http://schemas.microsoft.com/office/powerpoint/2010/main" val="251012479"/>
              </p:ext>
            </p:extLst>
          </p:nvPr>
        </p:nvGraphicFramePr>
        <p:xfrm>
          <a:off x="1845398" y="4454995"/>
          <a:ext cx="7094899" cy="594360"/>
        </p:xfrm>
        <a:graphic>
          <a:graphicData uri="http://schemas.openxmlformats.org/drawingml/2006/table">
            <a:tbl>
              <a:tblPr firstRow="1" bandRow="1">
                <a:tableStyleId>{764D4AE7-FFBC-431D-9275-528F30A785D3}</a:tableStyleId>
              </a:tblPr>
              <a:tblGrid>
                <a:gridCol w="1189355">
                  <a:extLst>
                    <a:ext uri="{9D8B030D-6E8A-4147-A177-3AD203B41FA5}">
                      <a16:colId xmlns:a16="http://schemas.microsoft.com/office/drawing/2014/main" val="828907917"/>
                    </a:ext>
                  </a:extLst>
                </a:gridCol>
                <a:gridCol w="5905544">
                  <a:extLst>
                    <a:ext uri="{9D8B030D-6E8A-4147-A177-3AD203B41FA5}">
                      <a16:colId xmlns:a16="http://schemas.microsoft.com/office/drawing/2014/main" val="682174830"/>
                    </a:ext>
                  </a:extLst>
                </a:gridCol>
              </a:tblGrid>
              <a:tr h="18542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700" b="1">
                          <a:solidFill>
                            <a:srgbClr val="999999"/>
                          </a:solidFill>
                          <a:latin typeface="Helvetica Neue"/>
                          <a:ea typeface="Helvetica Neue"/>
                          <a:cs typeface="Helvetica Neue"/>
                          <a:sym typeface="Helvetica Neue"/>
                        </a:rPr>
                        <a:t>Project Brief</a:t>
                      </a:r>
                      <a:r>
                        <a:rPr lang="en-NL" sz="700" b="1">
                          <a:solidFill>
                            <a:srgbClr val="999999"/>
                          </a:solidFill>
                          <a:latin typeface="Helvetica Neue"/>
                          <a:ea typeface="Helvetica Neue"/>
                          <a:cs typeface="Helvetica Neue"/>
                          <a:sym typeface="Helvetica Neue"/>
                        </a:rPr>
                        <a:t>:</a:t>
                      </a:r>
                      <a:r>
                        <a:rPr lang="en" sz="700" b="1">
                          <a:solidFill>
                            <a:srgbClr val="999999"/>
                          </a:solidFill>
                          <a:latin typeface="Helvetica Neue"/>
                          <a:ea typeface="Helvetica Neue"/>
                          <a:cs typeface="Helvetica Neue"/>
                          <a:sym typeface="Helvetica Neue"/>
                        </a:rPr>
                        <a:t> </a:t>
                      </a:r>
                      <a:endParaRPr lang="en-NL" sz="700" b="1">
                        <a:solidFill>
                          <a:srgbClr val="999999"/>
                        </a:solidFill>
                        <a:latin typeface="Helvetica Neue"/>
                        <a:ea typeface="Helvetica Neue"/>
                        <a:cs typeface="Helvetica Neue"/>
                        <a:sym typeface="Helvetica Neue"/>
                      </a:endParaRPr>
                    </a:p>
                  </a:txBody>
                  <a:tcPr/>
                </a:tc>
                <a:tc>
                  <a:txBody>
                    <a:bodyPr/>
                    <a:lstStyle/>
                    <a:p>
                      <a:endParaRPr lang="en-GB" sz="700"/>
                    </a:p>
                  </a:txBody>
                  <a:tcPr/>
                </a:tc>
                <a:extLst>
                  <a:ext uri="{0D108BD9-81ED-4DB2-BD59-A6C34878D82A}">
                    <a16:rowId xmlns:a16="http://schemas.microsoft.com/office/drawing/2014/main" val="1000607423"/>
                  </a:ext>
                </a:extLst>
              </a:tr>
              <a:tr h="18542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700" b="1">
                          <a:solidFill>
                            <a:srgbClr val="999999"/>
                          </a:solidFill>
                          <a:latin typeface="Helvetica Neue"/>
                          <a:ea typeface="Helvetica Neue"/>
                          <a:cs typeface="Helvetica Neue"/>
                          <a:sym typeface="Helvetica Neue"/>
                        </a:rPr>
                        <a:t>Assessment Assignment:</a:t>
                      </a:r>
                      <a:endParaRPr lang="en-US" sz="700" b="1">
                        <a:latin typeface="Helvetica Neue"/>
                        <a:ea typeface="Helvetica Neue"/>
                        <a:cs typeface="Helvetica Neue"/>
                        <a:sym typeface="Helvetica Neue"/>
                      </a:endParaRPr>
                    </a:p>
                  </a:txBody>
                  <a:tcPr/>
                </a:tc>
                <a:tc>
                  <a:txBody>
                    <a:bodyPr/>
                    <a:lstStyle/>
                    <a:p>
                      <a:endParaRPr lang="en-GB" sz="700"/>
                    </a:p>
                  </a:txBody>
                  <a:tcPr/>
                </a:tc>
                <a:extLst>
                  <a:ext uri="{0D108BD9-81ED-4DB2-BD59-A6C34878D82A}">
                    <a16:rowId xmlns:a16="http://schemas.microsoft.com/office/drawing/2014/main" val="1233139930"/>
                  </a:ext>
                </a:extLst>
              </a:tr>
              <a:tr h="185420">
                <a:tc>
                  <a:txBody>
                    <a:bodyPr/>
                    <a:lstStyle/>
                    <a:p>
                      <a:r>
                        <a:rPr lang="en-NL" sz="700" b="1">
                          <a:solidFill>
                            <a:srgbClr val="999999"/>
                          </a:solidFill>
                          <a:latin typeface="Helvetica Neue"/>
                          <a:ea typeface="Helvetica Neue"/>
                          <a:cs typeface="Helvetica Neue"/>
                          <a:sym typeface="Helvetica Neue"/>
                        </a:rPr>
                        <a:t>Student </a:t>
                      </a:r>
                      <a:r>
                        <a:rPr lang="en" sz="700" b="1">
                          <a:solidFill>
                            <a:srgbClr val="999999"/>
                          </a:solidFill>
                          <a:latin typeface="Helvetica Neue"/>
                          <a:ea typeface="Helvetica Neue"/>
                          <a:cs typeface="Helvetica Neue"/>
                          <a:sym typeface="Helvetica Neue"/>
                        </a:rPr>
                        <a:t>GitHub Folder: </a:t>
                      </a:r>
                      <a:endParaRPr lang="en-GB" sz="700"/>
                    </a:p>
                  </a:txBody>
                  <a:tcPr/>
                </a:tc>
                <a:tc>
                  <a:txBody>
                    <a:bodyPr/>
                    <a:lstStyle/>
                    <a:p>
                      <a:endParaRPr lang="en-GB" sz="700"/>
                    </a:p>
                  </a:txBody>
                  <a:tcPr/>
                </a:tc>
                <a:extLst>
                  <a:ext uri="{0D108BD9-81ED-4DB2-BD59-A6C34878D82A}">
                    <a16:rowId xmlns:a16="http://schemas.microsoft.com/office/drawing/2014/main" val="1618248095"/>
                  </a:ext>
                </a:extLst>
              </a:tr>
            </a:tbl>
          </a:graphicData>
        </a:graphic>
      </p:graphicFrame>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CUSTOM_1_2">
    <p:bg>
      <p:bgPr>
        <a:solidFill>
          <a:srgbClr val="666666"/>
        </a:solidFill>
        <a:effectLst/>
      </p:bgPr>
    </p:bg>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6000"/>
              <a:buFont typeface="Roboto Thin"/>
              <a:buNone/>
              <a:defRPr sz="6000" b="0">
                <a:solidFill>
                  <a:srgbClr val="FFFFFF"/>
                </a:solidFill>
                <a:latin typeface="Roboto Thin"/>
                <a:ea typeface="Roboto Thin"/>
                <a:cs typeface="Roboto Thin"/>
                <a:sym typeface="Roboto Thin"/>
              </a:defRPr>
            </a:lvl1pPr>
            <a:lvl2pPr lvl="1" algn="ctr" rtl="0">
              <a:spcBef>
                <a:spcPts val="0"/>
              </a:spcBef>
              <a:spcAft>
                <a:spcPts val="0"/>
              </a:spcAft>
              <a:buClr>
                <a:srgbClr val="FFFFFF"/>
              </a:buClr>
              <a:buSzPts val="3600"/>
              <a:buNone/>
              <a:defRPr sz="3600">
                <a:solidFill>
                  <a:srgbClr val="FFFFFF"/>
                </a:solidFill>
              </a:defRPr>
            </a:lvl2pPr>
            <a:lvl3pPr lvl="2" algn="ctr" rtl="0">
              <a:spcBef>
                <a:spcPts val="0"/>
              </a:spcBef>
              <a:spcAft>
                <a:spcPts val="0"/>
              </a:spcAft>
              <a:buClr>
                <a:srgbClr val="FFFFFF"/>
              </a:buClr>
              <a:buSzPts val="3600"/>
              <a:buNone/>
              <a:defRPr sz="3600">
                <a:solidFill>
                  <a:srgbClr val="FFFFFF"/>
                </a:solidFill>
              </a:defRPr>
            </a:lvl3pPr>
            <a:lvl4pPr lvl="3" algn="ctr" rtl="0">
              <a:spcBef>
                <a:spcPts val="0"/>
              </a:spcBef>
              <a:spcAft>
                <a:spcPts val="0"/>
              </a:spcAft>
              <a:buClr>
                <a:srgbClr val="FFFFFF"/>
              </a:buClr>
              <a:buSzPts val="3600"/>
              <a:buNone/>
              <a:defRPr sz="3600">
                <a:solidFill>
                  <a:srgbClr val="FFFFFF"/>
                </a:solidFill>
              </a:defRPr>
            </a:lvl4pPr>
            <a:lvl5pPr lvl="4" algn="ctr" rtl="0">
              <a:spcBef>
                <a:spcPts val="0"/>
              </a:spcBef>
              <a:spcAft>
                <a:spcPts val="0"/>
              </a:spcAft>
              <a:buClr>
                <a:srgbClr val="FFFFFF"/>
              </a:buClr>
              <a:buSzPts val="3600"/>
              <a:buNone/>
              <a:defRPr sz="3600">
                <a:solidFill>
                  <a:srgbClr val="FFFFFF"/>
                </a:solidFill>
              </a:defRPr>
            </a:lvl5pPr>
            <a:lvl6pPr lvl="5" algn="ctr" rtl="0">
              <a:spcBef>
                <a:spcPts val="0"/>
              </a:spcBef>
              <a:spcAft>
                <a:spcPts val="0"/>
              </a:spcAft>
              <a:buClr>
                <a:srgbClr val="FFFFFF"/>
              </a:buClr>
              <a:buSzPts val="3600"/>
              <a:buNone/>
              <a:defRPr sz="3600">
                <a:solidFill>
                  <a:srgbClr val="FFFFFF"/>
                </a:solidFill>
              </a:defRPr>
            </a:lvl6pPr>
            <a:lvl7pPr lvl="6" algn="ctr" rtl="0">
              <a:spcBef>
                <a:spcPts val="0"/>
              </a:spcBef>
              <a:spcAft>
                <a:spcPts val="0"/>
              </a:spcAft>
              <a:buClr>
                <a:srgbClr val="FFFFFF"/>
              </a:buClr>
              <a:buSzPts val="3600"/>
              <a:buNone/>
              <a:defRPr sz="3600">
                <a:solidFill>
                  <a:srgbClr val="FFFFFF"/>
                </a:solidFill>
              </a:defRPr>
            </a:lvl7pPr>
            <a:lvl8pPr lvl="7" algn="ctr" rtl="0">
              <a:spcBef>
                <a:spcPts val="0"/>
              </a:spcBef>
              <a:spcAft>
                <a:spcPts val="0"/>
              </a:spcAft>
              <a:buClr>
                <a:srgbClr val="FFFFFF"/>
              </a:buClr>
              <a:buSzPts val="3600"/>
              <a:buNone/>
              <a:defRPr sz="3600">
                <a:solidFill>
                  <a:srgbClr val="FFFFFF"/>
                </a:solidFill>
              </a:defRPr>
            </a:lvl8pPr>
            <a:lvl9pPr lvl="8" algn="ctr" rtl="0">
              <a:spcBef>
                <a:spcPts val="0"/>
              </a:spcBef>
              <a:spcAft>
                <a:spcPts val="0"/>
              </a:spcAft>
              <a:buClr>
                <a:srgbClr val="FFFFFF"/>
              </a:buClr>
              <a:buSzPts val="3600"/>
              <a:buNone/>
              <a:defRPr sz="3600">
                <a:solidFill>
                  <a:srgbClr val="FFFFFF"/>
                </a:solidFill>
              </a:defRPr>
            </a:lvl9pPr>
          </a:lstStyle>
          <a:p>
            <a:endParaRPr/>
          </a:p>
        </p:txBody>
      </p:sp>
      <p:sp>
        <p:nvSpPr>
          <p:cNvPr id="19" name="Google Shape;19;p3"/>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1pPr>
            <a:lvl2pPr lvl="1"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2pPr>
            <a:lvl3pPr lvl="2"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3pPr>
            <a:lvl4pPr lvl="3"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4pPr>
            <a:lvl5pPr lvl="4"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5pPr>
            <a:lvl6pPr lvl="5"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6pPr>
            <a:lvl7pPr lvl="6"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7pPr>
            <a:lvl8pPr lvl="7"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8pPr>
            <a:lvl9pPr lvl="8"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9pPr>
          </a:lstStyle>
          <a:p>
            <a:endParaRPr/>
          </a:p>
        </p:txBody>
      </p:sp>
      <p:sp>
        <p:nvSpPr>
          <p:cNvPr id="2" name="Rectangle 1">
            <a:extLst>
              <a:ext uri="{FF2B5EF4-FFF2-40B4-BE49-F238E27FC236}">
                <a16:creationId xmlns:a16="http://schemas.microsoft.com/office/drawing/2014/main" id="{ED2E902F-3793-054A-A49F-5F75EC799503}"/>
              </a:ext>
            </a:extLst>
          </p:cNvPr>
          <p:cNvSpPr/>
          <p:nvPr userDrawn="1"/>
        </p:nvSpPr>
        <p:spPr>
          <a:xfrm>
            <a:off x="0" y="4393870"/>
            <a:ext cx="9144000" cy="7496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oogle Shape;20;p3"/>
          <p:cNvPicPr preferRelativeResize="0"/>
          <p:nvPr/>
        </p:nvPicPr>
        <p:blipFill>
          <a:blip r:embed="rId2">
            <a:alphaModFix/>
          </a:blip>
          <a:stretch>
            <a:fillRect/>
          </a:stretch>
        </p:blipFill>
        <p:spPr>
          <a:xfrm>
            <a:off x="7214616" y="4434840"/>
            <a:ext cx="1691640" cy="58267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Sub-Header">
  <p:cSld name="CUSTOM_1_2_1">
    <p:bg>
      <p:bgPr>
        <a:solidFill>
          <a:srgbClr val="666666"/>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Font typeface="Roboto Thin"/>
              <a:buNone/>
              <a:defRPr sz="6000" b="0">
                <a:latin typeface="Roboto Thin"/>
                <a:ea typeface="Roboto Thin"/>
                <a:cs typeface="Roboto Thin"/>
                <a:sym typeface="Roboto Thin"/>
              </a:defRPr>
            </a:lvl1pPr>
            <a:lvl2pPr lvl="1" algn="ctr" rtl="0">
              <a:spcBef>
                <a:spcPts val="0"/>
              </a:spcBef>
              <a:spcAft>
                <a:spcPts val="0"/>
              </a:spcAft>
              <a:buClr>
                <a:srgbClr val="434343"/>
              </a:buClr>
              <a:buSzPts val="3600"/>
              <a:buNone/>
              <a:defRPr sz="3600">
                <a:solidFill>
                  <a:srgbClr val="434343"/>
                </a:solidFill>
              </a:defRPr>
            </a:lvl2pPr>
            <a:lvl3pPr lvl="2" algn="ctr" rtl="0">
              <a:spcBef>
                <a:spcPts val="0"/>
              </a:spcBef>
              <a:spcAft>
                <a:spcPts val="0"/>
              </a:spcAft>
              <a:buClr>
                <a:srgbClr val="434343"/>
              </a:buClr>
              <a:buSzPts val="3600"/>
              <a:buNone/>
              <a:defRPr sz="3600">
                <a:solidFill>
                  <a:srgbClr val="434343"/>
                </a:solidFill>
              </a:defRPr>
            </a:lvl3pPr>
            <a:lvl4pPr lvl="3" algn="ctr" rtl="0">
              <a:spcBef>
                <a:spcPts val="0"/>
              </a:spcBef>
              <a:spcAft>
                <a:spcPts val="0"/>
              </a:spcAft>
              <a:buClr>
                <a:srgbClr val="434343"/>
              </a:buClr>
              <a:buSzPts val="3600"/>
              <a:buNone/>
              <a:defRPr sz="3600">
                <a:solidFill>
                  <a:srgbClr val="434343"/>
                </a:solidFill>
              </a:defRPr>
            </a:lvl4pPr>
            <a:lvl5pPr lvl="4" algn="ctr" rtl="0">
              <a:spcBef>
                <a:spcPts val="0"/>
              </a:spcBef>
              <a:spcAft>
                <a:spcPts val="0"/>
              </a:spcAft>
              <a:buClr>
                <a:srgbClr val="434343"/>
              </a:buClr>
              <a:buSzPts val="3600"/>
              <a:buNone/>
              <a:defRPr sz="3600">
                <a:solidFill>
                  <a:srgbClr val="434343"/>
                </a:solidFill>
              </a:defRPr>
            </a:lvl5pPr>
            <a:lvl6pPr lvl="5" algn="ctr" rtl="0">
              <a:spcBef>
                <a:spcPts val="0"/>
              </a:spcBef>
              <a:spcAft>
                <a:spcPts val="0"/>
              </a:spcAft>
              <a:buClr>
                <a:srgbClr val="434343"/>
              </a:buClr>
              <a:buSzPts val="3600"/>
              <a:buNone/>
              <a:defRPr sz="3600">
                <a:solidFill>
                  <a:srgbClr val="434343"/>
                </a:solidFill>
              </a:defRPr>
            </a:lvl6pPr>
            <a:lvl7pPr lvl="6" algn="ctr" rtl="0">
              <a:spcBef>
                <a:spcPts val="0"/>
              </a:spcBef>
              <a:spcAft>
                <a:spcPts val="0"/>
              </a:spcAft>
              <a:buClr>
                <a:srgbClr val="434343"/>
              </a:buClr>
              <a:buSzPts val="3600"/>
              <a:buNone/>
              <a:defRPr sz="3600">
                <a:solidFill>
                  <a:srgbClr val="434343"/>
                </a:solidFill>
              </a:defRPr>
            </a:lvl7pPr>
            <a:lvl8pPr lvl="7" algn="ctr" rtl="0">
              <a:spcBef>
                <a:spcPts val="0"/>
              </a:spcBef>
              <a:spcAft>
                <a:spcPts val="0"/>
              </a:spcAft>
              <a:buClr>
                <a:srgbClr val="434343"/>
              </a:buClr>
              <a:buSzPts val="3600"/>
              <a:buNone/>
              <a:defRPr sz="3600">
                <a:solidFill>
                  <a:srgbClr val="434343"/>
                </a:solidFill>
              </a:defRPr>
            </a:lvl8pPr>
            <a:lvl9pPr lvl="8" algn="ctr" rtl="0">
              <a:spcBef>
                <a:spcPts val="0"/>
              </a:spcBef>
              <a:spcAft>
                <a:spcPts val="0"/>
              </a:spcAft>
              <a:buClr>
                <a:srgbClr val="434343"/>
              </a:buClr>
              <a:buSzPts val="3600"/>
              <a:buNone/>
              <a:defRPr sz="3600">
                <a:solidFill>
                  <a:srgbClr val="434343"/>
                </a:solidFill>
              </a:defRPr>
            </a:lvl9pPr>
          </a:lstStyle>
          <a:p>
            <a:endParaRPr/>
          </a:p>
        </p:txBody>
      </p:sp>
      <p:sp>
        <p:nvSpPr>
          <p:cNvPr id="23" name="Google Shape;23;p4"/>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1pPr>
            <a:lvl2pPr lvl="1"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2pPr>
            <a:lvl3pPr lvl="2"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3pPr>
            <a:lvl4pPr lvl="3"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4pPr>
            <a:lvl5pPr lvl="4"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5pPr>
            <a:lvl6pPr lvl="5"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6pPr>
            <a:lvl7pPr lvl="6"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7pPr>
            <a:lvl8pPr lvl="7"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8pPr>
            <a:lvl9pPr lvl="8"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9pPr>
          </a:lstStyle>
          <a:p>
            <a:endParaRPr/>
          </a:p>
        </p:txBody>
      </p:sp>
      <p:sp>
        <p:nvSpPr>
          <p:cNvPr id="24" name="Google Shape;24;p4"/>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Font typeface="Roboto Light"/>
              <a:buNone/>
              <a:defRPr>
                <a:latin typeface="Roboto Light"/>
                <a:ea typeface="Roboto Light"/>
                <a:cs typeface="Roboto Light"/>
                <a:sym typeface="Roboto Light"/>
              </a:defRPr>
            </a:lvl1pPr>
            <a:lvl2pPr lvl="1"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2pPr>
            <a:lvl3pPr lvl="2"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3pPr>
            <a:lvl4pPr lvl="3"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4pPr>
            <a:lvl5pPr lvl="4"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5pPr>
            <a:lvl6pPr lvl="5"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6pPr>
            <a:lvl7pPr lvl="6"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7pPr>
            <a:lvl8pPr lvl="7"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8pPr>
            <a:lvl9pPr lvl="8"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9pPr>
          </a:lstStyle>
          <a:p>
            <a:endParaRPr/>
          </a:p>
        </p:txBody>
      </p:sp>
      <p:sp>
        <p:nvSpPr>
          <p:cNvPr id="25" name="Google Shape;25;p4"/>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40000">
              <a:solidFill>
                <a:srgbClr val="B7B7B7"/>
              </a:solidFill>
              <a:latin typeface="Roboto"/>
              <a:ea typeface="Roboto"/>
              <a:cs typeface="Roboto"/>
              <a:sym typeface="Robo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p:cSld name="CUSTOM_2_4">
    <p:spTree>
      <p:nvGrpSpPr>
        <p:cNvPr id="1" name="Shape 26"/>
        <p:cNvGrpSpPr/>
        <p:nvPr/>
      </p:nvGrpSpPr>
      <p:grpSpPr>
        <a:xfrm>
          <a:off x="0" y="0"/>
          <a:ext cx="0" cy="0"/>
          <a:chOff x="0" y="0"/>
          <a:chExt cx="0" cy="0"/>
        </a:xfrm>
      </p:grpSpPr>
      <p:sp>
        <p:nvSpPr>
          <p:cNvPr id="27" name="Google Shape;27;p5"/>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29" name="Google Shape;29;p5"/>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0" name="Google Shape;30;p5"/>
          <p:cNvSpPr txBox="1">
            <a:spLocks noGrp="1"/>
          </p:cNvSpPr>
          <p:nvPr>
            <p:ph type="subTitle" idx="1"/>
          </p:nvPr>
        </p:nvSpPr>
        <p:spPr>
          <a:xfrm>
            <a:off x="182880" y="667512"/>
            <a:ext cx="5486400" cy="402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31" name="Google Shape;31;p5"/>
          <p:cNvSpPr txBox="1">
            <a:spLocks noGrp="1"/>
          </p:cNvSpPr>
          <p:nvPr>
            <p:ph type="body" idx="3"/>
          </p:nvPr>
        </p:nvSpPr>
        <p:spPr>
          <a:xfrm>
            <a:off x="182880" y="1069848"/>
            <a:ext cx="5486400" cy="38952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sz="1000"/>
            </a:lvl1pPr>
            <a:lvl2pPr marL="914400" lvl="1" indent="-292100" rtl="0">
              <a:spcBef>
                <a:spcPts val="800"/>
              </a:spcBef>
              <a:spcAft>
                <a:spcPts val="0"/>
              </a:spcAft>
              <a:buSzPts val="1000"/>
              <a:buChar char="○"/>
              <a:defRPr sz="1000"/>
            </a:lvl2pPr>
            <a:lvl3pPr marL="1371600" lvl="2" indent="-292100" rtl="0">
              <a:spcBef>
                <a:spcPts val="800"/>
              </a:spcBef>
              <a:spcAft>
                <a:spcPts val="0"/>
              </a:spcAft>
              <a:buSzPts val="1000"/>
              <a:buChar char="■"/>
              <a:defRPr sz="1000"/>
            </a:lvl3pPr>
            <a:lvl4pPr marL="1828800" lvl="3" indent="-292100" rtl="0">
              <a:spcBef>
                <a:spcPts val="800"/>
              </a:spcBef>
              <a:spcAft>
                <a:spcPts val="0"/>
              </a:spcAft>
              <a:buSzPts val="1000"/>
              <a:buChar char="●"/>
              <a:defRPr sz="1000"/>
            </a:lvl4pPr>
            <a:lvl5pPr marL="2286000" lvl="4" indent="-292100" rtl="0">
              <a:spcBef>
                <a:spcPts val="800"/>
              </a:spcBef>
              <a:spcAft>
                <a:spcPts val="0"/>
              </a:spcAft>
              <a:buSzPts val="1000"/>
              <a:buChar char="○"/>
              <a:defRPr sz="1000"/>
            </a:lvl5pPr>
            <a:lvl6pPr marL="2743200" lvl="5" indent="-292100" rtl="0">
              <a:spcBef>
                <a:spcPts val="800"/>
              </a:spcBef>
              <a:spcAft>
                <a:spcPts val="0"/>
              </a:spcAft>
              <a:buSzPts val="1000"/>
              <a:buChar char="■"/>
              <a:defRPr sz="1000"/>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sz="1000"/>
            </a:lvl8pPr>
            <a:lvl9pPr marL="4114800" lvl="8" indent="-292100" rtl="0">
              <a:spcBef>
                <a:spcPts val="800"/>
              </a:spcBef>
              <a:spcAft>
                <a:spcPts val="800"/>
              </a:spcAft>
              <a:buSzPts val="1000"/>
              <a:buChar char="■"/>
              <a:defRPr sz="1000"/>
            </a:lvl9pPr>
          </a:lstStyle>
          <a:p>
            <a:endParaRPr/>
          </a:p>
        </p:txBody>
      </p:sp>
      <p:sp>
        <p:nvSpPr>
          <p:cNvPr id="32" name="Google Shape;32;p5"/>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LO's" userDrawn="1">
  <p:cSld name="CUSTOM_2_3_1">
    <p:spTree>
      <p:nvGrpSpPr>
        <p:cNvPr id="1" name="Shape 33"/>
        <p:cNvGrpSpPr/>
        <p:nvPr/>
      </p:nvGrpSpPr>
      <p:grpSpPr>
        <a:xfrm>
          <a:off x="0" y="0"/>
          <a:ext cx="0" cy="0"/>
          <a:chOff x="0" y="0"/>
          <a:chExt cx="0" cy="0"/>
        </a:xfrm>
      </p:grpSpPr>
      <p:sp>
        <p:nvSpPr>
          <p:cNvPr id="34" name="Google Shape;34;p6"/>
          <p:cNvSpPr/>
          <p:nvPr/>
        </p:nvSpPr>
        <p:spPr>
          <a:xfrm>
            <a:off x="0" y="571460"/>
            <a:ext cx="9144000" cy="4938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p:nvPr/>
        </p:nvSpPr>
        <p:spPr>
          <a:xfrm>
            <a:off x="0" y="0"/>
            <a:ext cx="9144000" cy="5727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7" name="Google Shape;37;p6"/>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9" name="Google Shape;39;p6"/>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40" name="Google Shape;40;p6"/>
          <p:cNvSpPr txBox="1">
            <a:spLocks noGrp="1"/>
          </p:cNvSpPr>
          <p:nvPr>
            <p:ph type="title" idx="4"/>
          </p:nvPr>
        </p:nvSpPr>
        <p:spPr>
          <a:xfrm>
            <a:off x="68250" y="576000"/>
            <a:ext cx="8397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3600">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endParaRPr/>
          </a:p>
        </p:txBody>
      </p:sp>
      <p:sp>
        <p:nvSpPr>
          <p:cNvPr id="41" name="Google Shape;41;p6"/>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endParaRPr/>
          </a:p>
        </p:txBody>
      </p:sp>
      <p:sp>
        <p:nvSpPr>
          <p:cNvPr id="42" name="Google Shape;42;p6"/>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200"/>
            </a:lvl1pPr>
            <a:lvl2pPr lvl="1" rtl="0">
              <a:spcBef>
                <a:spcPts val="0"/>
              </a:spcBef>
              <a:spcAft>
                <a:spcPts val="0"/>
              </a:spcAft>
              <a:buNone/>
              <a:defRPr sz="900"/>
            </a:lvl2pPr>
            <a:lvl3pPr lvl="2" rtl="0">
              <a:spcBef>
                <a:spcPts val="0"/>
              </a:spcBef>
              <a:spcAft>
                <a:spcPts val="0"/>
              </a:spcAft>
              <a:buNone/>
              <a:defRPr sz="900"/>
            </a:lvl3pPr>
            <a:lvl4pPr lvl="3" rtl="0">
              <a:spcBef>
                <a:spcPts val="0"/>
              </a:spcBef>
              <a:spcAft>
                <a:spcPts val="0"/>
              </a:spcAft>
              <a:buNone/>
              <a:defRPr sz="900"/>
            </a:lvl4pPr>
            <a:lvl5pPr lvl="4" rtl="0">
              <a:spcBef>
                <a:spcPts val="0"/>
              </a:spcBef>
              <a:spcAft>
                <a:spcPts val="0"/>
              </a:spcAft>
              <a:buNone/>
              <a:defRPr sz="900"/>
            </a:lvl5pPr>
            <a:lvl6pPr lvl="5" rtl="0">
              <a:spcBef>
                <a:spcPts val="0"/>
              </a:spcBef>
              <a:spcAft>
                <a:spcPts val="0"/>
              </a:spcAft>
              <a:buNone/>
              <a:defRPr sz="900"/>
            </a:lvl6pPr>
            <a:lvl7pPr lvl="6" rtl="0">
              <a:spcBef>
                <a:spcPts val="0"/>
              </a:spcBef>
              <a:spcAft>
                <a:spcPts val="0"/>
              </a:spcAft>
              <a:buNone/>
              <a:defRPr sz="900"/>
            </a:lvl7pPr>
            <a:lvl8pPr lvl="7" rtl="0">
              <a:spcBef>
                <a:spcPts val="0"/>
              </a:spcBef>
              <a:spcAft>
                <a:spcPts val="0"/>
              </a:spcAft>
              <a:buNone/>
              <a:defRPr sz="900"/>
            </a:lvl8pPr>
            <a:lvl9pPr lvl="8" rtl="0">
              <a:spcBef>
                <a:spcPts val="0"/>
              </a:spcBef>
              <a:spcAft>
                <a:spcPts val="0"/>
              </a:spcAft>
              <a:buNone/>
              <a:defRPr sz="9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3"/>
        <p:cNvGrpSpPr/>
        <p:nvPr/>
      </p:nvGrpSpPr>
      <p:grpSpPr>
        <a:xfrm>
          <a:off x="0" y="0"/>
          <a:ext cx="0" cy="0"/>
          <a:chOff x="0" y="0"/>
          <a:chExt cx="0" cy="0"/>
        </a:xfrm>
      </p:grpSpPr>
      <p:sp>
        <p:nvSpPr>
          <p:cNvPr id="84" name="Google Shape;84;p11"/>
          <p:cNvSpPr/>
          <p:nvPr/>
        </p:nvSpPr>
        <p:spPr>
          <a:xfrm>
            <a:off x="3108960" y="-1200"/>
            <a:ext cx="6035100" cy="51435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5" name="Google Shape;85;p11"/>
          <p:cNvSpPr txBox="1">
            <a:spLocks noGrp="1"/>
          </p:cNvSpPr>
          <p:nvPr>
            <p:ph type="title"/>
          </p:nvPr>
        </p:nvSpPr>
        <p:spPr>
          <a:xfrm>
            <a:off x="265500" y="308799"/>
            <a:ext cx="4045200" cy="155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800"/>
              <a:buNone/>
              <a:defRPr sz="3800"/>
            </a:lvl2pPr>
            <a:lvl3pPr lvl="2" algn="ctr" rtl="0">
              <a:spcBef>
                <a:spcPts val="0"/>
              </a:spcBef>
              <a:spcAft>
                <a:spcPts val="0"/>
              </a:spcAft>
              <a:buSzPts val="3800"/>
              <a:buNone/>
              <a:defRPr sz="3800"/>
            </a:lvl3pPr>
            <a:lvl4pPr lvl="3" algn="ctr" rtl="0">
              <a:spcBef>
                <a:spcPts val="0"/>
              </a:spcBef>
              <a:spcAft>
                <a:spcPts val="0"/>
              </a:spcAft>
              <a:buSzPts val="3800"/>
              <a:buNone/>
              <a:defRPr sz="3800"/>
            </a:lvl4pPr>
            <a:lvl5pPr lvl="4" algn="ctr" rtl="0">
              <a:spcBef>
                <a:spcPts val="0"/>
              </a:spcBef>
              <a:spcAft>
                <a:spcPts val="0"/>
              </a:spcAft>
              <a:buSzPts val="3800"/>
              <a:buNone/>
              <a:defRPr sz="3800"/>
            </a:lvl5pPr>
            <a:lvl6pPr lvl="5" algn="ctr" rtl="0">
              <a:spcBef>
                <a:spcPts val="0"/>
              </a:spcBef>
              <a:spcAft>
                <a:spcPts val="0"/>
              </a:spcAft>
              <a:buSzPts val="3800"/>
              <a:buNone/>
              <a:defRPr sz="3800"/>
            </a:lvl6pPr>
            <a:lvl7pPr lvl="6" algn="ctr" rtl="0">
              <a:spcBef>
                <a:spcPts val="0"/>
              </a:spcBef>
              <a:spcAft>
                <a:spcPts val="0"/>
              </a:spcAft>
              <a:buSzPts val="3800"/>
              <a:buNone/>
              <a:defRPr sz="3800"/>
            </a:lvl7pPr>
            <a:lvl8pPr lvl="7" algn="ctr" rtl="0">
              <a:spcBef>
                <a:spcPts val="0"/>
              </a:spcBef>
              <a:spcAft>
                <a:spcPts val="0"/>
              </a:spcAft>
              <a:buSzPts val="3800"/>
              <a:buNone/>
              <a:defRPr sz="3800"/>
            </a:lvl8pPr>
            <a:lvl9pPr lvl="8" algn="ctr" rtl="0">
              <a:spcBef>
                <a:spcPts val="0"/>
              </a:spcBef>
              <a:spcAft>
                <a:spcPts val="0"/>
              </a:spcAft>
              <a:buSzPts val="3800"/>
              <a:buNone/>
              <a:defRPr sz="3800"/>
            </a:lvl9pPr>
          </a:lstStyle>
          <a:p>
            <a:endParaRPr/>
          </a:p>
        </p:txBody>
      </p:sp>
      <p:sp>
        <p:nvSpPr>
          <p:cNvPr id="86" name="Google Shape;86;p11"/>
          <p:cNvSpPr txBox="1">
            <a:spLocks noGrp="1"/>
          </p:cNvSpPr>
          <p:nvPr>
            <p:ph type="subTitle" idx="1"/>
          </p:nvPr>
        </p:nvSpPr>
        <p:spPr>
          <a:xfrm>
            <a:off x="265500" y="1860700"/>
            <a:ext cx="4045200" cy="3012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87" name="Google Shape;87;p1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292100" rtl="0">
              <a:spcBef>
                <a:spcPts val="0"/>
              </a:spcBef>
              <a:spcAft>
                <a:spcPts val="0"/>
              </a:spcAft>
              <a:buClr>
                <a:schemeClr val="lt1"/>
              </a:buClr>
              <a:buSzPts val="1000"/>
              <a:buChar char="●"/>
              <a:defRPr>
                <a:solidFill>
                  <a:schemeClr val="lt1"/>
                </a:solidFill>
              </a:defRPr>
            </a:lvl1pPr>
            <a:lvl2pPr marL="914400" lvl="1" indent="-292100" rtl="0">
              <a:spcBef>
                <a:spcPts val="800"/>
              </a:spcBef>
              <a:spcAft>
                <a:spcPts val="0"/>
              </a:spcAft>
              <a:buClr>
                <a:schemeClr val="lt1"/>
              </a:buClr>
              <a:buSzPts val="1000"/>
              <a:buChar char="○"/>
              <a:defRPr>
                <a:solidFill>
                  <a:schemeClr val="lt1"/>
                </a:solidFill>
              </a:defRPr>
            </a:lvl2pPr>
            <a:lvl3pPr marL="1371600" lvl="2" indent="-292100" rtl="0">
              <a:spcBef>
                <a:spcPts val="800"/>
              </a:spcBef>
              <a:spcAft>
                <a:spcPts val="0"/>
              </a:spcAft>
              <a:buClr>
                <a:schemeClr val="lt1"/>
              </a:buClr>
              <a:buSzPts val="1000"/>
              <a:buChar char="■"/>
              <a:defRPr>
                <a:solidFill>
                  <a:schemeClr val="lt1"/>
                </a:solidFill>
              </a:defRPr>
            </a:lvl3pPr>
            <a:lvl4pPr marL="1828800" lvl="3" indent="-292100" rtl="0">
              <a:spcBef>
                <a:spcPts val="800"/>
              </a:spcBef>
              <a:spcAft>
                <a:spcPts val="0"/>
              </a:spcAft>
              <a:buClr>
                <a:schemeClr val="lt1"/>
              </a:buClr>
              <a:buSzPts val="1000"/>
              <a:buChar char="●"/>
              <a:defRPr>
                <a:solidFill>
                  <a:schemeClr val="lt1"/>
                </a:solidFill>
              </a:defRPr>
            </a:lvl4pPr>
            <a:lvl5pPr marL="2286000" lvl="4" indent="-292100" rtl="0">
              <a:spcBef>
                <a:spcPts val="800"/>
              </a:spcBef>
              <a:spcAft>
                <a:spcPts val="0"/>
              </a:spcAft>
              <a:buClr>
                <a:schemeClr val="lt1"/>
              </a:buClr>
              <a:buSzPts val="1000"/>
              <a:buChar char="○"/>
              <a:defRPr>
                <a:solidFill>
                  <a:schemeClr val="lt1"/>
                </a:solidFill>
              </a:defRPr>
            </a:lvl5pPr>
            <a:lvl6pPr marL="2743200" lvl="5" indent="-292100" rtl="0">
              <a:spcBef>
                <a:spcPts val="800"/>
              </a:spcBef>
              <a:spcAft>
                <a:spcPts val="0"/>
              </a:spcAft>
              <a:buClr>
                <a:schemeClr val="lt1"/>
              </a:buClr>
              <a:buSzPts val="1000"/>
              <a:buChar char="■"/>
              <a:defRPr>
                <a:solidFill>
                  <a:schemeClr val="lt1"/>
                </a:solidFill>
              </a:defRPr>
            </a:lvl6pPr>
            <a:lvl7pPr marL="3200400" lvl="6" indent="-292100" rtl="0">
              <a:spcBef>
                <a:spcPts val="800"/>
              </a:spcBef>
              <a:spcAft>
                <a:spcPts val="0"/>
              </a:spcAft>
              <a:buClr>
                <a:schemeClr val="lt1"/>
              </a:buClr>
              <a:buSzPts val="1000"/>
              <a:buChar char="●"/>
              <a:defRPr>
                <a:solidFill>
                  <a:schemeClr val="lt1"/>
                </a:solidFill>
              </a:defRPr>
            </a:lvl7pPr>
            <a:lvl8pPr marL="3657600" lvl="7" indent="-292100" rtl="0">
              <a:spcBef>
                <a:spcPts val="800"/>
              </a:spcBef>
              <a:spcAft>
                <a:spcPts val="0"/>
              </a:spcAft>
              <a:buClr>
                <a:schemeClr val="lt1"/>
              </a:buClr>
              <a:buSzPts val="1000"/>
              <a:buChar char="○"/>
              <a:defRPr>
                <a:solidFill>
                  <a:schemeClr val="lt1"/>
                </a:solidFill>
              </a:defRPr>
            </a:lvl8pPr>
            <a:lvl9pPr marL="4114800" lvl="8" indent="-292100" rtl="0">
              <a:spcBef>
                <a:spcPts val="800"/>
              </a:spcBef>
              <a:spcAft>
                <a:spcPts val="800"/>
              </a:spcAft>
              <a:buClr>
                <a:schemeClr val="lt1"/>
              </a:buClr>
              <a:buSzPts val="1000"/>
              <a:buChar char="■"/>
              <a:defRPr>
                <a:solidFill>
                  <a:schemeClr val="lt1"/>
                </a:solidFill>
              </a:defRPr>
            </a:lvl9pPr>
          </a:lstStyle>
          <a:p>
            <a:endParaRPr/>
          </a:p>
        </p:txBody>
      </p:sp>
      <p:sp>
        <p:nvSpPr>
          <p:cNvPr id="88" name="Google Shape;88;p11"/>
          <p:cNvSpPr txBox="1">
            <a:spLocks noGrp="1"/>
          </p:cNvSpPr>
          <p:nvPr>
            <p:ph type="sldNum" idx="12"/>
          </p:nvPr>
        </p:nvSpPr>
        <p:spPr>
          <a:xfrm>
            <a:off x="90450" y="4873575"/>
            <a:ext cx="548700" cy="2697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eeks">
  <p:cSld name="Weeks">
    <p:spTree>
      <p:nvGrpSpPr>
        <p:cNvPr id="1" name="Shape 45"/>
        <p:cNvGrpSpPr/>
        <p:nvPr/>
      </p:nvGrpSpPr>
      <p:grpSpPr>
        <a:xfrm>
          <a:off x="0" y="0"/>
          <a:ext cx="0" cy="0"/>
          <a:chOff x="0" y="0"/>
          <a:chExt cx="0" cy="0"/>
        </a:xfrm>
      </p:grpSpPr>
      <p:sp>
        <p:nvSpPr>
          <p:cNvPr id="46" name="Google Shape;46;p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47" name="Google Shape;47;p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48" name="Google Shape;48;p7"/>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49" name="Google Shape;49;p7"/>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0" name="Google Shape;50;p7"/>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52" name="Google Shape;52;p7"/>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53" name="Google Shape;53;p7"/>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extLst>
      <p:ext uri="{BB962C8B-B14F-4D97-AF65-F5344CB8AC3E}">
        <p14:creationId xmlns:p14="http://schemas.microsoft.com/office/powerpoint/2010/main" val="181183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Feedback Slides">
  <p:cSld name="Feedback Slides">
    <p:bg>
      <p:bgPr>
        <a:solidFill>
          <a:srgbClr val="134F5C"/>
        </a:solidFill>
        <a:effectLst/>
      </p:bgPr>
    </p:bg>
    <p:spTree>
      <p:nvGrpSpPr>
        <p:cNvPr id="1" name="Shape 65"/>
        <p:cNvGrpSpPr/>
        <p:nvPr/>
      </p:nvGrpSpPr>
      <p:grpSpPr>
        <a:xfrm>
          <a:off x="0" y="0"/>
          <a:ext cx="0" cy="0"/>
          <a:chOff x="0" y="0"/>
          <a:chExt cx="0" cy="0"/>
        </a:xfrm>
      </p:grpSpPr>
      <p:sp>
        <p:nvSpPr>
          <p:cNvPr id="66" name="Google Shape;66;p9"/>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67" name="Google Shape;67;p9"/>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68" name="Google Shape;68;p9"/>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9"/>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70" name="Google Shape;70;p9"/>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71" name="Google Shape;71;p9"/>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extLst>
      <p:ext uri="{BB962C8B-B14F-4D97-AF65-F5344CB8AC3E}">
        <p14:creationId xmlns:p14="http://schemas.microsoft.com/office/powerpoint/2010/main" val="2237386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Week 4 goals">
  <p:cSld name="Week 4 goals">
    <p:spTree>
      <p:nvGrpSpPr>
        <p:cNvPr id="1" name="Shape 54"/>
        <p:cNvGrpSpPr/>
        <p:nvPr/>
      </p:nvGrpSpPr>
      <p:grpSpPr>
        <a:xfrm>
          <a:off x="0" y="0"/>
          <a:ext cx="0" cy="0"/>
          <a:chOff x="0" y="0"/>
          <a:chExt cx="0" cy="0"/>
        </a:xfrm>
      </p:grpSpPr>
      <p:sp>
        <p:nvSpPr>
          <p:cNvPr id="55" name="Google Shape;55;p8"/>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6" name="Google Shape;56;p8"/>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57" name="Google Shape;57;p8"/>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58" name="Google Shape;58;p8"/>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9" name="Google Shape;59;p8"/>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8"/>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1" name="Google Shape;61;p8"/>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2" name="Google Shape;62;p8"/>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3" name="Google Shape;63;p8"/>
          <p:cNvSpPr txBox="1">
            <a:spLocks noGrp="1"/>
          </p:cNvSpPr>
          <p:nvPr>
            <p:ph type="body" idx="7"/>
          </p:nvPr>
        </p:nvSpPr>
        <p:spPr>
          <a:xfrm>
            <a:off x="4663450" y="317214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64" name="Google Shape;64;p8"/>
          <p:cNvSpPr txBox="1">
            <a:spLocks noGrp="1"/>
          </p:cNvSpPr>
          <p:nvPr>
            <p:ph type="subTitle" idx="8"/>
          </p:nvPr>
        </p:nvSpPr>
        <p:spPr>
          <a:xfrm>
            <a:off x="4663440" y="277840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Tree>
    <p:extLst>
      <p:ext uri="{BB962C8B-B14F-4D97-AF65-F5344CB8AC3E}">
        <p14:creationId xmlns:p14="http://schemas.microsoft.com/office/powerpoint/2010/main" val="3212919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ameday">
    <p:bg>
      <p:bgPr>
        <a:solidFill>
          <a:srgbClr val="66666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64025"/>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rgbClr val="FFFFFF"/>
              </a:buClr>
              <a:buSzPts val="2000"/>
              <a:buFont typeface="Roboto Light"/>
              <a:buNone/>
              <a:defRPr sz="2000">
                <a:solidFill>
                  <a:srgbClr val="FFFFFF"/>
                </a:solidFill>
                <a:latin typeface="Roboto Light"/>
                <a:ea typeface="Roboto Light"/>
                <a:cs typeface="Roboto Light"/>
                <a:sym typeface="Roboto Light"/>
              </a:defRPr>
            </a:lvl1pPr>
            <a:lvl2pPr lvl="1">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2pPr>
            <a:lvl3pPr lvl="2">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3pPr>
            <a:lvl4pPr lvl="3">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4pPr>
            <a:lvl5pPr lvl="4">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5pPr>
            <a:lvl6pPr lvl="5">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6pPr>
            <a:lvl7pPr lvl="6">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7pPr>
            <a:lvl8pPr lvl="7">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8pPr>
            <a:lvl9pPr lvl="8">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9pPr>
          </a:lstStyle>
          <a:p>
            <a:endParaRPr/>
          </a:p>
        </p:txBody>
      </p:sp>
      <p:sp>
        <p:nvSpPr>
          <p:cNvPr id="7" name="Google Shape;7;p1"/>
          <p:cNvSpPr txBox="1">
            <a:spLocks noGrp="1"/>
          </p:cNvSpPr>
          <p:nvPr>
            <p:ph type="body" idx="1"/>
          </p:nvPr>
        </p:nvSpPr>
        <p:spPr>
          <a:xfrm>
            <a:off x="311700" y="636725"/>
            <a:ext cx="8520600" cy="3932100"/>
          </a:xfrm>
          <a:prstGeom prst="rect">
            <a:avLst/>
          </a:prstGeom>
          <a:noFill/>
          <a:ln>
            <a:noFill/>
          </a:ln>
        </p:spPr>
        <p:txBody>
          <a:bodyPr spcFirstLastPara="1" wrap="square" lIns="91425" tIns="91425" rIns="91425" bIns="91425" anchor="t" anchorCtr="0">
            <a:noAutofit/>
          </a:bodyPr>
          <a:lstStyle>
            <a:lvl1pPr marL="457200" lvl="0" indent="-292100">
              <a:lnSpc>
                <a:spcPct val="104000"/>
              </a:lnSpc>
              <a:spcBef>
                <a:spcPts val="0"/>
              </a:spcBef>
              <a:spcAft>
                <a:spcPts val="0"/>
              </a:spcAft>
              <a:buClr>
                <a:srgbClr val="FFFFFF"/>
              </a:buClr>
              <a:buSzPts val="1000"/>
              <a:buFont typeface="Roboto"/>
              <a:buChar char="●"/>
              <a:defRPr sz="1000">
                <a:solidFill>
                  <a:srgbClr val="FFFFFF"/>
                </a:solidFill>
                <a:latin typeface="Roboto"/>
                <a:ea typeface="Roboto"/>
                <a:cs typeface="Roboto"/>
                <a:sym typeface="Roboto"/>
              </a:defRPr>
            </a:lvl1pPr>
            <a:lvl2pPr marL="914400" lvl="1"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2pPr>
            <a:lvl3pPr marL="1371600" lvl="2" indent="-292100">
              <a:lnSpc>
                <a:spcPct val="104000"/>
              </a:lnSpc>
              <a:spcBef>
                <a:spcPts val="800"/>
              </a:spcBef>
              <a:spcAft>
                <a:spcPts val="0"/>
              </a:spcAft>
              <a:buClr>
                <a:srgbClr val="FFFFFF"/>
              </a:buClr>
              <a:buSzPts val="1000"/>
              <a:buFont typeface="Roboto"/>
              <a:buChar char="■"/>
              <a:defRPr sz="1000" u="sng">
                <a:solidFill>
                  <a:srgbClr val="FFFFFF"/>
                </a:solidFill>
                <a:latin typeface="Roboto"/>
                <a:ea typeface="Roboto"/>
                <a:cs typeface="Roboto"/>
                <a:sym typeface="Roboto"/>
              </a:defRPr>
            </a:lvl3pPr>
            <a:lvl4pPr marL="1828800" lvl="3" indent="-292100">
              <a:lnSpc>
                <a:spcPct val="104000"/>
              </a:lnSpc>
              <a:spcBef>
                <a:spcPts val="800"/>
              </a:spcBef>
              <a:spcAft>
                <a:spcPts val="0"/>
              </a:spcAft>
              <a:buClr>
                <a:srgbClr val="FFFFFF"/>
              </a:buClr>
              <a:buSzPts val="1000"/>
              <a:buFont typeface="Roboto"/>
              <a:buChar char="●"/>
              <a:defRPr sz="1000">
                <a:solidFill>
                  <a:srgbClr val="FFFFFF"/>
                </a:solidFill>
                <a:latin typeface="Roboto"/>
                <a:ea typeface="Roboto"/>
                <a:cs typeface="Roboto"/>
                <a:sym typeface="Roboto"/>
              </a:defRPr>
            </a:lvl4pPr>
            <a:lvl5pPr marL="2286000" lvl="4"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5pPr>
            <a:lvl6pPr marL="2743200" lvl="5" indent="-292100">
              <a:lnSpc>
                <a:spcPct val="104000"/>
              </a:lnSpc>
              <a:spcBef>
                <a:spcPts val="800"/>
              </a:spcBef>
              <a:spcAft>
                <a:spcPts val="0"/>
              </a:spcAft>
              <a:buClr>
                <a:srgbClr val="FFFFFF"/>
              </a:buClr>
              <a:buSzPts val="1000"/>
              <a:buFont typeface="Roboto"/>
              <a:buChar char="■"/>
              <a:defRPr sz="1000" u="sng">
                <a:solidFill>
                  <a:srgbClr val="FFFFFF"/>
                </a:solidFill>
                <a:latin typeface="Roboto"/>
                <a:ea typeface="Roboto"/>
                <a:cs typeface="Roboto"/>
                <a:sym typeface="Roboto"/>
              </a:defRPr>
            </a:lvl6pPr>
            <a:lvl7pPr marL="3200400" lvl="6" indent="-292100">
              <a:lnSpc>
                <a:spcPct val="104000"/>
              </a:lnSpc>
              <a:spcBef>
                <a:spcPts val="800"/>
              </a:spcBef>
              <a:spcAft>
                <a:spcPts val="0"/>
              </a:spcAft>
              <a:buClr>
                <a:srgbClr val="FFFFFF"/>
              </a:buClr>
              <a:buSzPts val="1000"/>
              <a:buFont typeface="Roboto"/>
              <a:buChar char="●"/>
              <a:defRPr sz="1000">
                <a:solidFill>
                  <a:srgbClr val="FFFFFF"/>
                </a:solidFill>
                <a:latin typeface="Roboto"/>
                <a:ea typeface="Roboto"/>
                <a:cs typeface="Roboto"/>
                <a:sym typeface="Roboto"/>
              </a:defRPr>
            </a:lvl7pPr>
            <a:lvl8pPr marL="3657600" lvl="7"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8pPr>
            <a:lvl9pPr marL="4114800" lvl="8" indent="-292100">
              <a:lnSpc>
                <a:spcPct val="104000"/>
              </a:lnSpc>
              <a:spcBef>
                <a:spcPts val="800"/>
              </a:spcBef>
              <a:spcAft>
                <a:spcPts val="800"/>
              </a:spcAft>
              <a:buClr>
                <a:srgbClr val="FFFFFF"/>
              </a:buClr>
              <a:buSzPts val="1000"/>
              <a:buFont typeface="Roboto"/>
              <a:buChar char="■"/>
              <a:defRPr sz="1000" u="sng">
                <a:solidFill>
                  <a:srgbClr val="FFFFFF"/>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90450" y="4873575"/>
            <a:ext cx="548700" cy="269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7" r:id="rId6"/>
    <p:sldLayoutId id="2147483659" r:id="rId7"/>
    <p:sldLayoutId id="2147483660" r:id="rId8"/>
    <p:sldLayoutId id="2147483661"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5.sv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image" Target="../media/image5.sv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2"/>
          <p:cNvSpPr txBox="1">
            <a:spLocks noGrp="1"/>
          </p:cNvSpPr>
          <p:nvPr>
            <p:ph type="ctrTitle"/>
          </p:nvPr>
        </p:nvSpPr>
        <p:spPr>
          <a:xfrm>
            <a:off x="3657600" y="548650"/>
            <a:ext cx="4937700" cy="3264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pl-PL" dirty="0">
                <a:latin typeface="Roboto"/>
                <a:ea typeface="Roboto"/>
                <a:cs typeface="Roboto"/>
                <a:sym typeface="Roboto"/>
              </a:rPr>
              <a:t>Maks Burchard</a:t>
            </a:r>
            <a:endParaRPr dirty="0">
              <a:solidFill>
                <a:srgbClr val="FFFFFF"/>
              </a:solidFill>
              <a:latin typeface="Roboto"/>
              <a:ea typeface="Roboto"/>
              <a:cs typeface="Roboto"/>
              <a:sym typeface="Roboto"/>
            </a:endParaRPr>
          </a:p>
          <a:p>
            <a:pPr marL="0" lvl="0" indent="0" algn="l" rtl="0">
              <a:spcBef>
                <a:spcPts val="0"/>
              </a:spcBef>
              <a:spcAft>
                <a:spcPts val="0"/>
              </a:spcAft>
              <a:buNone/>
            </a:pPr>
            <a:r>
              <a:rPr lang="pl-PL" dirty="0">
                <a:solidFill>
                  <a:srgbClr val="FFFFFF"/>
                </a:solidFill>
                <a:latin typeface="Roboto"/>
                <a:ea typeface="Roboto"/>
                <a:cs typeface="Roboto"/>
                <a:sym typeface="Roboto"/>
              </a:rPr>
              <a:t>240894</a:t>
            </a:r>
            <a:endParaRPr dirty="0">
              <a:solidFill>
                <a:srgbClr val="FFFFFF"/>
              </a:solidFill>
              <a:latin typeface="Roboto"/>
              <a:ea typeface="Roboto"/>
              <a:cs typeface="Roboto"/>
              <a:sym typeface="Roboto"/>
            </a:endParaRPr>
          </a:p>
          <a:p>
            <a:pPr algn="l"/>
            <a:r>
              <a:rPr lang="nl-NL" b="0" i="0" dirty="0">
                <a:solidFill>
                  <a:schemeClr val="bg1"/>
                </a:solidFill>
                <a:effectLst/>
                <a:latin typeface="Roboto" panose="02000000000000000000" pitchFamily="2" charset="0"/>
                <a:ea typeface="Roboto" panose="02000000000000000000" pitchFamily="2" charset="0"/>
                <a:cs typeface="Roboto" panose="02000000000000000000" pitchFamily="2" charset="0"/>
              </a:rPr>
              <a:t>Data Understanding </a:t>
            </a:r>
            <a:r>
              <a:rPr lang="nl-NL" b="0" i="0" dirty="0" err="1">
                <a:solidFill>
                  <a:schemeClr val="bg1"/>
                </a:solidFill>
                <a:effectLst/>
                <a:latin typeface="Roboto" panose="02000000000000000000" pitchFamily="2" charset="0"/>
                <a:ea typeface="Roboto" panose="02000000000000000000" pitchFamily="2" charset="0"/>
                <a:cs typeface="Roboto" panose="02000000000000000000" pitchFamily="2" charset="0"/>
              </a:rPr>
              <a:t>and</a:t>
            </a:r>
            <a:r>
              <a:rPr lang="nl-NL" b="0" i="0" dirty="0">
                <a:solidFill>
                  <a:schemeClr val="bg1"/>
                </a:solidFill>
                <a:effectLst/>
                <a:latin typeface="Roboto" panose="02000000000000000000" pitchFamily="2" charset="0"/>
                <a:ea typeface="Roboto" panose="02000000000000000000" pitchFamily="2" charset="0"/>
                <a:cs typeface="Roboto" panose="02000000000000000000" pitchFamily="2" charset="0"/>
              </a:rPr>
              <a:t> </a:t>
            </a:r>
            <a:r>
              <a:rPr lang="nl-NL" b="0" i="0" dirty="0" err="1">
                <a:solidFill>
                  <a:schemeClr val="bg1"/>
                </a:solidFill>
                <a:effectLst/>
                <a:latin typeface="Roboto" panose="02000000000000000000" pitchFamily="2" charset="0"/>
                <a:ea typeface="Roboto" panose="02000000000000000000" pitchFamily="2" charset="0"/>
                <a:cs typeface="Roboto" panose="02000000000000000000" pitchFamily="2" charset="0"/>
              </a:rPr>
              <a:t>Preparation</a:t>
            </a:r>
            <a:endParaRPr lang="nl-NL" b="0" i="0"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p:txBody>
      </p:sp>
      <p:sp>
        <p:nvSpPr>
          <p:cNvPr id="95" name="Google Shape;95;p12"/>
          <p:cNvSpPr txBox="1">
            <a:spLocks noGrp="1"/>
          </p:cNvSpPr>
          <p:nvPr>
            <p:ph type="subTitle" idx="1"/>
          </p:nvPr>
        </p:nvSpPr>
        <p:spPr>
          <a:xfrm>
            <a:off x="548650" y="2571750"/>
            <a:ext cx="2011800" cy="1406525"/>
          </a:xfrm>
          <a:prstGeom prst="rect">
            <a:avLst/>
          </a:prstGeom>
        </p:spPr>
        <p:txBody>
          <a:bodyPr spcFirstLastPara="1" wrap="square" lIns="91425" tIns="91425" rIns="91425" bIns="91425" anchor="b" anchorCtr="0">
            <a:noAutofit/>
          </a:bodyPr>
          <a:lstStyle/>
          <a:p>
            <a:pPr marL="0" indent="0">
              <a:lnSpc>
                <a:spcPct val="104000"/>
              </a:lnSpc>
            </a:pPr>
            <a:r>
              <a:rPr lang="en" sz="1800">
                <a:solidFill>
                  <a:srgbClr val="434343"/>
                </a:solidFill>
              </a:rPr>
              <a:t>Learning Log</a:t>
            </a:r>
            <a:r>
              <a:rPr lang="en">
                <a:solidFill>
                  <a:srgbClr val="434343"/>
                </a:solidFill>
              </a:rPr>
              <a:t> </a:t>
            </a:r>
            <a:endParaRPr sz="1800">
              <a:solidFill>
                <a:srgbClr val="434343"/>
              </a:solidFill>
            </a:endParaRPr>
          </a:p>
          <a:p>
            <a:pPr marL="0" indent="0">
              <a:lnSpc>
                <a:spcPct val="104000"/>
              </a:lnSpc>
              <a:spcBef>
                <a:spcPts val="800"/>
              </a:spcBef>
              <a:spcAft>
                <a:spcPts val="800"/>
              </a:spcAft>
            </a:pPr>
            <a:r>
              <a:rPr lang="en">
                <a:solidFill>
                  <a:srgbClr val="434343"/>
                </a:solidFill>
              </a:rPr>
              <a:t>Year  1</a:t>
            </a:r>
            <a:endParaRPr lang="en-US">
              <a:solidFill>
                <a:srgbClr val="434343"/>
              </a:solidFill>
            </a:endParaRPr>
          </a:p>
          <a:p>
            <a:pPr marL="0" indent="0">
              <a:lnSpc>
                <a:spcPct val="104000"/>
              </a:lnSpc>
              <a:spcBef>
                <a:spcPts val="800"/>
              </a:spcBef>
              <a:spcAft>
                <a:spcPts val="800"/>
              </a:spcAft>
            </a:pPr>
            <a:r>
              <a:rPr lang="en">
                <a:solidFill>
                  <a:srgbClr val="434343"/>
                </a:solidFill>
              </a:rPr>
              <a:t>Block  B</a:t>
            </a:r>
            <a:endParaRPr lang="en-US" sz="1800">
              <a:solidFill>
                <a:srgbClr val="434343"/>
              </a:solidFill>
            </a:endParaRPr>
          </a:p>
        </p:txBody>
      </p:sp>
      <p:sp>
        <p:nvSpPr>
          <p:cNvPr id="4" name="Google Shape;16;p2">
            <a:extLst>
              <a:ext uri="{FF2B5EF4-FFF2-40B4-BE49-F238E27FC236}">
                <a16:creationId xmlns:a16="http://schemas.microsoft.com/office/drawing/2014/main" id="{8758BBB5-F7B4-27C5-E103-E7FBDED4DBC2}"/>
              </a:ext>
            </a:extLst>
          </p:cNvPr>
          <p:cNvSpPr txBox="1"/>
          <p:nvPr/>
        </p:nvSpPr>
        <p:spPr>
          <a:xfrm>
            <a:off x="3036677" y="4408319"/>
            <a:ext cx="5944414" cy="232252"/>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NL" sz="700" b="1">
                <a:solidFill>
                  <a:srgbClr val="999999"/>
                </a:solidFill>
                <a:latin typeface="Helvetica Neue"/>
                <a:ea typeface="Roboto"/>
                <a:cs typeface="Roboto"/>
                <a:sym typeface="Helvetica Neue"/>
              </a:rPr>
              <a:t>Hyperlink</a:t>
            </a:r>
            <a:endParaRPr>
              <a:latin typeface="Roboto"/>
              <a:ea typeface="Roboto"/>
              <a:cs typeface="Roboto"/>
              <a:sym typeface="Roboto"/>
            </a:endParaRPr>
          </a:p>
        </p:txBody>
      </p:sp>
      <p:sp>
        <p:nvSpPr>
          <p:cNvPr id="5" name="Google Shape;16;p2">
            <a:extLst>
              <a:ext uri="{FF2B5EF4-FFF2-40B4-BE49-F238E27FC236}">
                <a16:creationId xmlns:a16="http://schemas.microsoft.com/office/drawing/2014/main" id="{91019EC5-1870-195F-7F9F-5AA97F189468}"/>
              </a:ext>
            </a:extLst>
          </p:cNvPr>
          <p:cNvSpPr txBox="1"/>
          <p:nvPr/>
        </p:nvSpPr>
        <p:spPr>
          <a:xfrm>
            <a:off x="3036676" y="4625059"/>
            <a:ext cx="5944414" cy="232252"/>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NL" sz="700" b="1">
                <a:solidFill>
                  <a:srgbClr val="999999"/>
                </a:solidFill>
                <a:latin typeface="Helvetica Neue"/>
                <a:ea typeface="Roboto"/>
                <a:cs typeface="Roboto"/>
                <a:sym typeface="Helvetica Neue"/>
              </a:rPr>
              <a:t>Hyperlink</a:t>
            </a:r>
            <a:endParaRPr>
              <a:latin typeface="Roboto"/>
              <a:ea typeface="Roboto"/>
              <a:cs typeface="Roboto"/>
              <a:sym typeface="Roboto"/>
            </a:endParaRPr>
          </a:p>
        </p:txBody>
      </p:sp>
      <p:sp>
        <p:nvSpPr>
          <p:cNvPr id="6" name="Google Shape;16;p2">
            <a:extLst>
              <a:ext uri="{FF2B5EF4-FFF2-40B4-BE49-F238E27FC236}">
                <a16:creationId xmlns:a16="http://schemas.microsoft.com/office/drawing/2014/main" id="{71C20FEA-7051-AFFA-02AF-093F08979088}"/>
              </a:ext>
            </a:extLst>
          </p:cNvPr>
          <p:cNvSpPr txBox="1"/>
          <p:nvPr/>
        </p:nvSpPr>
        <p:spPr>
          <a:xfrm>
            <a:off x="3036676" y="4798480"/>
            <a:ext cx="5944414" cy="232252"/>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nl-NL" sz="700" b="1" dirty="0">
                <a:solidFill>
                  <a:srgbClr val="999999"/>
                </a:solidFill>
                <a:latin typeface="Helvetica Neue"/>
                <a:ea typeface="Roboto"/>
                <a:cs typeface="Roboto"/>
                <a:sym typeface="Helvetica Neue"/>
              </a:rPr>
              <a:t>https://github.com/BredaUniversityADSAI/2024-25b-fai1-adsai-MaksBurchard240894</a:t>
            </a:r>
            <a:endParaRPr dirty="0">
              <a:latin typeface="Roboto"/>
              <a:ea typeface="Roboto"/>
              <a:cs typeface="Roboto"/>
              <a:sym typeface="Roboto"/>
            </a:endParaRPr>
          </a:p>
        </p:txBody>
      </p:sp>
      <p:pic>
        <p:nvPicPr>
          <p:cNvPr id="3" name="Picture 2" descr="A person wearing glasses and orange shirt&#10;&#10;Description automatically generated">
            <a:extLst>
              <a:ext uri="{FF2B5EF4-FFF2-40B4-BE49-F238E27FC236}">
                <a16:creationId xmlns:a16="http://schemas.microsoft.com/office/drawing/2014/main" id="{8C46D32E-F107-82E8-393F-C8DA652DA8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6500" y="365125"/>
            <a:ext cx="1374775"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3"/>
          <p:cNvSpPr txBox="1">
            <a:spLocks noGrp="1"/>
          </p:cNvSpPr>
          <p:nvPr>
            <p:ph type="title"/>
          </p:nvPr>
        </p:nvSpPr>
        <p:spPr>
          <a:xfrm>
            <a:off x="182880" y="2926080"/>
            <a:ext cx="2743200" cy="15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How To Use</a:t>
            </a:r>
            <a:endParaRPr/>
          </a:p>
          <a:p>
            <a:pPr marL="0" lvl="0" indent="0" algn="ctr" rtl="0">
              <a:spcBef>
                <a:spcPts val="0"/>
              </a:spcBef>
              <a:spcAft>
                <a:spcPts val="0"/>
              </a:spcAft>
              <a:buNone/>
            </a:pPr>
            <a:r>
              <a:rPr lang="en"/>
              <a:t>This Template</a:t>
            </a:r>
            <a:endParaRPr/>
          </a:p>
        </p:txBody>
      </p:sp>
      <p:sp>
        <p:nvSpPr>
          <p:cNvPr id="102" name="Google Shape;102;p13"/>
          <p:cNvSpPr txBox="1">
            <a:spLocks noGrp="1"/>
          </p:cNvSpPr>
          <p:nvPr>
            <p:ph type="body" idx="2"/>
          </p:nvPr>
        </p:nvSpPr>
        <p:spPr>
          <a:xfrm>
            <a:off x="3383280" y="274320"/>
            <a:ext cx="5486400" cy="45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As a student at Breda University of Applied Sciences studying to become a professional, you are required to provide evidence that demonstrates your professional learning and growth during the block. This template is intended to provide you with a well-structured and </a:t>
            </a:r>
            <a:r>
              <a:rPr lang="en" err="1"/>
              <a:t>organised</a:t>
            </a:r>
            <a:r>
              <a:rPr lang="en"/>
              <a:t> format for doing this effectively. Keep in mind that certain competencies may require you to update your evidence every week, and others may have only be relevant during a particular week or two.</a:t>
            </a:r>
            <a:endParaRPr/>
          </a:p>
          <a:p>
            <a:pPr marL="0" lvl="0" indent="0" algn="l" rtl="0">
              <a:spcBef>
                <a:spcPts val="800"/>
              </a:spcBef>
              <a:spcAft>
                <a:spcPts val="0"/>
              </a:spcAft>
              <a:buNone/>
            </a:pPr>
            <a:endParaRPr/>
          </a:p>
          <a:p>
            <a:pPr marL="0" lvl="0" indent="0" algn="l" rtl="0">
              <a:spcBef>
                <a:spcPts val="800"/>
              </a:spcBef>
              <a:spcAft>
                <a:spcPts val="0"/>
              </a:spcAft>
              <a:buNone/>
            </a:pPr>
            <a:r>
              <a:rPr lang="en"/>
              <a:t>With the evidence you present here teachers should get a clear and comprehensive overview of your progress, how you’ve engaged with feedback, as well as your general attitude and performance as a student and as an aspiring professional developer.</a:t>
            </a:r>
            <a:endParaRPr/>
          </a:p>
          <a:p>
            <a:pPr marL="0" lvl="0" indent="0" algn="l" rtl="0">
              <a:spcBef>
                <a:spcPts val="800"/>
              </a:spcBef>
              <a:spcAft>
                <a:spcPts val="0"/>
              </a:spcAft>
              <a:buNone/>
            </a:pPr>
            <a:endParaRPr/>
          </a:p>
          <a:p>
            <a:pPr marL="0" lvl="0" indent="0" algn="l" rtl="0">
              <a:spcBef>
                <a:spcPts val="800"/>
              </a:spcBef>
              <a:spcAft>
                <a:spcPts val="0"/>
              </a:spcAft>
              <a:buNone/>
            </a:pPr>
            <a:r>
              <a:rPr lang="en"/>
              <a:t>Note that number and size of text boxes and how they are organized on each slide may be modified as needed. It is up to you to decide what layout is most effective for the content you are providing. You may also add slides if needed, but try to be as economical as possible, i.e. quality over quantity. Focus on the things that are the most significant and meaningful.</a:t>
            </a:r>
            <a:endParaRPr/>
          </a:p>
          <a:p>
            <a:pPr marL="0" lvl="0" indent="0" algn="l" rtl="0">
              <a:spcBef>
                <a:spcPts val="800"/>
              </a:spcBef>
              <a:spcAft>
                <a:spcPts val="0"/>
              </a:spcAft>
              <a:buNone/>
            </a:pPr>
            <a:endParaRPr/>
          </a:p>
          <a:p>
            <a:pPr marL="0" lvl="0" indent="0" algn="l" rtl="0">
              <a:spcBef>
                <a:spcPts val="800"/>
              </a:spcBef>
              <a:spcAft>
                <a:spcPts val="800"/>
              </a:spcAft>
              <a:buNone/>
            </a:pPr>
            <a:r>
              <a:rPr lang="en"/>
              <a:t>You are also free to stylise this template to improve the graphic design and visual appeal, but please remember its purpose: to provide evidence of your progress towards becoming a professional developer. Changes should only enhance and extend the information, and may never subtract. I.e. do not delete anything or change the order of things. If in doubt, seek approval from your teachers!</a:t>
            </a:r>
            <a:endParaRPr/>
          </a:p>
        </p:txBody>
      </p:sp>
      <p:pic>
        <p:nvPicPr>
          <p:cNvPr id="1026" name="Picture 2" descr="Artificial intelligence brain">
            <a:extLst>
              <a:ext uri="{FF2B5EF4-FFF2-40B4-BE49-F238E27FC236}">
                <a16:creationId xmlns:a16="http://schemas.microsoft.com/office/drawing/2014/main" id="{31E76062-B307-B28D-6D09-6AB7455F1C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4" y="453863"/>
            <a:ext cx="3102126" cy="16152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4"/>
          <p:cNvSpPr txBox="1">
            <a:spLocks noGrp="1"/>
          </p:cNvSpPr>
          <p:nvPr>
            <p:ph type="title"/>
          </p:nvPr>
        </p:nvSpPr>
        <p:spPr>
          <a:xfrm>
            <a:off x="274320" y="308799"/>
            <a:ext cx="2560200" cy="15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Learning Log</a:t>
            </a:r>
            <a:endParaRPr/>
          </a:p>
          <a:p>
            <a:pPr marL="0" lvl="0" indent="0" algn="ctr" rtl="0">
              <a:spcBef>
                <a:spcPts val="0"/>
              </a:spcBef>
              <a:spcAft>
                <a:spcPts val="0"/>
              </a:spcAft>
              <a:buNone/>
            </a:pPr>
            <a:r>
              <a:rPr lang="en"/>
              <a:t>Structure</a:t>
            </a:r>
            <a:endParaRPr/>
          </a:p>
        </p:txBody>
      </p:sp>
      <p:sp>
        <p:nvSpPr>
          <p:cNvPr id="109" name="Google Shape;109;p14"/>
          <p:cNvSpPr txBox="1">
            <a:spLocks noGrp="1"/>
          </p:cNvSpPr>
          <p:nvPr>
            <p:ph type="subTitle" idx="1"/>
          </p:nvPr>
        </p:nvSpPr>
        <p:spPr>
          <a:xfrm>
            <a:off x="274320" y="1860700"/>
            <a:ext cx="2560200" cy="301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t>Section A</a:t>
            </a:r>
            <a:endParaRPr sz="1400"/>
          </a:p>
          <a:p>
            <a:pPr marL="182880" lvl="0" indent="-180340" algn="l" rtl="0">
              <a:spcBef>
                <a:spcPts val="0"/>
              </a:spcBef>
              <a:spcAft>
                <a:spcPts val="0"/>
              </a:spcAft>
              <a:buSzPts val="1400"/>
              <a:buChar char="●"/>
            </a:pPr>
            <a:r>
              <a:rPr lang="en" sz="1400"/>
              <a:t>Starting this block</a:t>
            </a:r>
            <a:endParaRPr sz="1400"/>
          </a:p>
          <a:p>
            <a:pPr marL="182880" lvl="0" indent="-180340" algn="l" rtl="0">
              <a:spcBef>
                <a:spcPts val="0"/>
              </a:spcBef>
              <a:spcAft>
                <a:spcPts val="0"/>
              </a:spcAft>
              <a:buSzPts val="1400"/>
              <a:buChar char="●"/>
            </a:pPr>
            <a:r>
              <a:rPr lang="en" sz="1400"/>
              <a:t>Goals</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400"/>
              <a:t>Section B </a:t>
            </a:r>
            <a:endParaRPr sz="1400"/>
          </a:p>
          <a:p>
            <a:pPr marL="182880" lvl="0" indent="-180340" algn="l" rtl="0">
              <a:spcBef>
                <a:spcPts val="0"/>
              </a:spcBef>
              <a:spcAft>
                <a:spcPts val="0"/>
              </a:spcAft>
              <a:buSzPts val="1400"/>
              <a:buChar char="●"/>
            </a:pPr>
            <a:r>
              <a:rPr lang="en" sz="1400"/>
              <a:t>ILO section</a:t>
            </a:r>
            <a:endParaRPr sz="1400"/>
          </a:p>
          <a:p>
            <a:pPr marL="182880" lvl="0" indent="-180340" algn="l" rtl="0">
              <a:spcBef>
                <a:spcPts val="0"/>
              </a:spcBef>
              <a:spcAft>
                <a:spcPts val="0"/>
              </a:spcAft>
              <a:buSzPts val="1400"/>
              <a:buChar char="●"/>
            </a:pPr>
            <a:r>
              <a:rPr lang="en" sz="1400"/>
              <a:t>Week log section</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400"/>
              <a:t>Section C</a:t>
            </a:r>
            <a:endParaRPr sz="1400"/>
          </a:p>
          <a:p>
            <a:pPr marL="182880" lvl="0" indent="-180340" algn="l" rtl="0">
              <a:spcBef>
                <a:spcPts val="0"/>
              </a:spcBef>
              <a:spcAft>
                <a:spcPts val="0"/>
              </a:spcAft>
              <a:buSzPts val="1400"/>
              <a:buChar char="●"/>
            </a:pPr>
            <a:r>
              <a:rPr lang="en" sz="1400"/>
              <a:t>Block reflection</a:t>
            </a:r>
            <a:endParaRPr sz="1400"/>
          </a:p>
        </p:txBody>
      </p:sp>
      <p:sp>
        <p:nvSpPr>
          <p:cNvPr id="110" name="Google Shape;110;p14"/>
          <p:cNvSpPr txBox="1">
            <a:spLocks noGrp="1"/>
          </p:cNvSpPr>
          <p:nvPr>
            <p:ph type="body" idx="2"/>
          </p:nvPr>
        </p:nvSpPr>
        <p:spPr>
          <a:xfrm>
            <a:off x="3383280" y="274320"/>
            <a:ext cx="5486400" cy="45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200" b="1" u="sng"/>
              <a:t>Section A - My Plan		</a:t>
            </a:r>
            <a:r>
              <a:rPr lang="en" i="1"/>
              <a:t>Must be completed in </a:t>
            </a:r>
            <a:r>
              <a:rPr lang="en" i="1" u="sng"/>
              <a:t>week 1</a:t>
            </a:r>
            <a:endParaRPr i="1" u="sng"/>
          </a:p>
          <a:p>
            <a:pPr marL="0" lvl="0" indent="0" algn="l" rtl="0">
              <a:spcBef>
                <a:spcPts val="800"/>
              </a:spcBef>
              <a:spcAft>
                <a:spcPts val="0"/>
              </a:spcAft>
              <a:buNone/>
            </a:pPr>
            <a:r>
              <a:rPr lang="en"/>
              <a:t>Your plan describes your goals for the block. Starting with where you are right now, where do you want to be at the end of the block? I.e. what role(s) will you take responsibility for, and how will you demonstrate progress relevant to the ILOs for this block? What tasks and deliverables are best aligned with your role and the project brief?</a:t>
            </a:r>
            <a:endParaRPr/>
          </a:p>
          <a:p>
            <a:pPr marL="0" lvl="0" indent="0" algn="l" rtl="0">
              <a:spcBef>
                <a:spcPts val="800"/>
              </a:spcBef>
              <a:spcAft>
                <a:spcPts val="0"/>
              </a:spcAft>
              <a:buNone/>
            </a:pPr>
            <a:r>
              <a:rPr lang="en" sz="1200" b="1" u="sng"/>
              <a:t>Section B - ILO’s		</a:t>
            </a:r>
            <a:r>
              <a:rPr lang="en" i="1"/>
              <a:t>Must be completed in </a:t>
            </a:r>
            <a:r>
              <a:rPr lang="en" i="1" u="sng"/>
              <a:t>week 8</a:t>
            </a:r>
            <a:r>
              <a:rPr lang="en" i="1"/>
              <a:t>, but should be updated </a:t>
            </a:r>
            <a:r>
              <a:rPr lang="en" i="1" u="sng"/>
              <a:t>regularly</a:t>
            </a:r>
            <a:endParaRPr i="1" u="sng"/>
          </a:p>
          <a:p>
            <a:pPr marL="0" lvl="0" indent="0" algn="l" rtl="0">
              <a:spcBef>
                <a:spcPts val="800"/>
              </a:spcBef>
              <a:spcAft>
                <a:spcPts val="0"/>
              </a:spcAft>
              <a:buNone/>
            </a:pPr>
            <a:r>
              <a:rPr lang="en"/>
              <a:t>This is where you link your evidence to each of the Intended Learning Outcomes of this block.</a:t>
            </a:r>
            <a:endParaRPr/>
          </a:p>
          <a:p>
            <a:pPr marL="0" lvl="0" indent="0" algn="l" rtl="0">
              <a:spcBef>
                <a:spcPts val="800"/>
              </a:spcBef>
              <a:spcAft>
                <a:spcPts val="0"/>
              </a:spcAft>
              <a:buNone/>
            </a:pPr>
            <a:r>
              <a:rPr lang="en" sz="1200" b="1" u="sng"/>
              <a:t>Section C - Weekly Log	</a:t>
            </a:r>
            <a:r>
              <a:rPr lang="en" i="1"/>
              <a:t>Must be updated </a:t>
            </a:r>
            <a:r>
              <a:rPr lang="en" i="1" u="sng"/>
              <a:t>every week</a:t>
            </a:r>
            <a:endParaRPr i="1" u="sng"/>
          </a:p>
          <a:p>
            <a:pPr marL="0" lvl="0" indent="0" algn="l" rtl="0">
              <a:spcBef>
                <a:spcPts val="800"/>
              </a:spcBef>
              <a:spcAft>
                <a:spcPts val="0"/>
              </a:spcAft>
              <a:buNone/>
            </a:pPr>
            <a:r>
              <a:rPr lang="en"/>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a:p>
          <a:p>
            <a:pPr marL="0" lvl="0" indent="0" algn="l" rtl="0">
              <a:spcBef>
                <a:spcPts val="800"/>
              </a:spcBef>
              <a:spcAft>
                <a:spcPts val="0"/>
              </a:spcAft>
              <a:buNone/>
            </a:pPr>
            <a:r>
              <a:rPr lang="en"/>
              <a:t>In such cases, you simply need to provide links to those artifacts and may include any explanatory comment or reflection you feel is appropriate. </a:t>
            </a:r>
            <a:endParaRPr/>
          </a:p>
          <a:p>
            <a:pPr marL="0" lvl="0" indent="0" algn="l" rtl="0">
              <a:spcBef>
                <a:spcPts val="800"/>
              </a:spcBef>
              <a:spcAft>
                <a:spcPts val="0"/>
              </a:spcAft>
              <a:buNone/>
            </a:pPr>
            <a:r>
              <a:rPr lang="en"/>
              <a:t>(Some reflection is almost always a good idea as it provides the foundation for Section C.)</a:t>
            </a:r>
            <a:endParaRPr/>
          </a:p>
          <a:p>
            <a:pPr marL="0" lvl="0" indent="0" algn="l" rtl="0">
              <a:spcBef>
                <a:spcPts val="800"/>
              </a:spcBef>
              <a:spcAft>
                <a:spcPts val="0"/>
              </a:spcAft>
              <a:buNone/>
            </a:pPr>
            <a:r>
              <a:rPr lang="en" sz="1200" b="1" u="sng"/>
              <a:t>Section D - Reflection	</a:t>
            </a:r>
            <a:r>
              <a:rPr lang="en" i="1"/>
              <a:t>Must be completed in </a:t>
            </a:r>
            <a:r>
              <a:rPr lang="en" i="1" u="sng"/>
              <a:t>week 8</a:t>
            </a:r>
            <a:endParaRPr i="1" u="sng"/>
          </a:p>
          <a:p>
            <a:pPr marL="0" lvl="0" indent="0" algn="l" rtl="0">
              <a:spcBef>
                <a:spcPts val="800"/>
              </a:spcBef>
              <a:spcAft>
                <a:spcPts val="800"/>
              </a:spcAft>
              <a:buNone/>
            </a:pPr>
            <a:r>
              <a:rPr lang="en"/>
              <a:t>Summative reflection on your progress during the block including a critical assessment of everything you did and learned during the block. This is a comprehensive review of everything recorded in Section B, evaluated against the goals and planning laid out in Section 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a:t>
            </a:r>
            <a:endParaRPr sz="6000"/>
          </a:p>
        </p:txBody>
      </p:sp>
      <p:sp>
        <p:nvSpPr>
          <p:cNvPr id="154" name="Google Shape;154;p19"/>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t>Goal Setting</a:t>
            </a:r>
            <a:endParaRPr lang="en-US" sz="3000"/>
          </a:p>
        </p:txBody>
      </p:sp>
      <p:sp>
        <p:nvSpPr>
          <p:cNvPr id="155" name="Google Shape;155;p1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A</a:t>
            </a:r>
            <a:endParaRPr sz="40000">
              <a:solidFill>
                <a:srgbClr val="999999"/>
              </a:solidFill>
              <a:latin typeface="Roboto"/>
              <a:ea typeface="Roboto"/>
              <a:cs typeface="Roboto"/>
              <a:sym typeface="Roboto"/>
            </a:endParaRPr>
          </a:p>
        </p:txBody>
      </p:sp>
      <p:sp>
        <p:nvSpPr>
          <p:cNvPr id="2" name="Rectangle: Rounded Corners 1">
            <a:extLst>
              <a:ext uri="{FF2B5EF4-FFF2-40B4-BE49-F238E27FC236}">
                <a16:creationId xmlns:a16="http://schemas.microsoft.com/office/drawing/2014/main" id="{4E84F48E-9152-454D-9754-FA0D0AD81F68}"/>
              </a:ext>
            </a:extLst>
          </p:cNvPr>
          <p:cNvSpPr/>
          <p:nvPr/>
        </p:nvSpPr>
        <p:spPr>
          <a:xfrm>
            <a:off x="2033752" y="404648"/>
            <a:ext cx="6232634" cy="730469"/>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L" b="1">
                <a:latin typeface="Open Sans" panose="020B0606030504020204" pitchFamily="34" charset="0"/>
                <a:ea typeface="Open Sans" panose="020B0606030504020204" pitchFamily="34" charset="0"/>
                <a:cs typeface="Times New Roman" panose="02020603050405020304" pitchFamily="18" charset="0"/>
              </a:rPr>
              <a:t>In the first week</a:t>
            </a:r>
            <a:r>
              <a:rPr lang="en-NL">
                <a:latin typeface="Open Sans" panose="020B0606030504020204" pitchFamily="34" charset="0"/>
                <a:ea typeface="Open Sans" panose="020B0606030504020204" pitchFamily="34" charset="0"/>
                <a:cs typeface="Times New Roman" panose="02020603050405020304" pitchFamily="18" charset="0"/>
              </a:rPr>
              <a:t>, t</a:t>
            </a:r>
            <a:r>
              <a:rPr lang="en-GB">
                <a:effectLst/>
                <a:latin typeface="Open Sans" panose="020B0606030504020204" pitchFamily="34" charset="0"/>
                <a:ea typeface="Open Sans" panose="020B0606030504020204" pitchFamily="34" charset="0"/>
                <a:cs typeface="Times New Roman" panose="02020603050405020304" pitchFamily="18" charset="0"/>
              </a:rPr>
              <a:t>he student sets ambitious, S.M.A.R.T.</a:t>
            </a:r>
            <a:r>
              <a:rPr lang="en-NL">
                <a:effectLst/>
                <a:latin typeface="Open Sans" panose="020B0606030504020204" pitchFamily="34" charset="0"/>
                <a:ea typeface="Open Sans" panose="020B0606030504020204" pitchFamily="34" charset="0"/>
                <a:cs typeface="Times New Roman" panose="02020603050405020304" pitchFamily="18" charset="0"/>
              </a:rPr>
              <a:t> </a:t>
            </a:r>
            <a:r>
              <a:rPr lang="en-GB">
                <a:effectLst/>
                <a:latin typeface="Open Sans" panose="020B0606030504020204" pitchFamily="34" charset="0"/>
                <a:ea typeface="Open Sans" panose="020B0606030504020204" pitchFamily="34" charset="0"/>
                <a:cs typeface="Times New Roman" panose="02020603050405020304" pitchFamily="18" charset="0"/>
              </a:rPr>
              <a:t>goals in alignment with the project brief, their chosen role(s), content of the assessment rubric and their personal long-term goals</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Where am I starting?</a:t>
            </a:r>
            <a:endParaRPr/>
          </a:p>
        </p:txBody>
      </p:sp>
      <p:sp>
        <p:nvSpPr>
          <p:cNvPr id="123" name="Google Shape;123;p16"/>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1400"/>
              <a:t>1/</a:t>
            </a:r>
            <a:r>
              <a:rPr lang="en"/>
              <a:t>2</a:t>
            </a:r>
            <a:endParaRPr sz="1400"/>
          </a:p>
        </p:txBody>
      </p:sp>
      <p:sp>
        <p:nvSpPr>
          <p:cNvPr id="124" name="Google Shape;124;p16"/>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sp>
        <p:nvSpPr>
          <p:cNvPr id="125" name="Google Shape;125;p16"/>
          <p:cNvSpPr txBox="1">
            <a:spLocks noGrp="1"/>
          </p:cNvSpPr>
          <p:nvPr>
            <p:ph type="subTitle" idx="1"/>
          </p:nvPr>
        </p:nvSpPr>
        <p:spPr>
          <a:xfrm>
            <a:off x="182880" y="682380"/>
            <a:ext cx="87783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Feedback from previous assessment -							</a:t>
            </a:r>
            <a:endParaRPr b="0" i="1"/>
          </a:p>
        </p:txBody>
      </p:sp>
      <p:sp>
        <p:nvSpPr>
          <p:cNvPr id="126" name="Google Shape;126;p16"/>
          <p:cNvSpPr txBox="1">
            <a:spLocks noGrp="1"/>
          </p:cNvSpPr>
          <p:nvPr>
            <p:ph type="body" idx="3"/>
          </p:nvPr>
        </p:nvSpPr>
        <p:spPr>
          <a:xfrm>
            <a:off x="182880" y="1069848"/>
            <a:ext cx="58521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dirty="0"/>
              <a:t>Dear Maks, congratulations on your hard work and passing this block! You completed your assignments with care and showed a solid understanding of the course material. Python exam was missed, but I am fairly certain you can improve your grade if you retake it during the next block. You are a good student, and I'm sure you will be able to do a great job in the near future. In order to achieve even better results,  give yourself more time to revise assignments, begin assignments earlier and</a:t>
            </a:r>
            <a:r>
              <a:rPr lang="pl-PL" dirty="0"/>
              <a:t> </a:t>
            </a:r>
            <a:r>
              <a:rPr lang="en-US" dirty="0"/>
              <a:t>discuss complex topics for more clarification, also additional support is available during </a:t>
            </a:r>
            <a:r>
              <a:rPr lang="en-US" dirty="0" err="1"/>
              <a:t>DataLab</a:t>
            </a:r>
            <a:r>
              <a:rPr lang="en-US" dirty="0"/>
              <a:t> sessions. Best of luck to you, </a:t>
            </a:r>
            <a:r>
              <a:rPr lang="en-US" dirty="0" err="1"/>
              <a:t>Peiman</a:t>
            </a:r>
            <a:r>
              <a:rPr lang="en-US" dirty="0"/>
              <a:t>.</a:t>
            </a:r>
            <a:endParaRPr dirty="0"/>
          </a:p>
          <a:p>
            <a:pPr marL="0" lvl="0" indent="0" algn="just" rtl="0">
              <a:spcBef>
                <a:spcPts val="800"/>
              </a:spcBef>
              <a:spcAft>
                <a:spcPts val="0"/>
              </a:spcAft>
              <a:buNone/>
            </a:pPr>
            <a:r>
              <a:rPr lang="en" sz="1400" b="1" dirty="0"/>
              <a:t>My interpretation / key takeaways</a:t>
            </a:r>
            <a:endParaRPr sz="1400" b="1" dirty="0"/>
          </a:p>
          <a:p>
            <a:pPr marL="0" lvl="0" indent="0" algn="just" rtl="0">
              <a:spcBef>
                <a:spcPts val="800"/>
              </a:spcBef>
              <a:spcAft>
                <a:spcPts val="800"/>
              </a:spcAft>
              <a:buNone/>
            </a:pPr>
            <a:r>
              <a:rPr lang="pl-PL" dirty="0"/>
              <a:t>I have done what was expected of me, but I can work on the progress of achieving those results. I need to begin the „reflection” part of my work earlier and can have more time to complete them. I can also ask fo assistance if I don’t know how to do something. I also need to do the python exam which I missed due to sickness.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is my plan?</a:t>
            </a:r>
            <a:endParaRPr/>
          </a:p>
        </p:txBody>
      </p:sp>
      <p:sp>
        <p:nvSpPr>
          <p:cNvPr id="133" name="Google Shape;133;p17"/>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34" name="Google Shape;134;p17"/>
          <p:cNvSpPr txBox="1">
            <a:spLocks noGrp="1"/>
          </p:cNvSpPr>
          <p:nvPr>
            <p:ph type="subTitle" idx="1"/>
          </p:nvPr>
        </p:nvSpPr>
        <p:spPr>
          <a:xfrm>
            <a:off x="182873" y="667500"/>
            <a:ext cx="87783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I learned last block -													     Previous block’s grade</a:t>
            </a:r>
            <a:endParaRPr/>
          </a:p>
        </p:txBody>
      </p:sp>
      <p:sp>
        <p:nvSpPr>
          <p:cNvPr id="135" name="Google Shape;135;p17"/>
          <p:cNvSpPr txBox="1">
            <a:spLocks noGrp="1"/>
          </p:cNvSpPr>
          <p:nvPr>
            <p:ph type="body" idx="3"/>
          </p:nvPr>
        </p:nvSpPr>
        <p:spPr>
          <a:xfrm>
            <a:off x="182880" y="1069848"/>
            <a:ext cx="58521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dirty="0"/>
              <a:t>...</a:t>
            </a:r>
            <a:endParaRPr dirty="0"/>
          </a:p>
          <a:p>
            <a:pPr marL="0" lvl="0" indent="0" algn="just" rtl="0">
              <a:spcBef>
                <a:spcPts val="800"/>
              </a:spcBef>
              <a:spcAft>
                <a:spcPts val="0"/>
              </a:spcAft>
              <a:buNone/>
            </a:pPr>
            <a:endParaRPr dirty="0"/>
          </a:p>
          <a:p>
            <a:pPr marL="0" lvl="0" indent="0" algn="just" rtl="0">
              <a:spcBef>
                <a:spcPts val="800"/>
              </a:spcBef>
              <a:spcAft>
                <a:spcPts val="0"/>
              </a:spcAft>
              <a:buNone/>
            </a:pPr>
            <a:r>
              <a:rPr lang="en" sz="1400" b="1" dirty="0"/>
              <a:t>My current level of progress</a:t>
            </a:r>
            <a:endParaRPr sz="1400" b="1" dirty="0"/>
          </a:p>
          <a:p>
            <a:pPr marL="0" lvl="0" indent="0" algn="l" rtl="0">
              <a:spcBef>
                <a:spcPts val="800"/>
              </a:spcBef>
              <a:spcAft>
                <a:spcPts val="800"/>
              </a:spcAft>
              <a:buNone/>
            </a:pPr>
            <a:r>
              <a:rPr lang="pl-PL" dirty="0"/>
              <a:t>I gave myself a 6.1 last block in the reflection and got a 6.91 at the end. Both of these are still without the Python exam which can give up to 2.0 points higher, although I suspect I will get somewhere between 0.5-1.5 based on the next month.</a:t>
            </a:r>
            <a:endParaRPr dirty="0"/>
          </a:p>
        </p:txBody>
      </p:sp>
      <p:sp>
        <p:nvSpPr>
          <p:cNvPr id="136" name="Google Shape;136;p17"/>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sp>
        <p:nvSpPr>
          <p:cNvPr id="137" name="Google Shape;137;p17"/>
          <p:cNvSpPr txBox="1"/>
          <p:nvPr/>
        </p:nvSpPr>
        <p:spPr>
          <a:xfrm>
            <a:off x="6217920" y="3593592"/>
            <a:ext cx="2743200" cy="13710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lnSpc>
                <a:spcPct val="104000"/>
              </a:lnSpc>
              <a:spcBef>
                <a:spcPts val="0"/>
              </a:spcBef>
              <a:spcAft>
                <a:spcPts val="0"/>
              </a:spcAft>
              <a:buNone/>
            </a:pPr>
            <a:r>
              <a:rPr lang="en" b="1">
                <a:solidFill>
                  <a:srgbClr val="434343"/>
                </a:solidFill>
                <a:latin typeface="Roboto"/>
                <a:ea typeface="Roboto"/>
                <a:cs typeface="Roboto"/>
                <a:sym typeface="Roboto"/>
              </a:rPr>
              <a:t>Links</a:t>
            </a:r>
            <a:endParaRPr>
              <a:solidFill>
                <a:srgbClr val="434343"/>
              </a:solidFill>
              <a:latin typeface="Roboto"/>
              <a:ea typeface="Roboto"/>
              <a:cs typeface="Roboto"/>
              <a:sym typeface="Roboto"/>
            </a:endParaRPr>
          </a:p>
          <a:p>
            <a:pPr marL="0" lvl="0" indent="0" algn="l" rtl="0">
              <a:lnSpc>
                <a:spcPct val="104000"/>
              </a:lnSpc>
              <a:spcBef>
                <a:spcPts val="800"/>
              </a:spcBef>
              <a:spcAft>
                <a:spcPts val="800"/>
              </a:spcAft>
              <a:buNone/>
            </a:pPr>
            <a:r>
              <a:rPr lang="en" sz="1000">
                <a:solidFill>
                  <a:srgbClr val="434343"/>
                </a:solidFill>
                <a:latin typeface="Roboto"/>
                <a:ea typeface="Roboto"/>
                <a:cs typeface="Roboto"/>
                <a:sym typeface="Roboto"/>
              </a:rPr>
              <a:t>...</a:t>
            </a:r>
            <a:endParaRPr sz="1000">
              <a:solidFill>
                <a:srgbClr val="434343"/>
              </a:solidFill>
              <a:latin typeface="Roboto"/>
              <a:ea typeface="Roboto"/>
              <a:cs typeface="Roboto"/>
              <a:sym typeface="Roboto"/>
            </a:endParaRPr>
          </a:p>
        </p:txBody>
      </p:sp>
      <p:sp>
        <p:nvSpPr>
          <p:cNvPr id="138" name="Google Shape;138;p17"/>
          <p:cNvSpPr txBox="1"/>
          <p:nvPr/>
        </p:nvSpPr>
        <p:spPr>
          <a:xfrm>
            <a:off x="7918704" y="667500"/>
            <a:ext cx="1133796" cy="64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3600" b="1" dirty="0">
                <a:solidFill>
                  <a:srgbClr val="434343"/>
                </a:solidFill>
                <a:latin typeface="Roboto"/>
                <a:ea typeface="Roboto"/>
                <a:cs typeface="Roboto"/>
                <a:sym typeface="Roboto"/>
              </a:rPr>
              <a:t>6</a:t>
            </a:r>
            <a:r>
              <a:rPr lang="en" sz="3600" b="1" dirty="0">
                <a:solidFill>
                  <a:srgbClr val="434343"/>
                </a:solidFill>
                <a:latin typeface="Roboto"/>
                <a:ea typeface="Roboto"/>
                <a:cs typeface="Roboto"/>
                <a:sym typeface="Roboto"/>
              </a:rPr>
              <a:t>.</a:t>
            </a:r>
            <a:r>
              <a:rPr lang="pl-PL" sz="3600" b="1" dirty="0">
                <a:solidFill>
                  <a:srgbClr val="434343"/>
                </a:solidFill>
                <a:latin typeface="Roboto"/>
                <a:ea typeface="Roboto"/>
                <a:cs typeface="Roboto"/>
                <a:sym typeface="Roboto"/>
              </a:rPr>
              <a:t>91</a:t>
            </a:r>
            <a:endParaRPr sz="3600" b="1" dirty="0">
              <a:solidFill>
                <a:srgbClr val="434343"/>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8"/>
          <p:cNvSpPr txBox="1">
            <a:spLocks noGrp="1"/>
          </p:cNvSpPr>
          <p:nvPr>
            <p:ph type="body" idx="3"/>
          </p:nvPr>
        </p:nvSpPr>
        <p:spPr>
          <a:xfrm>
            <a:off x="3108950" y="1069812"/>
            <a:ext cx="5852100" cy="388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l-PL" dirty="0"/>
              <a:t>Making sure I get the 320 hours of work expected of me this block.</a:t>
            </a:r>
            <a:endParaRPr dirty="0"/>
          </a:p>
          <a:p>
            <a:pPr marL="0" lvl="0" indent="0" algn="l" rtl="0">
              <a:spcBef>
                <a:spcPts val="800"/>
              </a:spcBef>
              <a:spcAft>
                <a:spcPts val="0"/>
              </a:spcAft>
              <a:buNone/>
            </a:pPr>
            <a:endParaRPr dirty="0"/>
          </a:p>
          <a:p>
            <a:pPr marL="0" lvl="0" indent="0" algn="l" rtl="0">
              <a:spcBef>
                <a:spcPts val="800"/>
              </a:spcBef>
              <a:spcAft>
                <a:spcPts val="0"/>
              </a:spcAft>
              <a:buNone/>
            </a:pPr>
            <a:r>
              <a:rPr lang="en" sz="1400" b="1" dirty="0"/>
              <a:t>Personal and professional development goals</a:t>
            </a:r>
            <a:endParaRPr sz="1400" b="1" dirty="0"/>
          </a:p>
          <a:p>
            <a:pPr marL="0" lvl="0" indent="0" algn="just" rtl="0">
              <a:spcBef>
                <a:spcPts val="800"/>
              </a:spcBef>
              <a:spcAft>
                <a:spcPts val="800"/>
              </a:spcAft>
              <a:buNone/>
            </a:pPr>
            <a:r>
              <a:rPr lang="pl-PL" dirty="0"/>
              <a:t>First goal is to reach the 320 hours. I should aim for getting 40 hours of work each week and if I don’t reach it, I need to compensate for that by doing more work next week.</a:t>
            </a:r>
          </a:p>
          <a:p>
            <a:pPr marL="0" lvl="0" indent="0" algn="just" rtl="0">
              <a:spcBef>
                <a:spcPts val="800"/>
              </a:spcBef>
              <a:spcAft>
                <a:spcPts val="800"/>
              </a:spcAft>
              <a:buNone/>
            </a:pPr>
            <a:endParaRPr dirty="0"/>
          </a:p>
        </p:txBody>
      </p:sp>
      <p:sp>
        <p:nvSpPr>
          <p:cNvPr id="144" name="Google Shape;144;p18"/>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are my goals?</a:t>
            </a:r>
            <a:endParaRPr/>
          </a:p>
        </p:txBody>
      </p:sp>
      <p:sp>
        <p:nvSpPr>
          <p:cNvPr id="145" name="Google Shape;145;p18"/>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1/1</a:t>
            </a:r>
            <a:endParaRPr/>
          </a:p>
        </p:txBody>
      </p:sp>
      <p:sp>
        <p:nvSpPr>
          <p:cNvPr id="146" name="Google Shape;146;p18"/>
          <p:cNvSpPr txBox="1">
            <a:spLocks noGrp="1"/>
          </p:cNvSpPr>
          <p:nvPr>
            <p:ph type="subTitle" idx="1"/>
          </p:nvPr>
        </p:nvSpPr>
        <p:spPr>
          <a:xfrm>
            <a:off x="3108960" y="667512"/>
            <a:ext cx="58521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I am taking responsibility for</a:t>
            </a:r>
            <a:r>
              <a:rPr lang="en" b="0" i="1"/>
              <a:t> (if multiple add in percentages)</a:t>
            </a:r>
            <a:endParaRPr b="0" i="1"/>
          </a:p>
        </p:txBody>
      </p:sp>
      <p:sp>
        <p:nvSpPr>
          <p:cNvPr id="147" name="Google Shape;147;p18"/>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graphicFrame>
        <p:nvGraphicFramePr>
          <p:cNvPr id="148" name="Google Shape;148;p18"/>
          <p:cNvGraphicFramePr/>
          <p:nvPr>
            <p:extLst>
              <p:ext uri="{D42A27DB-BD31-4B8C-83A1-F6EECF244321}">
                <p14:modId xmlns:p14="http://schemas.microsoft.com/office/powerpoint/2010/main" val="2727034024"/>
              </p:ext>
            </p:extLst>
          </p:nvPr>
        </p:nvGraphicFramePr>
        <p:xfrm>
          <a:off x="182880" y="658368"/>
          <a:ext cx="2740000" cy="4297700"/>
        </p:xfrm>
        <a:graphic>
          <a:graphicData uri="http://schemas.openxmlformats.org/drawingml/2006/table">
            <a:tbl>
              <a:tblPr>
                <a:noFill/>
                <a:tableStyleId>{764D4AE7-FFBC-431D-9275-528F30A785D3}</a:tableStyleId>
              </a:tblPr>
              <a:tblGrid>
                <a:gridCol w="587150">
                  <a:extLst>
                    <a:ext uri="{9D8B030D-6E8A-4147-A177-3AD203B41FA5}">
                      <a16:colId xmlns:a16="http://schemas.microsoft.com/office/drawing/2014/main" val="20000"/>
                    </a:ext>
                  </a:extLst>
                </a:gridCol>
                <a:gridCol w="2152850">
                  <a:extLst>
                    <a:ext uri="{9D8B030D-6E8A-4147-A177-3AD203B41FA5}">
                      <a16:colId xmlns:a16="http://schemas.microsoft.com/office/drawing/2014/main" val="20001"/>
                    </a:ext>
                  </a:extLst>
                </a:gridCol>
              </a:tblGrid>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S</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4125"/>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Specific:</a:t>
                      </a:r>
                      <a:r>
                        <a:rPr lang="en" sz="600">
                          <a:latin typeface="Roboto"/>
                          <a:ea typeface="Roboto"/>
                          <a:cs typeface="Roboto"/>
                          <a:sym typeface="Roboto"/>
                        </a:rPr>
                        <a:t> Be specific when determining your goal. The more specific the better. Putting a real figure to your goal helps make it measurable. When specific and measurable your subconscious mind cannot override your goals, they become achievable.</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M</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06666"/>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Measurable:</a:t>
                      </a:r>
                      <a:r>
                        <a:rPr lang="en" sz="600">
                          <a:latin typeface="Roboto"/>
                          <a:ea typeface="Roboto"/>
                          <a:cs typeface="Roboto"/>
                          <a:sym typeface="Roboto"/>
                        </a:rPr>
                        <a:t> This where you define a measurable and meaningful goal. It’s important to be able to track your progress. Without meaningful and measurable goals which you can track it’s easy to lose heart and focus.</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1"/>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A</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Achievable:</a:t>
                      </a:r>
                      <a:r>
                        <a:rPr lang="en" sz="600">
                          <a:latin typeface="Roboto"/>
                          <a:ea typeface="Roboto"/>
                          <a:cs typeface="Roboto"/>
                          <a:sym typeface="Roboto"/>
                        </a:rPr>
                        <a:t> Choosing realistic and short-term goals helps them be more achievable. Long-term goals can be larger and take more time to achieve. Planning smaller short-term goals as steps to larger long-term goals assists in achieving them.</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2"/>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R</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D966"/>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Relevant:</a:t>
                      </a:r>
                      <a:r>
                        <a:rPr lang="en" sz="600">
                          <a:latin typeface="Roboto"/>
                          <a:ea typeface="Roboto"/>
                          <a:cs typeface="Roboto"/>
                          <a:sym typeface="Roboto"/>
                        </a:rPr>
                        <a:t> Each goal you set must be in line with your core values and in harmony with what YOU want out of life. Contradictions in values and goals leads to frustration and loss of motivation. Designing your goals with the expectation of your personal success.</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3"/>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T</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93C47D"/>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Time-Bound:</a:t>
                      </a:r>
                      <a:r>
                        <a:rPr lang="en" sz="600">
                          <a:latin typeface="Roboto"/>
                          <a:ea typeface="Roboto"/>
                          <a:cs typeface="Roboto"/>
                          <a:sym typeface="Roboto"/>
                        </a:rPr>
                        <a:t> Setting a time limit on achieving a goal makes it measurable. When a goal is measurable you can SEE your progress and support your motivation and commitment. Giving your goal a time limit assists you in holding yourself accountable to its completion.</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4"/>
                  </a:ext>
                </a:extLst>
              </a:tr>
              <a:tr h="683725">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E</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76A5AF"/>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Evaluate:</a:t>
                      </a:r>
                      <a:r>
                        <a:rPr lang="en" sz="600">
                          <a:latin typeface="Roboto"/>
                          <a:ea typeface="Roboto"/>
                          <a:cs typeface="Roboto"/>
                          <a:sym typeface="Roboto"/>
                        </a:rPr>
                        <a:t> By evaluating your goals on a regular basis you will be much more likely to achieve them. It is easy to forget about long-term goals if they are not revisited from time to time. This also helps you assess if the goal you are working on remains in line with your core values and helps you measure your progress.</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5"/>
                  </a:ext>
                </a:extLst>
              </a:tr>
              <a:tr h="683725">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R</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6D9EEB"/>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Readjust:</a:t>
                      </a:r>
                      <a:r>
                        <a:rPr lang="en" sz="600">
                          <a:latin typeface="Roboto"/>
                          <a:ea typeface="Roboto"/>
                          <a:cs typeface="Roboto"/>
                          <a:sym typeface="Roboto"/>
                        </a:rPr>
                        <a:t> Readjustments occur when goals are determined, through re-evaluation, to be misaligned with your values or long-term goals. This is especially helpful when you have been unable to achieve a goal in the time limits you set. This gives you the opportunity to modify your approach and increase your chances of success.</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
              <a:t>B</a:t>
            </a:r>
            <a:endParaRPr sz="6000"/>
          </a:p>
        </p:txBody>
      </p:sp>
      <p:sp>
        <p:nvSpPr>
          <p:cNvPr id="154" name="Google Shape;154;p19"/>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Progress Log</a:t>
            </a:r>
            <a:endParaRPr lang="en-US" sz="3000"/>
          </a:p>
        </p:txBody>
      </p:sp>
      <p:sp>
        <p:nvSpPr>
          <p:cNvPr id="155" name="Google Shape;155;p1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B</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53072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a:t>Week 1 - Log</a:t>
            </a:r>
            <a:endParaRPr lang="en-US"/>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What goal(s) did you set for this week?</a:t>
            </a:r>
            <a:endParaRPr lang="pl-PL" b="1" dirty="0"/>
          </a:p>
          <a:p>
            <a:pPr marL="182880" lvl="0" indent="-154940" algn="l" rtl="0">
              <a:spcBef>
                <a:spcPts val="0"/>
              </a:spcBef>
              <a:spcAft>
                <a:spcPts val="0"/>
              </a:spcAft>
              <a:buSzPts val="1000"/>
              <a:buChar char="●"/>
            </a:pPr>
            <a:r>
              <a:rPr lang="pl-PL" dirty="0"/>
              <a:t>My goal this week is to just find my footing with this block and know and figure what this block is about.</a:t>
            </a:r>
          </a:p>
          <a:p>
            <a:pPr marL="182880" lvl="0" indent="-154940" algn="l" rtl="0">
              <a:spcBef>
                <a:spcPts val="0"/>
              </a:spcBef>
              <a:spcAft>
                <a:spcPts val="0"/>
              </a:spcAft>
              <a:buSzPts val="1000"/>
              <a:buChar char="●"/>
            </a:pPr>
            <a:r>
              <a:rPr lang="en" b="1" dirty="0"/>
              <a:t>What have you actually been able to do? </a:t>
            </a:r>
            <a:endParaRPr b="1" dirty="0"/>
          </a:p>
          <a:p>
            <a:pPr marL="182880" lvl="0" indent="-154940" algn="l" rtl="0">
              <a:spcBef>
                <a:spcPts val="0"/>
              </a:spcBef>
              <a:spcAft>
                <a:spcPts val="0"/>
              </a:spcAft>
              <a:buSzPts val="1000"/>
              <a:buChar char="●"/>
            </a:pPr>
            <a:r>
              <a:rPr lang="en" b="1" dirty="0"/>
              <a:t>Showcase the evidence of your progress (production artifacts, short descriptions-links-pictures animated gifs, etc.)</a:t>
            </a:r>
            <a:endParaRPr b="1" dirty="0"/>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How did the week go? </a:t>
            </a:r>
            <a:endParaRPr b="1" dirty="0"/>
          </a:p>
          <a:p>
            <a:pPr marL="182880" lvl="0" indent="-154940" algn="l" rtl="0">
              <a:spcBef>
                <a:spcPts val="0"/>
              </a:spcBef>
              <a:spcAft>
                <a:spcPts val="0"/>
              </a:spcAft>
              <a:buSzPts val="1000"/>
              <a:buChar char="●"/>
            </a:pPr>
            <a:r>
              <a:rPr lang="en" b="1" dirty="0"/>
              <a:t>What went well? </a:t>
            </a:r>
            <a:endParaRPr b="1" dirty="0"/>
          </a:p>
          <a:p>
            <a:pPr marL="182880" lvl="0" indent="-154940" algn="l" rtl="0">
              <a:spcBef>
                <a:spcPts val="0"/>
              </a:spcBef>
              <a:spcAft>
                <a:spcPts val="0"/>
              </a:spcAft>
              <a:buSzPts val="1000"/>
              <a:buChar char="●"/>
            </a:pPr>
            <a:r>
              <a:rPr lang="en" b="1" dirty="0"/>
              <a:t>What didn’t go so well? </a:t>
            </a:r>
            <a:endParaRPr b="1" dirty="0"/>
          </a:p>
          <a:p>
            <a:pPr marL="182880" lvl="0" indent="-154940" algn="l" rtl="0">
              <a:spcBef>
                <a:spcPts val="0"/>
              </a:spcBef>
              <a:spcAft>
                <a:spcPts val="0"/>
              </a:spcAft>
              <a:buSzPts val="1000"/>
              <a:buChar char="●"/>
            </a:pPr>
            <a:r>
              <a:rPr lang="en" b="1" dirty="0"/>
              <a:t>What did you learn? </a:t>
            </a:r>
            <a:endParaRPr b="1" dirty="0"/>
          </a:p>
          <a:p>
            <a:pPr marL="182880" lvl="0" indent="-154940" algn="l" rtl="0">
              <a:spcBef>
                <a:spcPts val="0"/>
              </a:spcBef>
              <a:spcAft>
                <a:spcPts val="0"/>
              </a:spcAft>
              <a:buSzPts val="1000"/>
              <a:buChar char="●"/>
            </a:pPr>
            <a:r>
              <a:rPr lang="en" b="1" dirty="0"/>
              <a:t>What could be added as an Action point looking forward to next week?</a:t>
            </a:r>
            <a:endParaRPr b="1"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1 - Feedback</a:t>
            </a:r>
            <a:endParaRPr/>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indent="0">
              <a:spcBef>
                <a:spcPts val="800"/>
              </a:spcBef>
              <a:spcAft>
                <a:spcPts val="800"/>
              </a:spcAft>
              <a:buNone/>
            </a:pPr>
            <a:r>
              <a:rPr lang="en"/>
              <a:t>Response</a:t>
            </a:r>
            <a:r>
              <a:rPr lang="en-US"/>
              <a:t> to Feedback</a:t>
            </a:r>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2" name="TextBox 1">
            <a:extLst>
              <a:ext uri="{FF2B5EF4-FFF2-40B4-BE49-F238E27FC236}">
                <a16:creationId xmlns:a16="http://schemas.microsoft.com/office/drawing/2014/main" id="{7D431F1F-F634-7FA5-06F3-E9A2BA1F45DE}"/>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4"/>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2</a:t>
            </a:r>
            <a:r>
              <a:rPr lang="en"/>
              <a:t> - Log</a:t>
            </a:r>
            <a:endParaRPr/>
          </a:p>
        </p:txBody>
      </p:sp>
      <p:sp>
        <p:nvSpPr>
          <p:cNvPr id="203" name="Google Shape;203;p24"/>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04" name="Google Shape;204;p24"/>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05" name="Google Shape;205;p24"/>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206" name="Google Shape;206;p24"/>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207" name="Google Shape;207;p24"/>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08" name="Google Shape;208;p24"/>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2</a:t>
            </a:r>
            <a:endParaRPr/>
          </a:p>
        </p:txBody>
      </p:sp>
      <p:sp>
        <p:nvSpPr>
          <p:cNvPr id="209" name="Google Shape;209;p24"/>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5"/>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2</a:t>
            </a:r>
            <a:r>
              <a:rPr lang="en"/>
              <a:t> - Feedback</a:t>
            </a:r>
            <a:endParaRPr/>
          </a:p>
        </p:txBody>
      </p:sp>
      <p:sp>
        <p:nvSpPr>
          <p:cNvPr id="215" name="Google Shape;215;p25"/>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16" name="Google Shape;216;p25"/>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17" name="Google Shape;217;p25"/>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218" name="Google Shape;218;p25"/>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sp>
        <p:nvSpPr>
          <p:cNvPr id="3" name="TextBox 2">
            <a:extLst>
              <a:ext uri="{FF2B5EF4-FFF2-40B4-BE49-F238E27FC236}">
                <a16:creationId xmlns:a16="http://schemas.microsoft.com/office/drawing/2014/main" id="{7D5AE459-3211-19C1-863E-F7D4FCF34B40}"/>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3</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3</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4" name="TextBox 3">
            <a:extLst>
              <a:ext uri="{FF2B5EF4-FFF2-40B4-BE49-F238E27FC236}">
                <a16:creationId xmlns:a16="http://schemas.microsoft.com/office/drawing/2014/main" id="{B57E298E-ACB0-12CF-E259-08EB25F8A491}"/>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4</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4</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9973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4</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4</a:t>
            </a:r>
            <a:endParaRPr/>
          </a:p>
        </p:txBody>
      </p:sp>
      <p:sp>
        <p:nvSpPr>
          <p:cNvPr id="4" name="TextBox 3">
            <a:extLst>
              <a:ext uri="{FF2B5EF4-FFF2-40B4-BE49-F238E27FC236}">
                <a16:creationId xmlns:a16="http://schemas.microsoft.com/office/drawing/2014/main" id="{341C5D24-F975-BDE2-7D7B-0ECA5573EF8A}"/>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extLst>
      <p:ext uri="{BB962C8B-B14F-4D97-AF65-F5344CB8AC3E}">
        <p14:creationId xmlns:p14="http://schemas.microsoft.com/office/powerpoint/2010/main" val="3366952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5</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5</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31408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5</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5</a:t>
            </a:r>
            <a:endParaRPr/>
          </a:p>
        </p:txBody>
      </p:sp>
      <p:sp>
        <p:nvSpPr>
          <p:cNvPr id="4" name="TextBox 3">
            <a:extLst>
              <a:ext uri="{FF2B5EF4-FFF2-40B4-BE49-F238E27FC236}">
                <a16:creationId xmlns:a16="http://schemas.microsoft.com/office/drawing/2014/main" id="{99718CE5-D4B9-5703-2F5D-70C535C4D7E0}"/>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extLst>
      <p:ext uri="{BB962C8B-B14F-4D97-AF65-F5344CB8AC3E}">
        <p14:creationId xmlns:p14="http://schemas.microsoft.com/office/powerpoint/2010/main" val="16006896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6</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6</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3163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6</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6</a:t>
            </a:r>
            <a:endParaRPr/>
          </a:p>
        </p:txBody>
      </p:sp>
      <p:sp>
        <p:nvSpPr>
          <p:cNvPr id="4" name="TextBox 3">
            <a:extLst>
              <a:ext uri="{FF2B5EF4-FFF2-40B4-BE49-F238E27FC236}">
                <a16:creationId xmlns:a16="http://schemas.microsoft.com/office/drawing/2014/main" id="{4AB08CE0-9533-DFE2-D89E-D9E289BD7CD8}"/>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extLst>
      <p:ext uri="{BB962C8B-B14F-4D97-AF65-F5344CB8AC3E}">
        <p14:creationId xmlns:p14="http://schemas.microsoft.com/office/powerpoint/2010/main" val="2397875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7</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7</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25466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7</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7</a:t>
            </a:r>
            <a:endParaRPr/>
          </a:p>
        </p:txBody>
      </p:sp>
      <p:sp>
        <p:nvSpPr>
          <p:cNvPr id="4" name="TextBox 3">
            <a:extLst>
              <a:ext uri="{FF2B5EF4-FFF2-40B4-BE49-F238E27FC236}">
                <a16:creationId xmlns:a16="http://schemas.microsoft.com/office/drawing/2014/main" id="{8058A61B-E4F8-64BA-11B4-82E7C0FE3D5C}"/>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extLst>
      <p:ext uri="{BB962C8B-B14F-4D97-AF65-F5344CB8AC3E}">
        <p14:creationId xmlns:p14="http://schemas.microsoft.com/office/powerpoint/2010/main" val="6282947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8</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8</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8202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8</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8</a:t>
            </a:r>
            <a:endParaRPr/>
          </a:p>
        </p:txBody>
      </p:sp>
      <p:sp>
        <p:nvSpPr>
          <p:cNvPr id="4" name="TextBox 3">
            <a:extLst>
              <a:ext uri="{FF2B5EF4-FFF2-40B4-BE49-F238E27FC236}">
                <a16:creationId xmlns:a16="http://schemas.microsoft.com/office/drawing/2014/main" id="{E4C397CE-AA8E-75FA-B537-08E4745DD9B7}"/>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extLst>
      <p:ext uri="{BB962C8B-B14F-4D97-AF65-F5344CB8AC3E}">
        <p14:creationId xmlns:p14="http://schemas.microsoft.com/office/powerpoint/2010/main" val="36579777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8"/>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NL" sz="6000"/>
              <a:t>C</a:t>
            </a:r>
            <a:endParaRPr sz="6000"/>
          </a:p>
        </p:txBody>
      </p:sp>
      <p:sp>
        <p:nvSpPr>
          <p:cNvPr id="357" name="Google Shape;357;p38"/>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Progress</a:t>
            </a:r>
            <a:endParaRPr/>
          </a:p>
          <a:p>
            <a:pPr marL="0" lvl="0" indent="0" algn="ctr" rtl="0">
              <a:spcBef>
                <a:spcPts val="0"/>
              </a:spcBef>
              <a:spcAft>
                <a:spcPts val="0"/>
              </a:spcAft>
              <a:buNone/>
            </a:pPr>
            <a:r>
              <a:rPr lang="en"/>
              <a:t>Intended Learning Outcomes</a:t>
            </a:r>
            <a:endParaRPr sz="3000"/>
          </a:p>
        </p:txBody>
      </p:sp>
      <p:sp>
        <p:nvSpPr>
          <p:cNvPr id="358" name="Google Shape;358;p38"/>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NL" sz="40000">
                <a:solidFill>
                  <a:srgbClr val="999999"/>
                </a:solidFill>
                <a:latin typeface="Roboto"/>
                <a:ea typeface="Roboto"/>
                <a:cs typeface="Roboto"/>
                <a:sym typeface="Roboto"/>
              </a:rPr>
              <a:t>C</a:t>
            </a:r>
            <a:endParaRPr sz="40000">
              <a:solidFill>
                <a:srgbClr val="999999"/>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a:t>
            </a:r>
            <a:r>
              <a:rPr lang="en-US"/>
              <a:t>0.2</a:t>
            </a:r>
            <a:endParaRPr/>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Foundational skills</a:t>
            </a:r>
            <a:endParaRPr/>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pPr marL="0" indent="0"/>
            <a:r>
              <a:rPr lang="en-US"/>
              <a:t>The student masters the foundational skills and knowledge that form the basis of Data Science and Artificial Intelligence.  </a:t>
            </a:r>
            <a:endParaRPr lang="en"/>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sym typeface="Roboto"/>
              </a:rPr>
              <a:t>0</a:t>
            </a:r>
            <a:endParaRPr sz="40000">
              <a:solidFill>
                <a:srgbClr val="999999"/>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a:t>
            </a:r>
            <a:r>
              <a:rPr lang="en-US"/>
              <a:t>0</a:t>
            </a:r>
            <a:endParaRPr/>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p>
            <a:pPr marL="0" indent="0"/>
            <a:r>
              <a:rPr lang="en-US" sz="1050"/>
              <a:t>The student masters the foundational skills and knowledge that form the basis of Data Science and Artificial Intelligence.  </a:t>
            </a:r>
            <a:endParaRPr lang="en-GB"/>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0.2</a:t>
            </a:r>
            <a:endParaRPr/>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r>
              <a:rPr lang="en-US" i="0"/>
              <a:t>The students is able to demonstrate an advanced understanding of python programming concepts and basics of SQL.</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a:t>Foundational skills</a:t>
            </a:r>
            <a:endParaRPr sz="900"/>
          </a:p>
        </p:txBody>
      </p:sp>
      <p:graphicFrame>
        <p:nvGraphicFramePr>
          <p:cNvPr id="4" name="Table 3">
            <a:extLst>
              <a:ext uri="{FF2B5EF4-FFF2-40B4-BE49-F238E27FC236}">
                <a16:creationId xmlns:a16="http://schemas.microsoft.com/office/drawing/2014/main" id="{88237E1D-86A5-F036-5877-8DE06B55CF72}"/>
              </a:ext>
            </a:extLst>
          </p:cNvPr>
          <p:cNvGraphicFramePr>
            <a:graphicFrameLocks noGrp="1"/>
          </p:cNvGraphicFramePr>
          <p:nvPr>
            <p:extLst>
              <p:ext uri="{D42A27DB-BD31-4B8C-83A1-F6EECF244321}">
                <p14:modId xmlns:p14="http://schemas.microsoft.com/office/powerpoint/2010/main" val="4185191198"/>
              </p:ext>
            </p:extLst>
          </p:nvPr>
        </p:nvGraphicFramePr>
        <p:xfrm>
          <a:off x="0" y="1069800"/>
          <a:ext cx="9139639" cy="4872981"/>
        </p:xfrm>
        <a:graphic>
          <a:graphicData uri="http://schemas.openxmlformats.org/drawingml/2006/table">
            <a:tbl>
              <a:tblPr/>
              <a:tblGrid>
                <a:gridCol w="1827039">
                  <a:extLst>
                    <a:ext uri="{9D8B030D-6E8A-4147-A177-3AD203B41FA5}">
                      <a16:colId xmlns:a16="http://schemas.microsoft.com/office/drawing/2014/main" val="155233656"/>
                    </a:ext>
                  </a:extLst>
                </a:gridCol>
                <a:gridCol w="1462520">
                  <a:extLst>
                    <a:ext uri="{9D8B030D-6E8A-4147-A177-3AD203B41FA5}">
                      <a16:colId xmlns:a16="http://schemas.microsoft.com/office/drawing/2014/main" val="2278356070"/>
                    </a:ext>
                  </a:extLst>
                </a:gridCol>
                <a:gridCol w="1462520">
                  <a:extLst>
                    <a:ext uri="{9D8B030D-6E8A-4147-A177-3AD203B41FA5}">
                      <a16:colId xmlns:a16="http://schemas.microsoft.com/office/drawing/2014/main" val="1234828313"/>
                    </a:ext>
                  </a:extLst>
                </a:gridCol>
                <a:gridCol w="1462520">
                  <a:extLst>
                    <a:ext uri="{9D8B030D-6E8A-4147-A177-3AD203B41FA5}">
                      <a16:colId xmlns:a16="http://schemas.microsoft.com/office/drawing/2014/main" val="2890251847"/>
                    </a:ext>
                  </a:extLst>
                </a:gridCol>
                <a:gridCol w="1462520">
                  <a:extLst>
                    <a:ext uri="{9D8B030D-6E8A-4147-A177-3AD203B41FA5}">
                      <a16:colId xmlns:a16="http://schemas.microsoft.com/office/drawing/2014/main" val="2105771382"/>
                    </a:ext>
                  </a:extLst>
                </a:gridCol>
                <a:gridCol w="1462520">
                  <a:extLst>
                    <a:ext uri="{9D8B030D-6E8A-4147-A177-3AD203B41FA5}">
                      <a16:colId xmlns:a16="http://schemas.microsoft.com/office/drawing/2014/main" val="1029514408"/>
                    </a:ext>
                  </a:extLst>
                </a:gridCol>
              </a:tblGrid>
              <a:tr h="407371">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3)</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C (Points: 3)</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D (Points: 3)</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E (Points: 3)</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D0D0D0"/>
                    </a:solidFill>
                  </a:tcPr>
                </a:tc>
                <a:extLst>
                  <a:ext uri="{0D108BD9-81ED-4DB2-BD59-A6C34878D82A}">
                    <a16:rowId xmlns:a16="http://schemas.microsoft.com/office/drawing/2014/main" val="537700777"/>
                  </a:ext>
                </a:extLst>
              </a:tr>
              <a:tr h="1101977">
                <a:tc>
                  <a:txBody>
                    <a:bodyPr/>
                    <a:lstStyle/>
                    <a:p>
                      <a:pPr lvl="0" algn="l">
                        <a:lnSpc>
                          <a:spcPct val="100000"/>
                        </a:lnSpc>
                        <a:spcBef>
                          <a:spcPts val="0"/>
                        </a:spcBef>
                        <a:spcAft>
                          <a:spcPts val="0"/>
                        </a:spcAft>
                        <a:buNone/>
                      </a:pPr>
                      <a:endParaRPr lang="en-US" sz="1000" b="0" i="0" u="none" strike="noStrike" noProof="0">
                        <a:solidFill>
                          <a:srgbClr val="000000"/>
                        </a:solidFill>
                        <a:effectLst/>
                        <a:highlight>
                          <a:srgbClr val="FEF2CD"/>
                        </a:highlight>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EF2CD"/>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should submit the relevant Python Notebooks addressing the creative brief.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a:t>
                      </a:r>
                      <a:endParaRPr lang="en-US" sz="1000" noProof="0">
                        <a:latin typeface="Calibri"/>
                      </a:endParaRPr>
                    </a:p>
                    <a:p>
                      <a:pPr lvl="0" algn="l">
                        <a:buNone/>
                      </a:pPr>
                      <a:endParaRPr lang="en-US" sz="1000" b="0" i="0" u="none" strike="noStrike">
                        <a:solidFill>
                          <a:srgbClr val="000000"/>
                        </a:solidFill>
                        <a:effectLst/>
                        <a:highlight>
                          <a:srgbClr val="FEF2CD"/>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buNone/>
                      </a:pPr>
                      <a:endParaRPr lang="en-US" sz="1000" b="0" i="0" u="none" strike="noStrike">
                        <a:solidFill>
                          <a:srgbClr val="000000"/>
                        </a:solidFill>
                        <a:effectLst/>
                        <a:highlight>
                          <a:srgbClr val="FFE1CC"/>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demonstrate an understanding of the concept of working directory, file types and file structures in Python.</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perform basic data cleansing activities in Python with or without using packages. Additionally, the student is able to demonstrate significant understanding of </a:t>
                      </a:r>
                      <a:r>
                        <a:rPr lang="en-US" sz="1000" b="0" i="0" u="none" strike="noStrike" noProof="0" err="1">
                          <a:solidFill>
                            <a:srgbClr val="000000"/>
                          </a:solidFill>
                          <a:effectLst/>
                          <a:highlight>
                            <a:srgbClr val="FFE1CC"/>
                          </a:highlight>
                          <a:latin typeface="Calibri"/>
                        </a:rPr>
                        <a:t>Numpy</a:t>
                      </a:r>
                      <a:r>
                        <a:rPr lang="en-US" sz="1000" b="0" i="0" u="none" strike="noStrike" noProof="0">
                          <a:solidFill>
                            <a:srgbClr val="000000"/>
                          </a:solidFill>
                          <a:effectLst/>
                          <a:highlight>
                            <a:srgbClr val="FFE1CC"/>
                          </a:highlight>
                          <a:latin typeface="Calibri"/>
                        </a:rPr>
                        <a:t>.</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design reports and visuals (e.g., using matplotlib, </a:t>
                      </a:r>
                      <a:r>
                        <a:rPr lang="en-US" sz="1000" b="0" i="0" u="none" strike="noStrike" noProof="0" err="1">
                          <a:solidFill>
                            <a:srgbClr val="000000"/>
                          </a:solidFill>
                          <a:effectLst/>
                          <a:highlight>
                            <a:srgbClr val="FFE1CC"/>
                          </a:highlight>
                          <a:latin typeface="Calibri"/>
                        </a:rPr>
                        <a:t>Streamlit</a:t>
                      </a:r>
                      <a:r>
                        <a:rPr lang="en-US" sz="1000" b="0" i="0" u="none" strike="noStrike" noProof="0">
                          <a:solidFill>
                            <a:srgbClr val="000000"/>
                          </a:solidFill>
                          <a:effectLst/>
                          <a:highlight>
                            <a:srgbClr val="FFE1CC"/>
                          </a:highlight>
                          <a:latin typeface="Calibri"/>
                        </a:rPr>
                        <a:t> ) based on the merged datasets which help providing valuable and actionable insights.</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demonstrates the capability to establish a connection between Python and a database,  perform basic ETL operations such as read/write.</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join two different tables using SQL and uses this to fulfill the requirements of creative brief.</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extLst>
                  <a:ext uri="{0D108BD9-81ED-4DB2-BD59-A6C34878D82A}">
                    <a16:rowId xmlns:a16="http://schemas.microsoft.com/office/drawing/2014/main" val="1364420496"/>
                  </a:ext>
                </a:extLst>
              </a:tr>
              <a:tr h="2631687">
                <a:tc>
                  <a:txBody>
                    <a:bodyPr/>
                    <a:lstStyle/>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r>
                        <a:rPr lang="en-US" sz="1800" b="1" i="0" u="none" strike="noStrike">
                          <a:solidFill>
                            <a:schemeClr val="tx1">
                              <a:lumMod val="75000"/>
                            </a:schemeClr>
                          </a:solidFill>
                          <a:effectLst/>
                          <a:highlight>
                            <a:srgbClr val="FEF2CD"/>
                          </a:highlight>
                          <a:latin typeface="Calibri"/>
                        </a:rPr>
                        <a:t>Justification +Links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lnSpc>
                          <a:spcPct val="100000"/>
                        </a:lnSpc>
                        <a:spcBef>
                          <a:spcPts val="0"/>
                        </a:spcBef>
                        <a:spcAft>
                          <a:spcPts val="0"/>
                        </a:spcAft>
                        <a:buNone/>
                      </a:pPr>
                      <a:endParaRPr lang="en-US" sz="1800" b="1" i="0" u="none" strike="noStrike" noProof="0">
                        <a:solidFill>
                          <a:schemeClr val="tx1">
                            <a:lumMod val="75000"/>
                          </a:schemeClr>
                        </a:solidFill>
                        <a:effectLst/>
                        <a:highlight>
                          <a:srgbClr val="FEF2CD"/>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extLst>
                  <a:ext uri="{0D108BD9-81ED-4DB2-BD59-A6C34878D82A}">
                    <a16:rowId xmlns:a16="http://schemas.microsoft.com/office/drawing/2014/main" val="2977052830"/>
                  </a:ext>
                </a:extLst>
              </a:tr>
            </a:tbl>
          </a:graphicData>
        </a:graphic>
      </p:graphicFrame>
    </p:spTree>
    <p:extLst>
      <p:ext uri="{BB962C8B-B14F-4D97-AF65-F5344CB8AC3E}">
        <p14:creationId xmlns:p14="http://schemas.microsoft.com/office/powerpoint/2010/main" val="31326037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a:t>
            </a:r>
            <a:r>
              <a:rPr lang="en-US"/>
              <a:t>1.2</a:t>
            </a:r>
            <a:endParaRPr/>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Professional practice</a:t>
            </a:r>
            <a:endParaRPr/>
          </a:p>
        </p:txBody>
      </p:sp>
      <p:sp>
        <p:nvSpPr>
          <p:cNvPr id="365" name="Google Shape;365;p39"/>
          <p:cNvSpPr txBox="1">
            <a:spLocks noGrp="1"/>
          </p:cNvSpPr>
          <p:nvPr>
            <p:ph type="subTitle" idx="2"/>
          </p:nvPr>
        </p:nvSpPr>
        <p:spPr>
          <a:xfrm>
            <a:off x="2735580" y="3353563"/>
            <a:ext cx="5951220" cy="685800"/>
          </a:xfrm>
          <a:prstGeom prst="rect">
            <a:avLst/>
          </a:prstGeom>
        </p:spPr>
        <p:txBody>
          <a:bodyPr spcFirstLastPara="1" wrap="square" lIns="91425" tIns="91425" rIns="91425" bIns="91425" anchor="ctr" anchorCtr="0">
            <a:noAutofit/>
          </a:bodyPr>
          <a:lstStyle/>
          <a:p>
            <a:pPr marL="0" indent="0"/>
            <a:r>
              <a:rPr lang="en-US"/>
              <a:t> The student can collaborate (internationally) in multidisciplinary teams with different levels of knowledge in the field of data use and applications. They can set up and execute projects in collaboration with stakeholders and team members. They can act as a sounding board in discussions with team members, customers, users and experts. They strive for a good balance between input of their own vision and additional expertise of others. They are able to lead a team. </a:t>
            </a:r>
            <a:endParaRPr lang="en"/>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sym typeface="Roboto"/>
              </a:rPr>
              <a:t>1</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28110380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a:t>
            </a:r>
            <a:r>
              <a:rPr lang="en-US"/>
              <a:t>1</a:t>
            </a:r>
            <a:endParaRPr/>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1" y="0"/>
            <a:ext cx="6755326" cy="576000"/>
          </a:xfrm>
          <a:prstGeom prst="rect">
            <a:avLst/>
          </a:prstGeom>
        </p:spPr>
        <p:txBody>
          <a:bodyPr spcFirstLastPara="1" wrap="square" lIns="91425" tIns="91425" rIns="91425" bIns="91425" anchor="ctr" anchorCtr="0">
            <a:noAutofit/>
          </a:bodyPr>
          <a:lstStyle/>
          <a:p>
            <a:pPr marL="0" indent="0"/>
            <a:r>
              <a:rPr lang="en-US"/>
              <a:t>The student can collaborate (internationally) in multidisciplinary teams with different levels of knowledge in the field of data use and applications. They can set up and execute projects in collaboration with stakeholders and team members. They can act as a sounding board in discussions with team members, customers, users and experts. They strive for a good balance between input of their own vision and additional expertise of others. They are able to lead a team. </a:t>
            </a:r>
            <a:endParaRPr lang="en-GB"/>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1.2</a:t>
            </a:r>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r>
              <a:rPr lang="en-US" i="0"/>
              <a:t>The student accurately tracks time spent on planned and unplanned work, noting reasons for and consequences of deviations from the planned objectives. </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a:t>Professional practice</a:t>
            </a:r>
            <a:endParaRPr sz="900"/>
          </a:p>
        </p:txBody>
      </p:sp>
      <p:graphicFrame>
        <p:nvGraphicFramePr>
          <p:cNvPr id="3" name="Table 2">
            <a:extLst>
              <a:ext uri="{FF2B5EF4-FFF2-40B4-BE49-F238E27FC236}">
                <a16:creationId xmlns:a16="http://schemas.microsoft.com/office/drawing/2014/main" id="{5A5D76DD-780A-47E4-7E54-A7A840FD7EAC}"/>
              </a:ext>
            </a:extLst>
          </p:cNvPr>
          <p:cNvGraphicFramePr>
            <a:graphicFrameLocks noGrp="1"/>
          </p:cNvGraphicFramePr>
          <p:nvPr>
            <p:extLst>
              <p:ext uri="{D42A27DB-BD31-4B8C-83A1-F6EECF244321}">
                <p14:modId xmlns:p14="http://schemas.microsoft.com/office/powerpoint/2010/main" val="3440348285"/>
              </p:ext>
            </p:extLst>
          </p:nvPr>
        </p:nvGraphicFramePr>
        <p:xfrm>
          <a:off x="0" y="1069800"/>
          <a:ext cx="9144001" cy="4073700"/>
        </p:xfrm>
        <a:graphic>
          <a:graphicData uri="http://schemas.openxmlformats.org/drawingml/2006/table">
            <a:tbl>
              <a:tblPr/>
              <a:tblGrid>
                <a:gridCol w="1520946">
                  <a:extLst>
                    <a:ext uri="{9D8B030D-6E8A-4147-A177-3AD203B41FA5}">
                      <a16:colId xmlns:a16="http://schemas.microsoft.com/office/drawing/2014/main" val="2828626719"/>
                    </a:ext>
                  </a:extLst>
                </a:gridCol>
                <a:gridCol w="1502622">
                  <a:extLst>
                    <a:ext uri="{9D8B030D-6E8A-4147-A177-3AD203B41FA5}">
                      <a16:colId xmlns:a16="http://schemas.microsoft.com/office/drawing/2014/main" val="2163814410"/>
                    </a:ext>
                  </a:extLst>
                </a:gridCol>
                <a:gridCol w="1557595">
                  <a:extLst>
                    <a:ext uri="{9D8B030D-6E8A-4147-A177-3AD203B41FA5}">
                      <a16:colId xmlns:a16="http://schemas.microsoft.com/office/drawing/2014/main" val="1982883818"/>
                    </a:ext>
                  </a:extLst>
                </a:gridCol>
                <a:gridCol w="1520946">
                  <a:extLst>
                    <a:ext uri="{9D8B030D-6E8A-4147-A177-3AD203B41FA5}">
                      <a16:colId xmlns:a16="http://schemas.microsoft.com/office/drawing/2014/main" val="288988014"/>
                    </a:ext>
                  </a:extLst>
                </a:gridCol>
                <a:gridCol w="1520946">
                  <a:extLst>
                    <a:ext uri="{9D8B030D-6E8A-4147-A177-3AD203B41FA5}">
                      <a16:colId xmlns:a16="http://schemas.microsoft.com/office/drawing/2014/main" val="1128064345"/>
                    </a:ext>
                  </a:extLst>
                </a:gridCol>
                <a:gridCol w="1520946">
                  <a:extLst>
                    <a:ext uri="{9D8B030D-6E8A-4147-A177-3AD203B41FA5}">
                      <a16:colId xmlns:a16="http://schemas.microsoft.com/office/drawing/2014/main" val="1683564814"/>
                    </a:ext>
                  </a:extLst>
                </a:gridCol>
              </a:tblGrid>
              <a:tr h="192777">
                <a:tc>
                  <a:txBody>
                    <a:bodyPr/>
                    <a:lstStyle/>
                    <a:p>
                      <a:pPr algn="ctr" fontAlgn="ctr"/>
                      <a:r>
                        <a:rPr lang="en-US" sz="1000" b="1" i="0" u="none" strike="noStrike">
                          <a:solidFill>
                            <a:srgbClr val="000000"/>
                          </a:solidFill>
                          <a:effectLst/>
                          <a:highlight>
                            <a:srgbClr val="D0D0D0"/>
                          </a:highlight>
                          <a:latin typeface="Calibri"/>
                        </a:rPr>
                        <a:t>pre-requisites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4251399548"/>
                  </a:ext>
                </a:extLst>
              </a:tr>
              <a:tr h="2091709">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a:t>
                      </a:r>
                      <a:endParaRPr lang="en-US" sz="1000" noProof="0">
                        <a:latin typeface="Calibri"/>
                      </a:endParaRPr>
                    </a:p>
                    <a:p>
                      <a:pPr lvl="0" algn="l">
                        <a:buNone/>
                      </a:pPr>
                      <a:endParaRPr lang="en-US" sz="1000" b="0" i="0" u="none" strike="noStrike">
                        <a:solidFill>
                          <a:srgbClr val="000000"/>
                        </a:solidFill>
                        <a:effectLst/>
                        <a:highlight>
                          <a:srgbClr val="FEF2CD"/>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buNone/>
                      </a:pPr>
                      <a:r>
                        <a:rPr lang="en-US" sz="1000" b="0" i="0" u="none" strike="noStrike" noProof="0">
                          <a:solidFill>
                            <a:srgbClr val="000000"/>
                          </a:solidFill>
                          <a:effectLst/>
                          <a:highlight>
                            <a:srgbClr val="FFE1CC"/>
                          </a:highlight>
                          <a:latin typeface="Calibri"/>
                        </a:rPr>
                        <a:t>The student outlines the completed tasks in the worklog, with detailed comments provided where necessary.</a:t>
                      </a:r>
                      <a:endParaRPr lang="en-US" sz="1000" b="0" i="0" u="none" strike="noStrike">
                        <a:solidFill>
                          <a:srgbClr val="000000"/>
                        </a:solidFill>
                        <a:effectLst/>
                        <a:highlight>
                          <a:srgbClr val="FFE1C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7C7AC"/>
                          </a:highlight>
                          <a:latin typeface="Calibri"/>
                        </a:rPr>
                        <a:t>The student writes professional and critical reflections with time-tracking and identifying key lessons.</a:t>
                      </a:r>
                      <a:endParaRPr lang="en-US" sz="1000" noProof="0">
                        <a:latin typeface="Calibri"/>
                      </a:endParaRPr>
                    </a:p>
                    <a:p>
                      <a:pPr lvl="0" algn="l">
                        <a:buNone/>
                      </a:pPr>
                      <a:endParaRPr lang="en-US" sz="1000" b="0" i="0" u="none" strike="noStrike">
                        <a:solidFill>
                          <a:srgbClr val="000000"/>
                        </a:solidFill>
                        <a:effectLst/>
                        <a:highlight>
                          <a:srgbClr val="F7C7A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fills out the worklog for each of the weeks.</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7C7AC"/>
                          </a:highlight>
                          <a:latin typeface="Calibri"/>
                        </a:rPr>
                        <a:t>The student includes all references to important resources in the worklog for the listed tasks. </a:t>
                      </a:r>
                      <a:endParaRPr lang="en-US" sz="1000">
                        <a:latin typeface="Calibri"/>
                      </a:endParaRPr>
                    </a:p>
                    <a:p>
                      <a:pPr lvl="0" algn="l">
                        <a:buNone/>
                      </a:pPr>
                      <a:endParaRPr lang="en-US" sz="1000" b="0" i="0" u="none" strike="noStrike">
                        <a:solidFill>
                          <a:srgbClr val="000000"/>
                        </a:solidFill>
                        <a:effectLst/>
                        <a:highlight>
                          <a:srgbClr val="F7C7A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student's writing style in worklog is professional and free of spelling and grammar mistakes. The student comprehends what was completed and why individual and project feedback was given. </a:t>
                      </a:r>
                      <a:endParaRPr lang="en-US" sz="1000" noProof="0">
                        <a:latin typeface="Calibri"/>
                      </a:endParaRPr>
                    </a:p>
                    <a:p>
                      <a:pPr lvl="0" algn="l">
                        <a:buNone/>
                      </a:pPr>
                      <a:endParaRPr lang="en-US" sz="1000" b="0" i="0" u="none" strike="noStrike">
                        <a:solidFill>
                          <a:srgbClr val="000000"/>
                        </a:solidFill>
                        <a:effectLst/>
                        <a:highlight>
                          <a:srgbClr val="FFE1C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871622024"/>
                  </a:ext>
                </a:extLst>
              </a:tr>
              <a:tr h="1789214">
                <a:tc>
                  <a:txBody>
                    <a:bodyPr/>
                    <a:lstStyle/>
                    <a:p>
                      <a:pPr lvl="0" algn="ctr" rtl="0">
                        <a:buNone/>
                      </a:pPr>
                      <a:endParaRPr lang="en-US" sz="1800" b="1" i="0" u="none" strike="noStrike">
                        <a:solidFill>
                          <a:schemeClr val="tx1">
                            <a:lumMod val="75000"/>
                          </a:schemeClr>
                        </a:solidFill>
                        <a:effectLst/>
                        <a:highlight>
                          <a:srgbClr val="FEF2CD"/>
                        </a:highlight>
                        <a:latin typeface="Calibri"/>
                      </a:endParaRPr>
                    </a:p>
                    <a:p>
                      <a:pPr lvl="0" algn="ctr" rtl="0">
                        <a:buNone/>
                      </a:pPr>
                      <a:endParaRPr lang="en-US" sz="1800" b="1" i="0" u="none" strike="noStrike">
                        <a:solidFill>
                          <a:schemeClr val="tx1">
                            <a:lumMod val="75000"/>
                          </a:schemeClr>
                        </a:solidFill>
                        <a:effectLst/>
                        <a:highlight>
                          <a:srgbClr val="FEF2CD"/>
                        </a:highlight>
                        <a:latin typeface="Calibri"/>
                      </a:endParaRPr>
                    </a:p>
                    <a:p>
                      <a:pPr lvl="0" algn="ctr" rtl="0">
                        <a:buNone/>
                      </a:pPr>
                      <a:r>
                        <a:rPr lang="en-US" sz="1800" b="1" i="0" u="none" strike="noStrike">
                          <a:solidFill>
                            <a:schemeClr val="tx1">
                              <a:lumMod val="75000"/>
                            </a:schemeClr>
                          </a:solidFill>
                          <a:effectLst/>
                          <a:highlight>
                            <a:srgbClr val="FEF2CD"/>
                          </a:highlight>
                          <a:latin typeface="Calibri"/>
                        </a:rPr>
                        <a:t>Justification +Links</a:t>
                      </a:r>
                      <a:endParaRPr lang="en-US"/>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ctr">
                        <a:lnSpc>
                          <a:spcPct val="100000"/>
                        </a:lnSpc>
                        <a:spcBef>
                          <a:spcPts val="0"/>
                        </a:spcBef>
                        <a:spcAft>
                          <a:spcPts val="0"/>
                        </a:spcAft>
                        <a:buNone/>
                      </a:pPr>
                      <a:r>
                        <a:rPr lang="en-US" sz="1800" b="1" i="0" u="none" strike="noStrike" noProof="0" dirty="0">
                          <a:solidFill>
                            <a:schemeClr val="tx1">
                              <a:lumMod val="75000"/>
                            </a:schemeClr>
                          </a:solidFill>
                          <a:effectLst/>
                          <a:highlight>
                            <a:srgbClr val="FEF2CD"/>
                          </a:highlight>
                          <a:latin typeface="Calibri"/>
                        </a:rPr>
                        <a:t>Justification +Links</a:t>
                      </a:r>
                      <a:endParaRPr lang="en-US" sz="1800" b="0" i="0" u="none" strike="noStrike" noProof="0" dirty="0">
                        <a:solidFill>
                          <a:srgbClr val="4285F4"/>
                        </a:solidFill>
                        <a:effectLst/>
                        <a:highlight>
                          <a:srgbClr val="FFE1CC"/>
                        </a:highlight>
                        <a:latin typeface="Calibri"/>
                      </a:endParaRPr>
                    </a:p>
                    <a:p>
                      <a:pPr lvl="0" algn="ctr">
                        <a:lnSpc>
                          <a:spcPct val="100000"/>
                        </a:lnSpc>
                        <a:spcBef>
                          <a:spcPts val="0"/>
                        </a:spcBef>
                        <a:spcAft>
                          <a:spcPts val="0"/>
                        </a:spcAft>
                        <a:buNone/>
                      </a:pPr>
                      <a:endParaRPr lang="en-US" sz="1800" b="1" i="0" u="none" strike="noStrike" noProof="0" dirty="0">
                        <a:solidFill>
                          <a:schemeClr val="tx1">
                            <a:lumMod val="75000"/>
                          </a:schemeClr>
                        </a:solidFill>
                        <a:effectLst/>
                        <a:highlight>
                          <a:srgbClr val="FEF2CD"/>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800" b="1" i="0" u="none" strike="noStrike" noProof="0" dirty="0">
                          <a:solidFill>
                            <a:schemeClr val="tx1">
                              <a:lumMod val="75000"/>
                            </a:schemeClr>
                          </a:solidFill>
                          <a:effectLst/>
                          <a:highlight>
                            <a:srgbClr val="FEF2CD"/>
                          </a:highlight>
                          <a:latin typeface="Calibri"/>
                        </a:rPr>
                        <a:t>Justification +Links</a:t>
                      </a:r>
                      <a:endParaRPr lang="en-US" sz="1800" b="0" i="0" u="none" strike="noStrike" noProof="0" dirty="0">
                        <a:solidFill>
                          <a:srgbClr val="4285F4"/>
                        </a:solidFill>
                        <a:effectLst/>
                        <a:highlight>
                          <a:srgbClr val="FFE1CC"/>
                        </a:highlight>
                        <a:latin typeface="Calibri"/>
                      </a:endParaRPr>
                    </a:p>
                    <a:p>
                      <a:pPr lvl="0" algn="ctr">
                        <a:buNone/>
                      </a:pPr>
                      <a:endParaRPr lang="en-US" sz="1800" b="1" i="0" u="none" strike="noStrike" dirty="0">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extLst>
                  <a:ext uri="{0D108BD9-81ED-4DB2-BD59-A6C34878D82A}">
                    <a16:rowId xmlns:a16="http://schemas.microsoft.com/office/drawing/2014/main" val="2843461618"/>
                  </a:ext>
                </a:extLst>
              </a:tr>
            </a:tbl>
          </a:graphicData>
        </a:graphic>
      </p:graphicFrame>
    </p:spTree>
    <p:extLst>
      <p:ext uri="{BB962C8B-B14F-4D97-AF65-F5344CB8AC3E}">
        <p14:creationId xmlns:p14="http://schemas.microsoft.com/office/powerpoint/2010/main" val="28373286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a:t>
            </a:r>
            <a:r>
              <a:rPr lang="en-US"/>
              <a:t>2.2</a:t>
            </a:r>
            <a:endParaRPr/>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Personal development &amp; </a:t>
            </a:r>
            <a:br>
              <a:rPr lang="en-US"/>
            </a:br>
            <a:r>
              <a:rPr lang="en-US"/>
              <a:t>Academic practice</a:t>
            </a:r>
            <a:endParaRPr/>
          </a:p>
        </p:txBody>
      </p:sp>
      <p:sp>
        <p:nvSpPr>
          <p:cNvPr id="365" name="Google Shape;365;p39"/>
          <p:cNvSpPr txBox="1">
            <a:spLocks noGrp="1"/>
          </p:cNvSpPr>
          <p:nvPr>
            <p:ph type="subTitle" idx="2"/>
          </p:nvPr>
        </p:nvSpPr>
        <p:spPr>
          <a:xfrm>
            <a:off x="2827020" y="3353563"/>
            <a:ext cx="5859780" cy="685800"/>
          </a:xfrm>
          <a:prstGeom prst="rect">
            <a:avLst/>
          </a:prstGeom>
        </p:spPr>
        <p:txBody>
          <a:bodyPr spcFirstLastPara="1" wrap="square" lIns="91425" tIns="91425" rIns="91425" bIns="91425" anchor="ctr" anchorCtr="0">
            <a:noAutofit/>
          </a:bodyPr>
          <a:lstStyle/>
          <a:p>
            <a:pPr marL="0" indent="0"/>
            <a:r>
              <a:rPr lang="en-US"/>
              <a:t>The student applies relevant (research) methods and techniques in combination with relevant and adequate argumentation. They can reflect on (business) processes and their role in them, both theoretically and practically, by constantly evaluating their own actions and adapting them with input from others. They can translate the result of the reflection into concrete personal learning objectives. </a:t>
            </a:r>
            <a:endParaRPr lang="en"/>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sym typeface="Roboto"/>
              </a:rPr>
              <a:t>2</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3934169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a:t>
            </a:r>
            <a:r>
              <a:rPr lang="en-US"/>
              <a:t>2</a:t>
            </a:r>
            <a:endParaRPr/>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1" y="0"/>
            <a:ext cx="6615216" cy="576000"/>
          </a:xfrm>
          <a:prstGeom prst="rect">
            <a:avLst/>
          </a:prstGeom>
        </p:spPr>
        <p:txBody>
          <a:bodyPr spcFirstLastPara="1" wrap="square" lIns="91425" tIns="91425" rIns="91425" bIns="91425" anchor="ctr" anchorCtr="0">
            <a:noAutofit/>
          </a:bodyPr>
          <a:lstStyle/>
          <a:p>
            <a:pPr marL="0" indent="0"/>
            <a:r>
              <a:rPr lang="en-US"/>
              <a:t>The student applies relevant (research) methods and techniques in combination with relevant and adequate argumentation. They can reflect on (business) processes and their role in them, both theoretically and practically, by constantly evaluating their own actions and adapting them with input from others. They can translate the result of the reflection into concrete personal learning objectives.</a:t>
            </a:r>
            <a:endParaRPr lang="en-GB"/>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2.2</a:t>
            </a:r>
            <a:endParaRPr/>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US" i="0"/>
              <a:t>The student shows knowledge of leadership skills by taking on the role of a leader and supporting others in being a leader. </a:t>
            </a:r>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a:t>Personal development</a:t>
            </a:r>
            <a:endParaRPr sz="900"/>
          </a:p>
        </p:txBody>
      </p:sp>
      <p:graphicFrame>
        <p:nvGraphicFramePr>
          <p:cNvPr id="2" name="Table 1">
            <a:extLst>
              <a:ext uri="{FF2B5EF4-FFF2-40B4-BE49-F238E27FC236}">
                <a16:creationId xmlns:a16="http://schemas.microsoft.com/office/drawing/2014/main" id="{B094636A-55BA-DD52-9038-48FB62682D6F}"/>
              </a:ext>
            </a:extLst>
          </p:cNvPr>
          <p:cNvGraphicFramePr>
            <a:graphicFrameLocks noGrp="1"/>
          </p:cNvGraphicFramePr>
          <p:nvPr>
            <p:extLst>
              <p:ext uri="{D42A27DB-BD31-4B8C-83A1-F6EECF244321}">
                <p14:modId xmlns:p14="http://schemas.microsoft.com/office/powerpoint/2010/main" val="3214073086"/>
              </p:ext>
            </p:extLst>
          </p:nvPr>
        </p:nvGraphicFramePr>
        <p:xfrm>
          <a:off x="0" y="1069800"/>
          <a:ext cx="9143997" cy="4073700"/>
        </p:xfrm>
        <a:graphic>
          <a:graphicData uri="http://schemas.openxmlformats.org/drawingml/2006/table">
            <a:tbl>
              <a:tblPr/>
              <a:tblGrid>
                <a:gridCol w="1758054">
                  <a:extLst>
                    <a:ext uri="{9D8B030D-6E8A-4147-A177-3AD203B41FA5}">
                      <a16:colId xmlns:a16="http://schemas.microsoft.com/office/drawing/2014/main" val="2101514686"/>
                    </a:ext>
                  </a:extLst>
                </a:gridCol>
                <a:gridCol w="3394880">
                  <a:extLst>
                    <a:ext uri="{9D8B030D-6E8A-4147-A177-3AD203B41FA5}">
                      <a16:colId xmlns:a16="http://schemas.microsoft.com/office/drawing/2014/main" val="3182331326"/>
                    </a:ext>
                  </a:extLst>
                </a:gridCol>
                <a:gridCol w="3991063">
                  <a:extLst>
                    <a:ext uri="{9D8B030D-6E8A-4147-A177-3AD203B41FA5}">
                      <a16:colId xmlns:a16="http://schemas.microsoft.com/office/drawing/2014/main" val="2156090830"/>
                    </a:ext>
                  </a:extLst>
                </a:gridCol>
              </a:tblGrid>
              <a:tr h="251194">
                <a:tc>
                  <a:txBody>
                    <a:bodyPr/>
                    <a:lstStyle/>
                    <a:p>
                      <a:pPr algn="ctr" fontAlgn="ctr"/>
                      <a:r>
                        <a:rPr lang="en-US" sz="1000" b="1" i="0" u="none" strike="noStrike">
                          <a:solidFill>
                            <a:srgbClr val="000000"/>
                          </a:solidFill>
                          <a:effectLst/>
                          <a:highlight>
                            <a:srgbClr val="D0D0D0"/>
                          </a:highlight>
                          <a:latin typeface="Calibri"/>
                        </a:rPr>
                        <a:t>pre-requisites</a:t>
                      </a: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5)</a:t>
                      </a:r>
                      <a:endParaRPr lang="en-US" sz="1000">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5)</a:t>
                      </a:r>
                      <a:endParaRPr lang="en-US" sz="1000">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3290195127"/>
                  </a:ext>
                </a:extLst>
              </a:tr>
              <a:tr h="931333">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 </a:t>
                      </a:r>
                      <a:endParaRPr lang="en-US" sz="1000">
                        <a:latin typeface="Calibri"/>
                      </a:endParaRPr>
                    </a:p>
                    <a:p>
                      <a:pPr lvl="0" algn="l">
                        <a:buNone/>
                      </a:pPr>
                      <a:endParaRPr lang="en-US" sz="1000" b="0" i="0" u="none" strike="noStrike">
                        <a:solidFill>
                          <a:srgbClr val="000000"/>
                        </a:solidFill>
                        <a:effectLst/>
                        <a:highlight>
                          <a:srgbClr val="FEF2CD"/>
                        </a:highlight>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latin typeface="Calibri"/>
                        </a:rPr>
                        <a:t>Goals written with a </a:t>
                      </a:r>
                      <a:r>
                        <a:rPr lang="en-US" sz="1000" b="1" i="0" u="none" strike="noStrike" noProof="0">
                          <a:solidFill>
                            <a:srgbClr val="000000"/>
                          </a:solidFill>
                          <a:effectLst/>
                          <a:latin typeface="Calibri"/>
                        </a:rPr>
                        <a:t>SMARTER</a:t>
                      </a:r>
                      <a:r>
                        <a:rPr lang="en-US" sz="1000" b="0" i="0" u="none" strike="noStrike" noProof="0">
                          <a:solidFill>
                            <a:srgbClr val="000000"/>
                          </a:solidFill>
                          <a:effectLst/>
                          <a:latin typeface="Calibri"/>
                        </a:rPr>
                        <a:t> method. The goals are shown to be Specific, Measurable, Achievable, Relevant, Time-bound, Evaluated and Readjusted. Project goals and self-development goals detailed.</a:t>
                      </a:r>
                      <a:endParaRPr lang="en-US" sz="1000" b="0" i="0" u="none" strike="noStrike">
                        <a:solidFill>
                          <a:srgbClr val="000000"/>
                        </a:solidFill>
                        <a:effectLst/>
                        <a:highlight>
                          <a:srgbClr val="FFE1CC"/>
                        </a:highlight>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latin typeface="Calibri"/>
                        </a:rPr>
                        <a:t>Goals are aligned with project, personal, and professional development objectives. A detailed evaluation of the goals has been conducted throughout the block. The goals may have been re-adjusted as well. </a:t>
                      </a:r>
                      <a:endParaRPr lang="en-US" sz="1000" b="0" i="0" u="none" strike="noStrike">
                        <a:solidFill>
                          <a:srgbClr val="000000"/>
                        </a:solidFill>
                        <a:effectLst/>
                        <a:highlight>
                          <a:srgbClr val="FFE1CC"/>
                        </a:highlight>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1106371534"/>
                  </a:ext>
                </a:extLst>
              </a:tr>
              <a:tr h="2891173">
                <a:tc>
                  <a:txBody>
                    <a:bodyPr/>
                    <a:lstStyle/>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2369291459"/>
                  </a:ext>
                </a:extLst>
              </a:tr>
            </a:tbl>
          </a:graphicData>
        </a:graphic>
      </p:graphicFrame>
    </p:spTree>
    <p:extLst>
      <p:ext uri="{BB962C8B-B14F-4D97-AF65-F5344CB8AC3E}">
        <p14:creationId xmlns:p14="http://schemas.microsoft.com/office/powerpoint/2010/main" val="40074774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6.2</a:t>
            </a:r>
            <a:endParaRPr lang="en-US"/>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indent="0"/>
            <a:r>
              <a:rPr lang="en-US"/>
              <a:t>Data Collection and Processing</a:t>
            </a:r>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r>
              <a:rPr lang="en-US"/>
              <a:t>The student masters (technological) skills to acquire, pre-process, process and manage the necessary data to create value for individuals, organizations and domains. </a:t>
            </a:r>
          </a:p>
          <a:p>
            <a:pPr marL="0" indent="0"/>
            <a:endParaRPr lang="en"/>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rPr>
              <a:t>6</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6254212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6</a:t>
            </a:r>
            <a:endParaRPr lang="en-US"/>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1" y="0"/>
            <a:ext cx="6351123" cy="576000"/>
          </a:xfrm>
          <a:prstGeom prst="rect">
            <a:avLst/>
          </a:prstGeom>
        </p:spPr>
        <p:txBody>
          <a:bodyPr spcFirstLastPara="1" wrap="square" lIns="91425" tIns="91425" rIns="91425" bIns="91425" anchor="ctr" anchorCtr="0">
            <a:noAutofit/>
          </a:bodyPr>
          <a:lstStyle/>
          <a:p>
            <a:r>
              <a:rPr lang="en-US" sz="1050"/>
              <a:t>The student masters (technological) skills to acquire, pre-process, process and manage the necessary data to create value for individuals, organizations and domains. </a:t>
            </a:r>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6.2</a:t>
            </a:r>
            <a:endParaRPr/>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r>
              <a:rPr lang="en-US" i="0"/>
              <a:t>The students is able to perform basic ETL operations such as read/write, clean, and explore data using standard Python libraries.</a:t>
            </a:r>
            <a:endParaRPr lang="en-US"/>
          </a:p>
          <a:p>
            <a:pPr marL="0" lvl="0" indent="0" algn="l">
              <a:spcBef>
                <a:spcPts val="0"/>
              </a:spcBef>
              <a:spcAft>
                <a:spcPts val="0"/>
              </a:spcAft>
              <a:buNone/>
            </a:pPr>
            <a:endParaRPr lang="en-US" i="0"/>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r>
              <a:rPr lang="en-US" sz="900"/>
              <a:t>Data Collection and Processing</a:t>
            </a:r>
            <a:endParaRPr lang="en-US"/>
          </a:p>
        </p:txBody>
      </p:sp>
      <p:graphicFrame>
        <p:nvGraphicFramePr>
          <p:cNvPr id="2" name="Table 1">
            <a:extLst>
              <a:ext uri="{FF2B5EF4-FFF2-40B4-BE49-F238E27FC236}">
                <a16:creationId xmlns:a16="http://schemas.microsoft.com/office/drawing/2014/main" id="{1F5721F6-C620-592B-C011-BF4A3BBF31FB}"/>
              </a:ext>
            </a:extLst>
          </p:cNvPr>
          <p:cNvGraphicFramePr>
            <a:graphicFrameLocks noGrp="1"/>
          </p:cNvGraphicFramePr>
          <p:nvPr>
            <p:extLst>
              <p:ext uri="{D42A27DB-BD31-4B8C-83A1-F6EECF244321}">
                <p14:modId xmlns:p14="http://schemas.microsoft.com/office/powerpoint/2010/main" val="3151947256"/>
              </p:ext>
            </p:extLst>
          </p:nvPr>
        </p:nvGraphicFramePr>
        <p:xfrm>
          <a:off x="0" y="1069800"/>
          <a:ext cx="9143993" cy="4130208"/>
        </p:xfrm>
        <a:graphic>
          <a:graphicData uri="http://schemas.openxmlformats.org/drawingml/2006/table">
            <a:tbl>
              <a:tblPr/>
              <a:tblGrid>
                <a:gridCol w="1520944">
                  <a:extLst>
                    <a:ext uri="{9D8B030D-6E8A-4147-A177-3AD203B41FA5}">
                      <a16:colId xmlns:a16="http://schemas.microsoft.com/office/drawing/2014/main" val="2003549626"/>
                    </a:ext>
                  </a:extLst>
                </a:gridCol>
                <a:gridCol w="3060215">
                  <a:extLst>
                    <a:ext uri="{9D8B030D-6E8A-4147-A177-3AD203B41FA5}">
                      <a16:colId xmlns:a16="http://schemas.microsoft.com/office/drawing/2014/main" val="2448315005"/>
                    </a:ext>
                  </a:extLst>
                </a:gridCol>
                <a:gridCol w="4562834">
                  <a:extLst>
                    <a:ext uri="{9D8B030D-6E8A-4147-A177-3AD203B41FA5}">
                      <a16:colId xmlns:a16="http://schemas.microsoft.com/office/drawing/2014/main" val="105465083"/>
                    </a:ext>
                  </a:extLst>
                </a:gridCol>
              </a:tblGrid>
              <a:tr h="443567">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cap="none" noProof="0">
                          <a:solidFill>
                            <a:srgbClr val="000000"/>
                          </a:solidFill>
                          <a:effectLst/>
                          <a:highlight>
                            <a:srgbClr val="D0D0D0"/>
                          </a:highlight>
                          <a:latin typeface="Calibri"/>
                          <a:ea typeface="+mn-ea"/>
                          <a:cs typeface="+mn-cs"/>
                          <a:sym typeface="Arial"/>
                        </a:rPr>
                        <a:t>A (Points: 5)</a:t>
                      </a:r>
                      <a:endParaRPr lang="en-US" sz="1000" b="1" i="0" u="none" strike="noStrike" cap="none">
                        <a:solidFill>
                          <a:srgbClr val="000000"/>
                        </a:solidFill>
                        <a:effectLst/>
                        <a:highlight>
                          <a:srgbClr val="D0D0D0"/>
                        </a:highlight>
                        <a:latin typeface="Calibri"/>
                        <a:ea typeface="+mn-ea"/>
                        <a:cs typeface="+mn-cs"/>
                        <a:sym typeface="Arial"/>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cap="none" noProof="0">
                          <a:solidFill>
                            <a:srgbClr val="000000"/>
                          </a:solidFill>
                          <a:effectLst/>
                          <a:highlight>
                            <a:srgbClr val="D0D0D0"/>
                          </a:highlight>
                          <a:latin typeface="Calibri"/>
                          <a:ea typeface="+mn-ea"/>
                          <a:cs typeface="+mn-cs"/>
                          <a:sym typeface="Arial"/>
                        </a:rPr>
                        <a:t>B (Points: 5)</a:t>
                      </a:r>
                      <a:endParaRPr lang="en-US" sz="1000" b="1" i="0" u="none" strike="noStrike" cap="none">
                        <a:solidFill>
                          <a:srgbClr val="000000"/>
                        </a:solidFill>
                        <a:effectLst/>
                        <a:highlight>
                          <a:srgbClr val="D0D0D0"/>
                        </a:highlight>
                        <a:latin typeface="Calibri"/>
                        <a:ea typeface="+mn-ea"/>
                        <a:cs typeface="+mn-cs"/>
                        <a:sym typeface="Arial"/>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3041141703"/>
                  </a:ext>
                </a:extLst>
              </a:tr>
              <a:tr h="1472615">
                <a:tc>
                  <a:txBody>
                    <a:bodyPr/>
                    <a:lstStyle/>
                    <a:p>
                      <a:pPr lvl="0" algn="l">
                        <a:lnSpc>
                          <a:spcPct val="100000"/>
                        </a:lnSpc>
                        <a:spcBef>
                          <a:spcPts val="0"/>
                        </a:spcBef>
                        <a:spcAft>
                          <a:spcPts val="0"/>
                        </a:spcAft>
                        <a:buNone/>
                      </a:pPr>
                      <a:r>
                        <a:rPr lang="en-US" sz="1000" b="0" i="0" u="none" strike="noStrike" cap="none" noProof="0">
                          <a:solidFill>
                            <a:srgbClr val="000000"/>
                          </a:solidFill>
                          <a:effectLst/>
                          <a:highlight>
                            <a:srgbClr val="FFE1CC"/>
                          </a:highlight>
                          <a:latin typeface="Calibri"/>
                          <a:ea typeface="+mn-ea"/>
                          <a:cs typeface="+mn-cs"/>
                          <a:sym typeface="Arial"/>
                        </a:rPr>
                        <a:t>The student should submit the relevant Python Notebooks addressing the creative brief. Student submits a complete learning log, work log and self-assessment rubric. The student exhibits professional behavior during the </a:t>
                      </a:r>
                      <a:r>
                        <a:rPr lang="en-US" sz="1000" b="0" i="0" u="none" strike="noStrike" cap="none" noProof="0" err="1">
                          <a:solidFill>
                            <a:srgbClr val="000000"/>
                          </a:solidFill>
                          <a:effectLst/>
                          <a:highlight>
                            <a:srgbClr val="FFE1CC"/>
                          </a:highlight>
                          <a:latin typeface="Calibri"/>
                          <a:ea typeface="+mn-ea"/>
                          <a:cs typeface="+mn-cs"/>
                          <a:sym typeface="Arial"/>
                        </a:rPr>
                        <a:t>DataLab</a:t>
                      </a:r>
                      <a:r>
                        <a:rPr lang="en-US" sz="1000" b="0" i="0" u="none" strike="noStrike" cap="none" noProof="0">
                          <a:solidFill>
                            <a:srgbClr val="000000"/>
                          </a:solidFill>
                          <a:effectLst/>
                          <a:highlight>
                            <a:srgbClr val="FFE1CC"/>
                          </a:highlight>
                          <a:latin typeface="Calibri"/>
                          <a:ea typeface="+mn-ea"/>
                          <a:cs typeface="+mn-cs"/>
                          <a:sym typeface="Arial"/>
                        </a:rPr>
                        <a:t>.</a:t>
                      </a:r>
                    </a:p>
                    <a:p>
                      <a:pPr lvl="0" algn="l">
                        <a:buNone/>
                      </a:pPr>
                      <a:endParaRPr lang="en-US" sz="1000" b="0" i="0" u="none" strike="noStrike">
                        <a:solidFill>
                          <a:srgbClr val="000000"/>
                        </a:solidFill>
                        <a:effectLst/>
                        <a:highlight>
                          <a:srgbClr val="FEF2CD"/>
                        </a:highlight>
                        <a:latin typeface="Calibri"/>
                      </a:endParaRPr>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lnSpc>
                          <a:spcPct val="100000"/>
                        </a:lnSpc>
                        <a:spcBef>
                          <a:spcPts val="0"/>
                        </a:spcBef>
                        <a:spcAft>
                          <a:spcPts val="0"/>
                        </a:spcAft>
                        <a:buNone/>
                      </a:pPr>
                      <a:r>
                        <a:rPr lang="en-US" sz="1000" b="0" i="0" u="none" strike="noStrike" cap="none" noProof="0">
                          <a:solidFill>
                            <a:srgbClr val="000000"/>
                          </a:solidFill>
                          <a:effectLst/>
                          <a:highlight>
                            <a:srgbClr val="FFE1CC"/>
                          </a:highlight>
                          <a:latin typeface="Calibri"/>
                          <a:ea typeface="+mn-ea"/>
                          <a:cs typeface="+mn-cs"/>
                          <a:sym typeface="Arial"/>
                        </a:rPr>
                        <a:t>The student is able to clean and pre-process and </a:t>
                      </a:r>
                      <a:r>
                        <a:rPr lang="en-US" sz="1000" b="0" i="0" u="none" strike="noStrike" cap="none" noProof="0" err="1">
                          <a:solidFill>
                            <a:srgbClr val="000000"/>
                          </a:solidFill>
                          <a:effectLst/>
                          <a:highlight>
                            <a:srgbClr val="FFE1CC"/>
                          </a:highlight>
                          <a:latin typeface="Calibri"/>
                          <a:ea typeface="+mn-ea"/>
                          <a:cs typeface="+mn-cs"/>
                          <a:sym typeface="Arial"/>
                        </a:rPr>
                        <a:t>visualise</a:t>
                      </a:r>
                      <a:r>
                        <a:rPr lang="en-US" sz="1000" b="0" i="0" u="none" strike="noStrike" cap="none" noProof="0">
                          <a:solidFill>
                            <a:srgbClr val="000000"/>
                          </a:solidFill>
                          <a:effectLst/>
                          <a:highlight>
                            <a:srgbClr val="FFE1CC"/>
                          </a:highlight>
                          <a:latin typeface="Calibri"/>
                          <a:ea typeface="+mn-ea"/>
                          <a:cs typeface="+mn-cs"/>
                          <a:sym typeface="Arial"/>
                        </a:rPr>
                        <a:t> data using Python libraries.</a:t>
                      </a:r>
                      <a:endParaRPr lang="en-US" sz="1000" b="0" i="0" u="none" strike="noStrike" cap="none">
                        <a:solidFill>
                          <a:srgbClr val="000000"/>
                        </a:solidFill>
                        <a:effectLst/>
                        <a:highlight>
                          <a:srgbClr val="FFE1CC"/>
                        </a:highlight>
                        <a:latin typeface="Calibri"/>
                        <a:ea typeface="+mn-ea"/>
                        <a:cs typeface="+mn-cs"/>
                        <a:sym typeface="Arial"/>
                      </a:endParaRPr>
                    </a:p>
                    <a:p>
                      <a:pPr lvl="0" algn="l">
                        <a:buNone/>
                      </a:pPr>
                      <a:endParaRPr lang="en-US" sz="1000" b="0" i="0" u="none" strike="noStrike" cap="none">
                        <a:solidFill>
                          <a:srgbClr val="000000"/>
                        </a:solidFill>
                        <a:effectLst/>
                        <a:highlight>
                          <a:srgbClr val="FFE1CC"/>
                        </a:highlight>
                        <a:latin typeface="Calibri" panose="020F0502020204030204" pitchFamily="34" charset="0"/>
                        <a:ea typeface="+mn-ea"/>
                        <a:cs typeface="+mn-cs"/>
                        <a:sym typeface="Arial"/>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cap="none" noProof="0">
                          <a:solidFill>
                            <a:srgbClr val="000000"/>
                          </a:solidFill>
                          <a:effectLst/>
                          <a:highlight>
                            <a:srgbClr val="FFE1CC"/>
                          </a:highlight>
                          <a:latin typeface="Calibri"/>
                          <a:ea typeface="+mn-ea"/>
                          <a:cs typeface="+mn-cs"/>
                          <a:sym typeface="Arial"/>
                        </a:rPr>
                        <a:t>The student is able to use metadata from the dataset  to </a:t>
                      </a:r>
                      <a:r>
                        <a:rPr lang="en-US" sz="1000" b="0" i="0" u="none" strike="noStrike" cap="none" noProof="0" err="1">
                          <a:solidFill>
                            <a:srgbClr val="000000"/>
                          </a:solidFill>
                          <a:effectLst/>
                          <a:highlight>
                            <a:srgbClr val="FFE1CC"/>
                          </a:highlight>
                          <a:latin typeface="Calibri"/>
                          <a:ea typeface="+mn-ea"/>
                          <a:cs typeface="+mn-cs"/>
                          <a:sym typeface="Arial"/>
                        </a:rPr>
                        <a:t>analyse</a:t>
                      </a:r>
                      <a:r>
                        <a:rPr lang="en-US" sz="1000" b="0" i="0" u="none" strike="noStrike" cap="none" noProof="0">
                          <a:solidFill>
                            <a:srgbClr val="000000"/>
                          </a:solidFill>
                          <a:effectLst/>
                          <a:highlight>
                            <a:srgbClr val="FFE1CC"/>
                          </a:highlight>
                          <a:latin typeface="Calibri"/>
                          <a:ea typeface="+mn-ea"/>
                          <a:cs typeface="+mn-cs"/>
                          <a:sym typeface="Arial"/>
                        </a:rPr>
                        <a:t> the different types of data with describing the role (e.g. id / feature/ target) as well as detecting missed values.</a:t>
                      </a:r>
                      <a:endParaRPr lang="en-US" sz="1000" b="0" i="0" u="none" strike="noStrike" cap="none">
                        <a:solidFill>
                          <a:srgbClr val="000000"/>
                        </a:solidFill>
                        <a:effectLst/>
                        <a:highlight>
                          <a:srgbClr val="FFE1CC"/>
                        </a:highlight>
                        <a:latin typeface="Calibri"/>
                        <a:ea typeface="+mn-ea"/>
                        <a:cs typeface="+mn-cs"/>
                        <a:sym typeface="Arial"/>
                      </a:endParaRPr>
                    </a:p>
                    <a:p>
                      <a:pPr lvl="0" algn="l">
                        <a:buNone/>
                      </a:pPr>
                      <a:endParaRPr lang="en-US" sz="1000" b="0" i="0" u="none" strike="noStrike" cap="none">
                        <a:solidFill>
                          <a:srgbClr val="000000"/>
                        </a:solidFill>
                        <a:effectLst/>
                        <a:highlight>
                          <a:srgbClr val="FFE1CC"/>
                        </a:highlight>
                        <a:latin typeface="Calibri" panose="020F0502020204030204" pitchFamily="34" charset="0"/>
                        <a:ea typeface="+mn-ea"/>
                        <a:cs typeface="+mn-cs"/>
                        <a:sym typeface="Arial"/>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2131454656"/>
                  </a:ext>
                </a:extLst>
              </a:tr>
              <a:tr h="2157518">
                <a:tc>
                  <a:txBody>
                    <a:bodyPr/>
                    <a:lstStyle/>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266779070"/>
                  </a:ext>
                </a:extLst>
              </a:tr>
            </a:tbl>
          </a:graphicData>
        </a:graphic>
      </p:graphicFrame>
    </p:spTree>
    <p:extLst>
      <p:ext uri="{BB962C8B-B14F-4D97-AF65-F5344CB8AC3E}">
        <p14:creationId xmlns:p14="http://schemas.microsoft.com/office/powerpoint/2010/main" val="13079797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8.1</a:t>
            </a:r>
            <a:endParaRPr lang="en-US"/>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r>
              <a:rPr lang="en-US"/>
              <a:t>Modelling</a:t>
            </a:r>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r>
              <a:rPr lang="en-US"/>
              <a:t>The student can apply modelling techniques including Machine Learning and AI to create value for individuals, organizations and domains. </a:t>
            </a:r>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rPr>
              <a:t>8</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9339090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8</a:t>
            </a:r>
            <a:endParaRPr lang="en-US"/>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2" y="0"/>
            <a:ext cx="6380860" cy="576000"/>
          </a:xfrm>
          <a:prstGeom prst="rect">
            <a:avLst/>
          </a:prstGeom>
        </p:spPr>
        <p:txBody>
          <a:bodyPr spcFirstLastPara="1" wrap="square" lIns="91425" tIns="91425" rIns="91425" bIns="91425" anchor="ctr" anchorCtr="0">
            <a:noAutofit/>
          </a:bodyPr>
          <a:lstStyle/>
          <a:p>
            <a:r>
              <a:rPr lang="en-US" sz="1050"/>
              <a:t>The student can apply modelling techniques including Machine Learning and AI to create value for individuals, organizations and domains. </a:t>
            </a:r>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8.1</a:t>
            </a:r>
            <a:endParaRPr/>
          </a:p>
        </p:txBody>
      </p:sp>
      <p:sp>
        <p:nvSpPr>
          <p:cNvPr id="398" name="Google Shape;398;p42"/>
          <p:cNvSpPr txBox="1">
            <a:spLocks noGrp="1"/>
          </p:cNvSpPr>
          <p:nvPr>
            <p:ph type="title" idx="5"/>
          </p:nvPr>
        </p:nvSpPr>
        <p:spPr>
          <a:xfrm>
            <a:off x="845550" y="576000"/>
            <a:ext cx="8298450" cy="493800"/>
          </a:xfrm>
          <a:prstGeom prst="rect">
            <a:avLst/>
          </a:prstGeom>
        </p:spPr>
        <p:txBody>
          <a:bodyPr spcFirstLastPara="1" wrap="square" lIns="91425" tIns="91425" rIns="91425" bIns="91425" anchor="ctr" anchorCtr="0">
            <a:noAutofit/>
          </a:bodyPr>
          <a:lstStyle/>
          <a:p>
            <a:r>
              <a:rPr lang="en-US" i="0"/>
              <a:t>The student is able to understand different types of supervised and unsupervised machine learning algorithms for data analysis  and can implement these to solve a business objective using industry standard Python libraries.</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r>
              <a:rPr lang="en-US" sz="900"/>
              <a:t>Modelling</a:t>
            </a:r>
            <a:endParaRPr lang="en-US"/>
          </a:p>
        </p:txBody>
      </p:sp>
      <p:graphicFrame>
        <p:nvGraphicFramePr>
          <p:cNvPr id="2" name="Table 1">
            <a:extLst>
              <a:ext uri="{FF2B5EF4-FFF2-40B4-BE49-F238E27FC236}">
                <a16:creationId xmlns:a16="http://schemas.microsoft.com/office/drawing/2014/main" id="{57E3E280-FB5F-EC44-E126-2CCC797691FD}"/>
              </a:ext>
            </a:extLst>
          </p:cNvPr>
          <p:cNvGraphicFramePr>
            <a:graphicFrameLocks noGrp="1"/>
          </p:cNvGraphicFramePr>
          <p:nvPr>
            <p:extLst>
              <p:ext uri="{D42A27DB-BD31-4B8C-83A1-F6EECF244321}">
                <p14:modId xmlns:p14="http://schemas.microsoft.com/office/powerpoint/2010/main" val="446303457"/>
              </p:ext>
            </p:extLst>
          </p:nvPr>
        </p:nvGraphicFramePr>
        <p:xfrm>
          <a:off x="0" y="1069800"/>
          <a:ext cx="9144001" cy="4073701"/>
        </p:xfrm>
        <a:graphic>
          <a:graphicData uri="http://schemas.openxmlformats.org/drawingml/2006/table">
            <a:tbl>
              <a:tblPr/>
              <a:tblGrid>
                <a:gridCol w="1520946">
                  <a:extLst>
                    <a:ext uri="{9D8B030D-6E8A-4147-A177-3AD203B41FA5}">
                      <a16:colId xmlns:a16="http://schemas.microsoft.com/office/drawing/2014/main" val="2171384223"/>
                    </a:ext>
                  </a:extLst>
                </a:gridCol>
                <a:gridCol w="1502622">
                  <a:extLst>
                    <a:ext uri="{9D8B030D-6E8A-4147-A177-3AD203B41FA5}">
                      <a16:colId xmlns:a16="http://schemas.microsoft.com/office/drawing/2014/main" val="1315127927"/>
                    </a:ext>
                  </a:extLst>
                </a:gridCol>
                <a:gridCol w="1557595">
                  <a:extLst>
                    <a:ext uri="{9D8B030D-6E8A-4147-A177-3AD203B41FA5}">
                      <a16:colId xmlns:a16="http://schemas.microsoft.com/office/drawing/2014/main" val="2516077077"/>
                    </a:ext>
                  </a:extLst>
                </a:gridCol>
                <a:gridCol w="1520946">
                  <a:extLst>
                    <a:ext uri="{9D8B030D-6E8A-4147-A177-3AD203B41FA5}">
                      <a16:colId xmlns:a16="http://schemas.microsoft.com/office/drawing/2014/main" val="2417746137"/>
                    </a:ext>
                  </a:extLst>
                </a:gridCol>
                <a:gridCol w="1520946">
                  <a:extLst>
                    <a:ext uri="{9D8B030D-6E8A-4147-A177-3AD203B41FA5}">
                      <a16:colId xmlns:a16="http://schemas.microsoft.com/office/drawing/2014/main" val="2357257076"/>
                    </a:ext>
                  </a:extLst>
                </a:gridCol>
                <a:gridCol w="1520946">
                  <a:extLst>
                    <a:ext uri="{9D8B030D-6E8A-4147-A177-3AD203B41FA5}">
                      <a16:colId xmlns:a16="http://schemas.microsoft.com/office/drawing/2014/main" val="1775122286"/>
                    </a:ext>
                  </a:extLst>
                </a:gridCol>
              </a:tblGrid>
              <a:tr h="169455">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2505160243"/>
                  </a:ext>
                </a:extLst>
              </a:tr>
              <a:tr h="1952123">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has a sufficient knowledge about ML algorithms. The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 </a:t>
                      </a:r>
                      <a:endParaRPr lang="en-US" sz="1000">
                        <a:latin typeface="Calibri"/>
                      </a:endParaRPr>
                    </a:p>
                    <a:p>
                      <a:pPr lvl="0" algn="l">
                        <a:buNone/>
                      </a:pPr>
                      <a:r>
                        <a:rPr lang="en-US" sz="1000" b="0" i="0" u="none" strike="noStrike">
                          <a:solidFill>
                            <a:srgbClr val="000000"/>
                          </a:solidFill>
                          <a:effectLst/>
                          <a:highlight>
                            <a:srgbClr val="FEF2CD"/>
                          </a:highlight>
                          <a:latin typeface="Calibri"/>
                        </a:rPr>
                        <a:t>. </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ctr">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understand regression concepts and build a regression baseline using dataset. </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buNone/>
                      </a:pPr>
                      <a:r>
                        <a:rPr lang="en-US" sz="1000" b="0" i="0" u="none" strike="noStrike" noProof="0">
                          <a:solidFill>
                            <a:srgbClr val="000000"/>
                          </a:solidFill>
                          <a:effectLst/>
                          <a:highlight>
                            <a:srgbClr val="F7C7AC"/>
                          </a:highlight>
                          <a:latin typeface="Calibri"/>
                        </a:rPr>
                        <a:t>The student is able to understand classification concepts and build a classification baseline using dataset</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understand clustering concepts and build a clustering baseline to segment patients into clusters using dataset.</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7C7AC"/>
                          </a:highlight>
                          <a:latin typeface="Calibri"/>
                        </a:rPr>
                        <a:t>The student is able to do the feature selection and engineering in dataset and is able to improve their model by tuning its hyperparameter(s) using a validation set and justify their model improvement(s) in the context of the business objective.</a:t>
                      </a:r>
                      <a:endParaRPr lang="en-US" sz="1000">
                        <a:latin typeface="Calibri"/>
                      </a:endParaRPr>
                    </a:p>
                    <a:p>
                      <a:pPr lvl="0" algn="l">
                        <a:buNone/>
                      </a:pPr>
                      <a:endParaRPr lang="en-US" sz="1000" b="0" i="0" u="none" strike="noStrike">
                        <a:solidFill>
                          <a:srgbClr val="000000"/>
                        </a:solidFill>
                        <a:effectLst/>
                        <a:highlight>
                          <a:srgbClr val="F7C7A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a:t>
                      </a:r>
                      <a:r>
                        <a:rPr lang="en-US" sz="1000" b="0" i="0" u="none" strike="noStrike" noProof="0" err="1">
                          <a:solidFill>
                            <a:srgbClr val="000000"/>
                          </a:solidFill>
                          <a:effectLst/>
                          <a:highlight>
                            <a:srgbClr val="FFE1CC"/>
                          </a:highlight>
                          <a:latin typeface="Calibri"/>
                        </a:rPr>
                        <a:t>analyse</a:t>
                      </a:r>
                      <a:r>
                        <a:rPr lang="en-US" sz="1000" b="0" i="0" u="none" strike="noStrike" noProof="0">
                          <a:solidFill>
                            <a:srgbClr val="000000"/>
                          </a:solidFill>
                          <a:effectLst/>
                          <a:highlight>
                            <a:srgbClr val="FFE1CC"/>
                          </a:highlight>
                          <a:latin typeface="Calibri"/>
                        </a:rPr>
                        <a:t> and interpret the results obtained from the ML algorithms for model selection based on the solution requirements and dataset features.</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510942754"/>
                  </a:ext>
                </a:extLst>
              </a:tr>
              <a:tr h="1952123">
                <a:tc>
                  <a:txBody>
                    <a:bodyPr/>
                    <a:lstStyle/>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825924416"/>
                  </a:ext>
                </a:extLst>
              </a:tr>
            </a:tbl>
          </a:graphicData>
        </a:graphic>
      </p:graphicFrame>
    </p:spTree>
    <p:extLst>
      <p:ext uri="{BB962C8B-B14F-4D97-AF65-F5344CB8AC3E}">
        <p14:creationId xmlns:p14="http://schemas.microsoft.com/office/powerpoint/2010/main" val="830931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8.2</a:t>
            </a:r>
            <a:endParaRPr lang="en-US"/>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r>
              <a:rPr lang="en-US"/>
              <a:t>Modelling</a:t>
            </a:r>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r>
              <a:rPr lang="en-US"/>
              <a:t>The student can apply modelling techniques including Machine Learning and AI to create value for individuals, organizations and domains. </a:t>
            </a:r>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rPr>
              <a:t>8</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9643193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8</a:t>
            </a:r>
            <a:endParaRPr lang="en-US"/>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2" y="0"/>
            <a:ext cx="6380860" cy="576000"/>
          </a:xfrm>
          <a:prstGeom prst="rect">
            <a:avLst/>
          </a:prstGeom>
        </p:spPr>
        <p:txBody>
          <a:bodyPr spcFirstLastPara="1" wrap="square" lIns="91425" tIns="91425" rIns="91425" bIns="91425" anchor="ctr" anchorCtr="0">
            <a:noAutofit/>
          </a:bodyPr>
          <a:lstStyle/>
          <a:p>
            <a:r>
              <a:rPr lang="en-US" sz="1050"/>
              <a:t>The student can apply modelling techniques including Machine Learning and AI to create value for individuals, organizations and domains. </a:t>
            </a:r>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8.2</a:t>
            </a:r>
            <a:endParaRPr/>
          </a:p>
        </p:txBody>
      </p:sp>
      <p:sp>
        <p:nvSpPr>
          <p:cNvPr id="398" name="Google Shape;398;p42"/>
          <p:cNvSpPr txBox="1">
            <a:spLocks noGrp="1"/>
          </p:cNvSpPr>
          <p:nvPr>
            <p:ph type="title" idx="5"/>
          </p:nvPr>
        </p:nvSpPr>
        <p:spPr>
          <a:xfrm>
            <a:off x="845550" y="576000"/>
            <a:ext cx="8298450" cy="493800"/>
          </a:xfrm>
          <a:prstGeom prst="rect">
            <a:avLst/>
          </a:prstGeom>
        </p:spPr>
        <p:txBody>
          <a:bodyPr spcFirstLastPara="1" wrap="square" lIns="91425" tIns="91425" rIns="91425" bIns="91425" anchor="ctr" anchorCtr="0">
            <a:noAutofit/>
          </a:bodyPr>
          <a:lstStyle/>
          <a:p>
            <a:r>
              <a:rPr lang="en-US" i="0"/>
              <a:t>The student is able to perform elementary operations on matrices and understand the concepts of derivatives, gradients, optimization algorithms, and can implement a simple machine learning model from scratch.</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r>
              <a:rPr lang="en-US" sz="900"/>
              <a:t>Modelling</a:t>
            </a:r>
            <a:endParaRPr lang="en-US"/>
          </a:p>
        </p:txBody>
      </p:sp>
      <p:graphicFrame>
        <p:nvGraphicFramePr>
          <p:cNvPr id="2" name="Table 1">
            <a:extLst>
              <a:ext uri="{FF2B5EF4-FFF2-40B4-BE49-F238E27FC236}">
                <a16:creationId xmlns:a16="http://schemas.microsoft.com/office/drawing/2014/main" id="{57E3E280-FB5F-EC44-E126-2CCC797691FD}"/>
              </a:ext>
            </a:extLst>
          </p:cNvPr>
          <p:cNvGraphicFramePr>
            <a:graphicFrameLocks noGrp="1"/>
          </p:cNvGraphicFramePr>
          <p:nvPr>
            <p:extLst>
              <p:ext uri="{D42A27DB-BD31-4B8C-83A1-F6EECF244321}">
                <p14:modId xmlns:p14="http://schemas.microsoft.com/office/powerpoint/2010/main" val="830487356"/>
              </p:ext>
            </p:extLst>
          </p:nvPr>
        </p:nvGraphicFramePr>
        <p:xfrm>
          <a:off x="0" y="1069800"/>
          <a:ext cx="9144001" cy="5022301"/>
        </p:xfrm>
        <a:graphic>
          <a:graphicData uri="http://schemas.openxmlformats.org/drawingml/2006/table">
            <a:tbl>
              <a:tblPr/>
              <a:tblGrid>
                <a:gridCol w="1520946">
                  <a:extLst>
                    <a:ext uri="{9D8B030D-6E8A-4147-A177-3AD203B41FA5}">
                      <a16:colId xmlns:a16="http://schemas.microsoft.com/office/drawing/2014/main" val="2171384223"/>
                    </a:ext>
                  </a:extLst>
                </a:gridCol>
                <a:gridCol w="1502622">
                  <a:extLst>
                    <a:ext uri="{9D8B030D-6E8A-4147-A177-3AD203B41FA5}">
                      <a16:colId xmlns:a16="http://schemas.microsoft.com/office/drawing/2014/main" val="1315127927"/>
                    </a:ext>
                  </a:extLst>
                </a:gridCol>
                <a:gridCol w="1557595">
                  <a:extLst>
                    <a:ext uri="{9D8B030D-6E8A-4147-A177-3AD203B41FA5}">
                      <a16:colId xmlns:a16="http://schemas.microsoft.com/office/drawing/2014/main" val="2516077077"/>
                    </a:ext>
                  </a:extLst>
                </a:gridCol>
                <a:gridCol w="1520946">
                  <a:extLst>
                    <a:ext uri="{9D8B030D-6E8A-4147-A177-3AD203B41FA5}">
                      <a16:colId xmlns:a16="http://schemas.microsoft.com/office/drawing/2014/main" val="2417746137"/>
                    </a:ext>
                  </a:extLst>
                </a:gridCol>
                <a:gridCol w="1520946">
                  <a:extLst>
                    <a:ext uri="{9D8B030D-6E8A-4147-A177-3AD203B41FA5}">
                      <a16:colId xmlns:a16="http://schemas.microsoft.com/office/drawing/2014/main" val="2357257076"/>
                    </a:ext>
                  </a:extLst>
                </a:gridCol>
                <a:gridCol w="1520946">
                  <a:extLst>
                    <a:ext uri="{9D8B030D-6E8A-4147-A177-3AD203B41FA5}">
                      <a16:colId xmlns:a16="http://schemas.microsoft.com/office/drawing/2014/main" val="1775122286"/>
                    </a:ext>
                  </a:extLst>
                </a:gridCol>
              </a:tblGrid>
              <a:tr h="169455">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2505160243"/>
                  </a:ext>
                </a:extLst>
              </a:tr>
              <a:tr h="1952122">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EF2CD"/>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demonstrate a comprehensive understanding of key optimization algorithms, critically </a:t>
                      </a:r>
                      <a:r>
                        <a:rPr lang="en-US" sz="1000" b="0" i="0" u="none" strike="noStrike" noProof="0" err="1">
                          <a:solidFill>
                            <a:srgbClr val="000000"/>
                          </a:solidFill>
                          <a:effectLst/>
                          <a:highlight>
                            <a:srgbClr val="FFE1CC"/>
                          </a:highlight>
                          <a:latin typeface="Calibri"/>
                        </a:rPr>
                        <a:t>analyse</a:t>
                      </a:r>
                      <a:r>
                        <a:rPr lang="en-US" sz="1000" b="0" i="0" u="none" strike="noStrike" noProof="0">
                          <a:solidFill>
                            <a:srgbClr val="000000"/>
                          </a:solidFill>
                          <a:effectLst/>
                          <a:highlight>
                            <a:srgbClr val="FFE1CC"/>
                          </a:highlight>
                          <a:latin typeface="Calibri"/>
                        </a:rPr>
                        <a:t> their performance, and apply them to solve complex minimization and maximization problems. Furthermore, the student will have the capability to assess the impact of algorithm parameters on performance and convergence in mathematical optimization.</a:t>
                      </a:r>
                      <a:endParaRPr lang="en-US" sz="1000">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7C7AC"/>
                          </a:highlight>
                          <a:latin typeface="Calibri"/>
                        </a:rPr>
                        <a:t>The student implement all steps of training a regression model from scratch for their project, including implementing the cost function and finding its derivative, training the model using an optimization algorithm, evaluating the model's performance using appropriate regression metrics, and performing accurate predictions based on the trained model. </a:t>
                      </a:r>
                      <a:endParaRPr lang="en-US" sz="1000">
                        <a:latin typeface="Calibri"/>
                      </a:endParaRPr>
                    </a:p>
                    <a:p>
                      <a:pPr lvl="0" algn="l">
                        <a:buNone/>
                      </a:pPr>
                      <a:endParaRPr lang="en-US" sz="1000" b="0" i="0" u="none" strike="noStrike" noProof="0">
                        <a:solidFill>
                          <a:srgbClr val="000000"/>
                        </a:solidFill>
                        <a:effectLst/>
                        <a:highlight>
                          <a:srgbClr val="F7C7A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conduct fine-tuning of hyperparameters for regression models implemented from scratch, which includes implementing the regularized form of the cost function, testing different optimization algorithms (modifying them as necessary when incorporating regularization), studying the impact of learning rates on training performance, and examining how scaling features influences model performance and generalization. </a:t>
                      </a:r>
                      <a:endParaRPr lang="en-US" sz="1000">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7C7AC"/>
                          </a:highlight>
                          <a:latin typeface="Calibri"/>
                        </a:rPr>
                        <a:t>The student implement all steps of training a classification model from scratch for their project, including defining the cost function and calculating its derivative, training the model using an optimization algorithm, evaluating the model's performance with relevant classification metrics, and making accurate predictions based on the trained model.</a:t>
                      </a:r>
                      <a:endParaRPr lang="en-US" sz="1000">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7C7A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carry out hyperparameter fine-tuning for classification models developed from scratch, focusing on testing various optimization algorithms (modifying them as necessary to integrate regularization), implementing the regularized form of the cost function, analyzing the effects of learning rates on training performance, and assessing how scaling features affects model performance and generalization. </a:t>
                      </a:r>
                      <a:endParaRPr lang="en-US" sz="1000">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510942754"/>
                  </a:ext>
                </a:extLst>
              </a:tr>
              <a:tr h="1952123">
                <a:tc>
                  <a:txBody>
                    <a:bodyPr/>
                    <a:lstStyle/>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825924416"/>
                  </a:ext>
                </a:extLst>
              </a:tr>
            </a:tbl>
          </a:graphicData>
        </a:graphic>
      </p:graphicFrame>
    </p:spTree>
    <p:extLst>
      <p:ext uri="{BB962C8B-B14F-4D97-AF65-F5344CB8AC3E}">
        <p14:creationId xmlns:p14="http://schemas.microsoft.com/office/powerpoint/2010/main" val="42801572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a:t>
            </a:r>
            <a:r>
              <a:rPr lang="en-US"/>
              <a:t>11.1</a:t>
            </a:r>
            <a:endParaRPr/>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Reporting and Advising</a:t>
            </a:r>
            <a:endParaRPr/>
          </a:p>
        </p:txBody>
      </p:sp>
      <p:sp>
        <p:nvSpPr>
          <p:cNvPr id="365" name="Google Shape;365;p39"/>
          <p:cNvSpPr txBox="1">
            <a:spLocks noGrp="1"/>
          </p:cNvSpPr>
          <p:nvPr>
            <p:ph type="subTitle" idx="2"/>
          </p:nvPr>
        </p:nvSpPr>
        <p:spPr>
          <a:xfrm>
            <a:off x="4572000" y="3353563"/>
            <a:ext cx="4114800" cy="685800"/>
          </a:xfrm>
          <a:prstGeom prst="rect">
            <a:avLst/>
          </a:prstGeom>
        </p:spPr>
        <p:txBody>
          <a:bodyPr spcFirstLastPara="1" wrap="square" lIns="91425" tIns="91425" rIns="91425" bIns="91425" anchor="ctr" anchorCtr="0">
            <a:noAutofit/>
          </a:bodyPr>
          <a:lstStyle/>
          <a:p>
            <a:pPr marL="0" indent="0"/>
            <a:r>
              <a:rPr lang="en-US"/>
              <a:t>The student can translate (interim) results into effective reporting. They see opportunities and possibilities and can translate these from a market-oriented vision into new concepts, products or services, while keeping the business side of the organization in mind. </a:t>
            </a:r>
            <a:endParaRPr lang="en"/>
          </a:p>
        </p:txBody>
      </p:sp>
      <p:sp>
        <p:nvSpPr>
          <p:cNvPr id="366" name="Google Shape;366;p39"/>
          <p:cNvSpPr txBox="1"/>
          <p:nvPr/>
        </p:nvSpPr>
        <p:spPr>
          <a:xfrm>
            <a:off x="-1152144" y="1013655"/>
            <a:ext cx="5823204"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sym typeface="Roboto"/>
              </a:rPr>
              <a:t>11</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26558611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90795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11</a:t>
            </a:r>
            <a:endParaRPr/>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2" y="0"/>
            <a:ext cx="6509088" cy="576000"/>
          </a:xfrm>
          <a:prstGeom prst="rect">
            <a:avLst/>
          </a:prstGeom>
        </p:spPr>
        <p:txBody>
          <a:bodyPr spcFirstLastPara="1" wrap="square" lIns="91425" tIns="91425" rIns="91425" bIns="91425" anchor="ctr" anchorCtr="0">
            <a:noAutofit/>
          </a:bodyPr>
          <a:lstStyle/>
          <a:p>
            <a:pPr marL="0" indent="0"/>
            <a:r>
              <a:rPr lang="en-US" sz="1050"/>
              <a:t>The student can translate (interim) results into effective reporting. They see opportunities and possibilities and can translate these from a market-oriented vision into new concepts, products or services, while keeping the business side of the organization in mind. </a:t>
            </a:r>
            <a:endParaRPr lang="en-GB"/>
          </a:p>
        </p:txBody>
      </p:sp>
      <p:sp>
        <p:nvSpPr>
          <p:cNvPr id="397" name="Google Shape;397;p42"/>
          <p:cNvSpPr txBox="1">
            <a:spLocks noGrp="1"/>
          </p:cNvSpPr>
          <p:nvPr>
            <p:ph type="title" idx="4"/>
          </p:nvPr>
        </p:nvSpPr>
        <p:spPr>
          <a:xfrm>
            <a:off x="0" y="576000"/>
            <a:ext cx="1157712"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11.1</a:t>
            </a:r>
            <a:endParaRPr/>
          </a:p>
        </p:txBody>
      </p:sp>
      <p:sp>
        <p:nvSpPr>
          <p:cNvPr id="398" name="Google Shape;398;p42"/>
          <p:cNvSpPr txBox="1">
            <a:spLocks noGrp="1"/>
          </p:cNvSpPr>
          <p:nvPr>
            <p:ph type="title" idx="5"/>
          </p:nvPr>
        </p:nvSpPr>
        <p:spPr>
          <a:xfrm>
            <a:off x="1044450" y="576000"/>
            <a:ext cx="7315200" cy="493800"/>
          </a:xfrm>
          <a:prstGeom prst="rect">
            <a:avLst/>
          </a:prstGeom>
        </p:spPr>
        <p:txBody>
          <a:bodyPr spcFirstLastPara="1" wrap="square" lIns="91425" tIns="91425" rIns="91425" bIns="91425" anchor="ctr" anchorCtr="0">
            <a:noAutofit/>
          </a:bodyPr>
          <a:lstStyle/>
          <a:p>
            <a:r>
              <a:rPr lang="en-US" i="0"/>
              <a:t>The student is able to communicate technical concepts by means of a structured, coherent, and well-formatted professional report.</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a:t>Reporting and Advising</a:t>
            </a:r>
            <a:endParaRPr sz="900"/>
          </a:p>
        </p:txBody>
      </p:sp>
      <p:graphicFrame>
        <p:nvGraphicFramePr>
          <p:cNvPr id="2" name="Table 1">
            <a:extLst>
              <a:ext uri="{FF2B5EF4-FFF2-40B4-BE49-F238E27FC236}">
                <a16:creationId xmlns:a16="http://schemas.microsoft.com/office/drawing/2014/main" id="{AA669EC2-980A-B4FE-9112-D450A8EFD54D}"/>
              </a:ext>
            </a:extLst>
          </p:cNvPr>
          <p:cNvGraphicFramePr>
            <a:graphicFrameLocks noGrp="1"/>
          </p:cNvGraphicFramePr>
          <p:nvPr>
            <p:extLst>
              <p:ext uri="{D42A27DB-BD31-4B8C-83A1-F6EECF244321}">
                <p14:modId xmlns:p14="http://schemas.microsoft.com/office/powerpoint/2010/main" val="533302219"/>
              </p:ext>
            </p:extLst>
          </p:nvPr>
        </p:nvGraphicFramePr>
        <p:xfrm>
          <a:off x="0" y="1053422"/>
          <a:ext cx="9144001" cy="4090078"/>
        </p:xfrm>
        <a:graphic>
          <a:graphicData uri="http://schemas.openxmlformats.org/drawingml/2006/table">
            <a:tbl>
              <a:tblPr/>
              <a:tblGrid>
                <a:gridCol w="1520946">
                  <a:extLst>
                    <a:ext uri="{9D8B030D-6E8A-4147-A177-3AD203B41FA5}">
                      <a16:colId xmlns:a16="http://schemas.microsoft.com/office/drawing/2014/main" val="2968662855"/>
                    </a:ext>
                  </a:extLst>
                </a:gridCol>
                <a:gridCol w="1502622">
                  <a:extLst>
                    <a:ext uri="{9D8B030D-6E8A-4147-A177-3AD203B41FA5}">
                      <a16:colId xmlns:a16="http://schemas.microsoft.com/office/drawing/2014/main" val="2533108805"/>
                    </a:ext>
                  </a:extLst>
                </a:gridCol>
                <a:gridCol w="1557595">
                  <a:extLst>
                    <a:ext uri="{9D8B030D-6E8A-4147-A177-3AD203B41FA5}">
                      <a16:colId xmlns:a16="http://schemas.microsoft.com/office/drawing/2014/main" val="78944563"/>
                    </a:ext>
                  </a:extLst>
                </a:gridCol>
                <a:gridCol w="1520946">
                  <a:extLst>
                    <a:ext uri="{9D8B030D-6E8A-4147-A177-3AD203B41FA5}">
                      <a16:colId xmlns:a16="http://schemas.microsoft.com/office/drawing/2014/main" val="3620540080"/>
                    </a:ext>
                  </a:extLst>
                </a:gridCol>
                <a:gridCol w="1520946">
                  <a:extLst>
                    <a:ext uri="{9D8B030D-6E8A-4147-A177-3AD203B41FA5}">
                      <a16:colId xmlns:a16="http://schemas.microsoft.com/office/drawing/2014/main" val="930998757"/>
                    </a:ext>
                  </a:extLst>
                </a:gridCol>
                <a:gridCol w="1520946">
                  <a:extLst>
                    <a:ext uri="{9D8B030D-6E8A-4147-A177-3AD203B41FA5}">
                      <a16:colId xmlns:a16="http://schemas.microsoft.com/office/drawing/2014/main" val="1851329009"/>
                    </a:ext>
                  </a:extLst>
                </a:gridCol>
              </a:tblGrid>
              <a:tr h="343684">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A (Points: 3)</a:t>
                      </a:r>
                      <a:endParaRPr lang="en-US" sz="1000" b="1" i="0" u="none" strike="noStrike">
                        <a:solidFill>
                          <a:srgbClr val="000000"/>
                        </a:solidFill>
                        <a:effectLst/>
                        <a:highlight>
                          <a:srgbClr val="D0D0D0"/>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B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C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D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E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136059547"/>
                  </a:ext>
                </a:extLst>
              </a:tr>
              <a:tr h="1546814">
                <a:tc>
                  <a:txBody>
                    <a:bodyPr/>
                    <a:lstStyle/>
                    <a:p>
                      <a:pPr lvl="0" algn="l">
                        <a:buNone/>
                      </a:pPr>
                      <a:r>
                        <a:rPr lang="en-US" sz="1000" b="0" i="0" u="none" strike="noStrike" noProof="0">
                          <a:solidFill>
                            <a:srgbClr val="000000"/>
                          </a:solidFill>
                          <a:effectLst/>
                          <a:highlight>
                            <a:srgbClr val="FEF2CD"/>
                          </a:highlight>
                          <a:latin typeface="Calibri"/>
                        </a:rPr>
                        <a:t>The student should present final project and be able to answer the questions related to it during the presentation. The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buNone/>
                      </a:pPr>
                      <a:r>
                        <a:rPr lang="en-US" sz="1000" b="0" i="0" u="none" strike="noStrike" noProof="0">
                          <a:solidFill>
                            <a:srgbClr val="000000"/>
                          </a:solidFill>
                          <a:effectLst/>
                          <a:highlight>
                            <a:srgbClr val="FFE1CC"/>
                          </a:highlight>
                          <a:latin typeface="Calibri"/>
                        </a:rPr>
                        <a:t>The student is able to define the sections (EDA, Regression, Classification, Clustering, Evaluation, Improvement) clearly based on implementations.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buNone/>
                      </a:pPr>
                      <a:r>
                        <a:rPr lang="en-US" sz="1000" b="0" i="0" u="none" strike="noStrike" noProof="0">
                          <a:solidFill>
                            <a:srgbClr val="000000"/>
                          </a:solidFill>
                          <a:effectLst/>
                          <a:highlight>
                            <a:srgbClr val="F7C7AC"/>
                          </a:highlight>
                          <a:latin typeface="Calibri"/>
                        </a:rPr>
                        <a:t>The students is able to demonstrate an advanced understanding of machine learning concepts.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buNone/>
                      </a:pPr>
                      <a:r>
                        <a:rPr lang="en-US" sz="1000" b="0" i="0" u="none" strike="noStrike" noProof="0">
                          <a:solidFill>
                            <a:srgbClr val="000000"/>
                          </a:solidFill>
                          <a:effectLst/>
                          <a:highlight>
                            <a:srgbClr val="FFE1CC"/>
                          </a:highlight>
                          <a:latin typeface="Calibri"/>
                        </a:rPr>
                        <a:t>The student is able to demonstrate understanding of different types of machine learning algorithms for data analysis and have implementation of baselines based on the defined project and dataset.</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buNone/>
                      </a:pPr>
                      <a:r>
                        <a:rPr lang="en-US" sz="1000" b="0" i="0" u="none" strike="noStrike" noProof="0">
                          <a:solidFill>
                            <a:srgbClr val="000000"/>
                          </a:solidFill>
                          <a:effectLst/>
                          <a:highlight>
                            <a:srgbClr val="F7C7AC"/>
                          </a:highlight>
                          <a:latin typeface="Calibri"/>
                        </a:rPr>
                        <a:t>The student is able to critically </a:t>
                      </a:r>
                      <a:r>
                        <a:rPr lang="en-US" sz="1000" b="0" i="0" u="none" strike="noStrike" noProof="0" err="1">
                          <a:solidFill>
                            <a:srgbClr val="000000"/>
                          </a:solidFill>
                          <a:effectLst/>
                          <a:highlight>
                            <a:srgbClr val="F7C7AC"/>
                          </a:highlight>
                          <a:latin typeface="Calibri"/>
                        </a:rPr>
                        <a:t>analyse</a:t>
                      </a:r>
                      <a:r>
                        <a:rPr lang="en-US" sz="1000" b="0" i="0" u="none" strike="noStrike" noProof="0">
                          <a:solidFill>
                            <a:srgbClr val="000000"/>
                          </a:solidFill>
                          <a:effectLst/>
                          <a:highlight>
                            <a:srgbClr val="F7C7AC"/>
                          </a:highlight>
                          <a:latin typeface="Calibri"/>
                        </a:rPr>
                        <a:t> and evaluate their proposed solutions based on its relevance for the business objectives. </a:t>
                      </a:r>
                      <a:r>
                        <a:rPr lang="en-US" sz="1000" b="0" i="0" u="none" strike="noStrike">
                          <a:solidFill>
                            <a:srgbClr val="000000"/>
                          </a:solidFill>
                          <a:effectLst/>
                          <a:highlight>
                            <a:srgbClr val="F7C7AC"/>
                          </a:highlight>
                          <a:latin typeface="Calibri"/>
                        </a:rPr>
                        <a:t>. </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buNone/>
                      </a:pPr>
                      <a:r>
                        <a:rPr lang="en-US" sz="1000" b="0" i="0" u="none" strike="noStrike" noProof="0">
                          <a:solidFill>
                            <a:srgbClr val="000000"/>
                          </a:solidFill>
                          <a:effectLst/>
                          <a:highlight>
                            <a:srgbClr val="FFE1CC"/>
                          </a:highlight>
                          <a:latin typeface="Calibri"/>
                        </a:rPr>
                        <a:t>The student has a clean and commented code and is able to identify the shortcomings of the current implementation and propose next steps for improving the quality of implementation.</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4009708987"/>
                  </a:ext>
                </a:extLst>
              </a:tr>
              <a:tr h="2199580">
                <a:tc>
                  <a:txBody>
                    <a:bodyPr/>
                    <a:lstStyle/>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1169269582"/>
                  </a:ext>
                </a:extLst>
              </a:tr>
            </a:tbl>
          </a:graphicData>
        </a:graphic>
      </p:graphicFrame>
    </p:spTree>
    <p:extLst>
      <p:ext uri="{BB962C8B-B14F-4D97-AF65-F5344CB8AC3E}">
        <p14:creationId xmlns:p14="http://schemas.microsoft.com/office/powerpoint/2010/main" val="33010341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t>
            </a:r>
            <a:r>
              <a:rPr lang="en-NL" err="1"/>
              <a:t>edal</a:t>
            </a:r>
            <a:r>
              <a:rPr lang="en-NL"/>
              <a:t> Challenges</a:t>
            </a:r>
            <a:endParaRPr/>
          </a:p>
        </p:txBody>
      </p:sp>
      <p:sp>
        <p:nvSpPr>
          <p:cNvPr id="468" name="Google Shape;468;p4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Going the extra mile!</a:t>
            </a:r>
            <a:endParaRPr/>
          </a:p>
        </p:txBody>
      </p:sp>
      <p:pic>
        <p:nvPicPr>
          <p:cNvPr id="7" name="Graphic 6" descr="Medal">
            <a:extLst>
              <a:ext uri="{FF2B5EF4-FFF2-40B4-BE49-F238E27FC236}">
                <a16:creationId xmlns:a16="http://schemas.microsoft.com/office/drawing/2014/main" id="{2C2C6876-7040-0594-5C65-F9EFF1B3B3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1666" y="1379845"/>
            <a:ext cx="3492405" cy="3492405"/>
          </a:xfrm>
          <a:prstGeom prst="rect">
            <a:avLst/>
          </a:prstGeom>
        </p:spPr>
      </p:pic>
    </p:spTree>
    <p:extLst>
      <p:ext uri="{BB962C8B-B14F-4D97-AF65-F5344CB8AC3E}">
        <p14:creationId xmlns:p14="http://schemas.microsoft.com/office/powerpoint/2010/main" val="28329518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6" name="Google Shape;476;p50"/>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1/1</a:t>
            </a:r>
            <a:endParaRPr/>
          </a:p>
        </p:txBody>
      </p:sp>
      <p:sp>
        <p:nvSpPr>
          <p:cNvPr id="477" name="Google Shape;477;p50"/>
          <p:cNvSpPr txBox="1">
            <a:spLocks noGrp="1"/>
          </p:cNvSpPr>
          <p:nvPr>
            <p:ph type="body" idx="4294967295"/>
          </p:nvPr>
        </p:nvSpPr>
        <p:spPr>
          <a:xfrm>
            <a:off x="63194" y="1152000"/>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480" name="Google Shape;480;p50"/>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P</a:t>
            </a:r>
            <a:r>
              <a:rPr lang="en-NL" err="1"/>
              <a:t>ut</a:t>
            </a:r>
            <a:r>
              <a:rPr lang="en-NL"/>
              <a:t> your evidence down here to receive a medal!</a:t>
            </a:r>
            <a:endParaRPr lang="en-GB"/>
          </a:p>
        </p:txBody>
      </p:sp>
      <p:sp>
        <p:nvSpPr>
          <p:cNvPr id="7" name="Google Shape;459;p48">
            <a:extLst>
              <a:ext uri="{FF2B5EF4-FFF2-40B4-BE49-F238E27FC236}">
                <a16:creationId xmlns:a16="http://schemas.microsoft.com/office/drawing/2014/main" id="{5161B9CD-FD90-1846-8EE0-48554F0A839A}"/>
              </a:ext>
            </a:extLst>
          </p:cNvPr>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a:t>Going the extra mile!</a:t>
            </a:r>
            <a:endParaRPr lang="en-GB"/>
          </a:p>
        </p:txBody>
      </p:sp>
      <p:sp>
        <p:nvSpPr>
          <p:cNvPr id="2" name="Google Shape;462;p48">
            <a:extLst>
              <a:ext uri="{FF2B5EF4-FFF2-40B4-BE49-F238E27FC236}">
                <a16:creationId xmlns:a16="http://schemas.microsoft.com/office/drawing/2014/main" id="{504CBF35-FBEA-FA87-F016-E6278C3C94BB}"/>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a:t>Medal Challenges</a:t>
            </a:r>
            <a:endParaRPr lang="en-US"/>
          </a:p>
        </p:txBody>
      </p:sp>
      <p:pic>
        <p:nvPicPr>
          <p:cNvPr id="12" name="Graphic 11" descr="Medal">
            <a:extLst>
              <a:ext uri="{FF2B5EF4-FFF2-40B4-BE49-F238E27FC236}">
                <a16:creationId xmlns:a16="http://schemas.microsoft.com/office/drawing/2014/main" id="{DAEAD1FE-ADA8-7092-2C63-52D1D8722E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5771" y="58096"/>
            <a:ext cx="459808" cy="459808"/>
          </a:xfrm>
          <a:prstGeom prst="rect">
            <a:avLst/>
          </a:prstGeom>
        </p:spPr>
      </p:pic>
    </p:spTree>
    <p:extLst>
      <p:ext uri="{BB962C8B-B14F-4D97-AF65-F5344CB8AC3E}">
        <p14:creationId xmlns:p14="http://schemas.microsoft.com/office/powerpoint/2010/main" val="33184646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52"/>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NL" sz="6000"/>
              <a:t>D</a:t>
            </a:r>
            <a:endParaRPr sz="6000"/>
          </a:p>
        </p:txBody>
      </p:sp>
      <p:sp>
        <p:nvSpPr>
          <p:cNvPr id="498" name="Google Shape;498;p52"/>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Reflection</a:t>
            </a:r>
            <a:endParaRPr sz="3000"/>
          </a:p>
        </p:txBody>
      </p:sp>
      <p:sp>
        <p:nvSpPr>
          <p:cNvPr id="499" name="Google Shape;499;p52"/>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NL" sz="40000">
                <a:solidFill>
                  <a:srgbClr val="999999"/>
                </a:solidFill>
                <a:latin typeface="Roboto"/>
                <a:ea typeface="Roboto"/>
                <a:cs typeface="Roboto"/>
                <a:sym typeface="Roboto"/>
              </a:rPr>
              <a:t>D</a:t>
            </a:r>
            <a:endParaRPr sz="40000">
              <a:solidFill>
                <a:srgbClr val="999999"/>
              </a:solidFill>
              <a:latin typeface="Roboto"/>
              <a:ea typeface="Roboto"/>
              <a:cs typeface="Roboto"/>
              <a:sym typeface="Roboto"/>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53"/>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did I achieve this block?</a:t>
            </a:r>
            <a:endParaRPr/>
          </a:p>
        </p:txBody>
      </p:sp>
      <p:sp>
        <p:nvSpPr>
          <p:cNvPr id="505" name="Google Shape;505;p53"/>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1/2</a:t>
            </a:r>
            <a:endParaRPr/>
          </a:p>
        </p:txBody>
      </p:sp>
      <p:sp>
        <p:nvSpPr>
          <p:cNvPr id="506" name="Google Shape;506;p53"/>
          <p:cNvSpPr txBox="1">
            <a:spLocks noGrp="1"/>
          </p:cNvSpPr>
          <p:nvPr>
            <p:ph type="subTitle" idx="1"/>
          </p:nvPr>
        </p:nvSpPr>
        <p:spPr>
          <a:xfrm>
            <a:off x="182880" y="667512"/>
            <a:ext cx="54864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My most significant achievements this block</a:t>
            </a:r>
            <a:endParaRPr/>
          </a:p>
        </p:txBody>
      </p:sp>
      <p:sp>
        <p:nvSpPr>
          <p:cNvPr id="507" name="Google Shape;507;p53"/>
          <p:cNvSpPr txBox="1">
            <a:spLocks noGrp="1"/>
          </p:cNvSpPr>
          <p:nvPr>
            <p:ph type="body" idx="3"/>
          </p:nvPr>
        </p:nvSpPr>
        <p:spPr>
          <a:xfrm>
            <a:off x="182880" y="1069848"/>
            <a:ext cx="87783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a:t>...</a:t>
            </a:r>
            <a:endParaRPr/>
          </a:p>
          <a:p>
            <a:pPr marL="0" lvl="0" indent="0" algn="just" rtl="0">
              <a:spcBef>
                <a:spcPts val="800"/>
              </a:spcBef>
              <a:spcAft>
                <a:spcPts val="0"/>
              </a:spcAft>
              <a:buNone/>
            </a:pPr>
            <a:endParaRPr/>
          </a:p>
          <a:p>
            <a:pPr marL="0" lvl="0" indent="0" algn="just" rtl="0">
              <a:spcBef>
                <a:spcPts val="800"/>
              </a:spcBef>
              <a:spcAft>
                <a:spcPts val="0"/>
              </a:spcAft>
              <a:buNone/>
            </a:pPr>
            <a:r>
              <a:rPr lang="en" sz="1400" b="1"/>
              <a:t>My most difficult challenges this block</a:t>
            </a:r>
            <a:endParaRPr sz="1400" b="1"/>
          </a:p>
          <a:p>
            <a:pPr marL="0" lvl="0" indent="0" algn="just" rtl="0">
              <a:spcBef>
                <a:spcPts val="800"/>
              </a:spcBef>
              <a:spcAft>
                <a:spcPts val="0"/>
              </a:spcAft>
              <a:buNone/>
            </a:pPr>
            <a:r>
              <a:rPr lang="en"/>
              <a:t>...</a:t>
            </a:r>
            <a:endParaRPr/>
          </a:p>
          <a:p>
            <a:pPr marL="0" lvl="0" indent="0" algn="just" rtl="0">
              <a:spcBef>
                <a:spcPts val="800"/>
              </a:spcBef>
              <a:spcAft>
                <a:spcPts val="0"/>
              </a:spcAft>
              <a:buNone/>
            </a:pPr>
            <a:endParaRPr/>
          </a:p>
          <a:p>
            <a:pPr marL="0" lvl="0" indent="0" algn="just" rtl="0">
              <a:spcBef>
                <a:spcPts val="800"/>
              </a:spcBef>
              <a:spcAft>
                <a:spcPts val="0"/>
              </a:spcAft>
              <a:buNone/>
            </a:pPr>
            <a:r>
              <a:rPr lang="en" sz="1400" b="1"/>
              <a:t>The most important lessons I learned</a:t>
            </a:r>
            <a:endParaRPr sz="1400" b="1"/>
          </a:p>
          <a:p>
            <a:pPr marL="0" lvl="0" indent="0" algn="just" rtl="0">
              <a:spcBef>
                <a:spcPts val="800"/>
              </a:spcBef>
              <a:spcAft>
                <a:spcPts val="800"/>
              </a:spcAft>
              <a:buNone/>
            </a:pPr>
            <a:r>
              <a:rPr lang="en"/>
              <a:t>...</a:t>
            </a:r>
            <a:endParaRPr/>
          </a:p>
        </p:txBody>
      </p:sp>
      <p:sp>
        <p:nvSpPr>
          <p:cNvPr id="508" name="Google Shape;508;p53"/>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54"/>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How well am I progressing?</a:t>
            </a:r>
            <a:endParaRPr/>
          </a:p>
        </p:txBody>
      </p:sp>
      <p:sp>
        <p:nvSpPr>
          <p:cNvPr id="514" name="Google Shape;514;p54"/>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 sz="1400"/>
              <a:t>/</a:t>
            </a:r>
            <a:r>
              <a:rPr lang="en"/>
              <a:t>2</a:t>
            </a:r>
            <a:endParaRPr sz="1400"/>
          </a:p>
        </p:txBody>
      </p:sp>
      <p:sp>
        <p:nvSpPr>
          <p:cNvPr id="515" name="Google Shape;515;p54"/>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a:t>
            </a:r>
            <a:endParaRPr/>
          </a:p>
        </p:txBody>
      </p:sp>
      <p:sp>
        <p:nvSpPr>
          <p:cNvPr id="516" name="Google Shape;516;p54"/>
          <p:cNvSpPr txBox="1">
            <a:spLocks noGrp="1"/>
          </p:cNvSpPr>
          <p:nvPr>
            <p:ph type="subTitle" idx="1"/>
          </p:nvPr>
        </p:nvSpPr>
        <p:spPr>
          <a:xfrm>
            <a:off x="182880" y="667512"/>
            <a:ext cx="87783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 on my self assessment				My self assessment grade is a</a:t>
            </a:r>
            <a:endParaRPr b="0" i="1"/>
          </a:p>
        </p:txBody>
      </p:sp>
      <p:sp>
        <p:nvSpPr>
          <p:cNvPr id="517" name="Google Shape;517;p54"/>
          <p:cNvSpPr txBox="1">
            <a:spLocks noGrp="1"/>
          </p:cNvSpPr>
          <p:nvPr>
            <p:ph type="body" idx="3"/>
          </p:nvPr>
        </p:nvSpPr>
        <p:spPr>
          <a:xfrm>
            <a:off x="182880" y="1069848"/>
            <a:ext cx="58521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a:t>...</a:t>
            </a:r>
            <a:endParaRPr/>
          </a:p>
          <a:p>
            <a:pPr marL="0" lvl="0" indent="0" algn="just" rtl="0">
              <a:spcBef>
                <a:spcPts val="800"/>
              </a:spcBef>
              <a:spcAft>
                <a:spcPts val="0"/>
              </a:spcAft>
              <a:buNone/>
            </a:pPr>
            <a:endParaRPr/>
          </a:p>
          <a:p>
            <a:pPr marL="0" lvl="0" indent="0" algn="just" rtl="0">
              <a:spcBef>
                <a:spcPts val="800"/>
              </a:spcBef>
              <a:spcAft>
                <a:spcPts val="0"/>
              </a:spcAft>
              <a:buNone/>
            </a:pPr>
            <a:r>
              <a:rPr lang="en" sz="1400" b="1"/>
              <a:t>How I plan to improve next block</a:t>
            </a:r>
            <a:endParaRPr sz="1400" b="1"/>
          </a:p>
          <a:p>
            <a:pPr marL="0" lvl="0" indent="0" algn="just" rtl="0">
              <a:spcBef>
                <a:spcPts val="800"/>
              </a:spcBef>
              <a:spcAft>
                <a:spcPts val="800"/>
              </a:spcAft>
              <a:buNone/>
            </a:pPr>
            <a:r>
              <a:rPr lang="en"/>
              <a:t>...</a:t>
            </a:r>
            <a:endParaRPr/>
          </a:p>
        </p:txBody>
      </p:sp>
      <p:sp>
        <p:nvSpPr>
          <p:cNvPr id="518" name="Google Shape;518;p54"/>
          <p:cNvSpPr txBox="1"/>
          <p:nvPr/>
        </p:nvSpPr>
        <p:spPr>
          <a:xfrm>
            <a:off x="7933066" y="749712"/>
            <a:ext cx="914400" cy="64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b="1">
                <a:solidFill>
                  <a:srgbClr val="434343"/>
                </a:solidFill>
                <a:latin typeface="Roboto"/>
                <a:ea typeface="Roboto"/>
                <a:cs typeface="Roboto"/>
                <a:sym typeface="Roboto"/>
              </a:rPr>
              <a:t>x.x</a:t>
            </a:r>
            <a:endParaRPr sz="3600" b="1">
              <a:solidFill>
                <a:srgbClr val="434343"/>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BUAS 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3C78D8"/>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BADAD4AA324BF48804EF76FD903323C" ma:contentTypeVersion="15" ma:contentTypeDescription="Create a new document." ma:contentTypeScope="" ma:versionID="4ea0feda506421460444ca95554a0aab">
  <xsd:schema xmlns:xsd="http://www.w3.org/2001/XMLSchema" xmlns:xs="http://www.w3.org/2001/XMLSchema" xmlns:p="http://schemas.microsoft.com/office/2006/metadata/properties" xmlns:ns2="5ff92c65-ed86-4457-baee-ccd535c9ea21" xmlns:ns3="6c8d291c-a5bf-4049-930d-38db8e991d8e" targetNamespace="http://schemas.microsoft.com/office/2006/metadata/properties" ma:root="true" ma:fieldsID="0fc8cf7d0f5ee312899395875a30595e" ns2:_="" ns3:_="">
    <xsd:import namespace="5ff92c65-ed86-4457-baee-ccd535c9ea21"/>
    <xsd:import namespace="6c8d291c-a5bf-4049-930d-38db8e991d8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f92c65-ed86-4457-baee-ccd535c9ea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365a90ea-d0e7-4aae-8ef9-9f5dd1eb65e3"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c8d291c-a5bf-4049-930d-38db8e991d8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2ad53588-c864-4711-ad43-fad96b40598a}" ma:internalName="TaxCatchAll" ma:showField="CatchAllData" ma:web="6c8d291c-a5bf-4049-930d-38db8e991d8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6c8d291c-a5bf-4049-930d-38db8e991d8e">
      <UserInfo>
        <DisplayName/>
        <AccountId xsi:nil="true"/>
        <AccountType/>
      </UserInfo>
    </SharedWithUsers>
    <TaxCatchAll xmlns="6c8d291c-a5bf-4049-930d-38db8e991d8e" xsi:nil="true"/>
    <lcf76f155ced4ddcb4097134ff3c332f xmlns="5ff92c65-ed86-4457-baee-ccd535c9ea2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8D9791E-52D0-4ABB-925A-4EAECF798D9B}">
  <ds:schemaRefs>
    <ds:schemaRef ds:uri="http://schemas.microsoft.com/sharepoint/v3/contenttype/forms"/>
  </ds:schemaRefs>
</ds:datastoreItem>
</file>

<file path=customXml/itemProps2.xml><?xml version="1.0" encoding="utf-8"?>
<ds:datastoreItem xmlns:ds="http://schemas.openxmlformats.org/officeDocument/2006/customXml" ds:itemID="{AA562638-1947-4789-9FBF-F833DB2C18A8}">
  <ds:schemaRefs>
    <ds:schemaRef ds:uri="5ff92c65-ed86-4457-baee-ccd535c9ea21"/>
    <ds:schemaRef ds:uri="6c8d291c-a5bf-4049-930d-38db8e991d8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067B86F-F5BB-4BE6-9A37-0E19E53CB68B}">
  <ds:schemaRefs>
    <ds:schemaRef ds:uri="5ff92c65-ed86-4457-baee-ccd535c9ea21"/>
    <ds:schemaRef ds:uri="6c8d291c-a5bf-4049-930d-38db8e991d8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26</TotalTime>
  <Words>5621</Words>
  <Application>Microsoft Office PowerPoint</Application>
  <PresentationFormat>On-screen Show (16:9)</PresentationFormat>
  <Paragraphs>548</Paragraphs>
  <Slides>44</Slides>
  <Notes>44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44</vt:i4>
      </vt:variant>
    </vt:vector>
  </HeadingPairs>
  <TitlesOfParts>
    <vt:vector size="53" baseType="lpstr">
      <vt:lpstr>Roboto Light</vt:lpstr>
      <vt:lpstr>Arial</vt:lpstr>
      <vt:lpstr>Roboto Thin</vt:lpstr>
      <vt:lpstr>Proxima Nova</vt:lpstr>
      <vt:lpstr>Calibri</vt:lpstr>
      <vt:lpstr>Helvetica Neue</vt:lpstr>
      <vt:lpstr>Open Sans</vt:lpstr>
      <vt:lpstr>Roboto</vt:lpstr>
      <vt:lpstr>BUAS Gameday</vt:lpstr>
      <vt:lpstr>Maks Burchard 240894 Data Understanding and Preparation</vt:lpstr>
      <vt:lpstr>How To Use This Template</vt:lpstr>
      <vt:lpstr>Learning Log Structure</vt:lpstr>
      <vt:lpstr>Section A</vt:lpstr>
      <vt:lpstr>Where am I starting?</vt:lpstr>
      <vt:lpstr>What is my plan?</vt:lpstr>
      <vt:lpstr>What are my goals?</vt:lpstr>
      <vt:lpstr>Section B</vt:lpstr>
      <vt:lpstr>Week 1 - Log</vt:lpstr>
      <vt:lpstr>Week 1 - Feedback</vt:lpstr>
      <vt:lpstr>Week 2 - Log</vt:lpstr>
      <vt:lpstr>Week 2 - Feedback</vt:lpstr>
      <vt:lpstr>Week 3 - Log</vt:lpstr>
      <vt:lpstr>Week 3 - Feedback</vt:lpstr>
      <vt:lpstr>Week 4 - Log</vt:lpstr>
      <vt:lpstr>Week 4 - Feedback</vt:lpstr>
      <vt:lpstr>Week 5 - Log</vt:lpstr>
      <vt:lpstr>Week 5 - Feedback</vt:lpstr>
      <vt:lpstr>Week 6 - Log</vt:lpstr>
      <vt:lpstr>Week 6 - Feedback</vt:lpstr>
      <vt:lpstr>Week 7 - Log</vt:lpstr>
      <vt:lpstr>Week 7 - Feedback</vt:lpstr>
      <vt:lpstr>Week 8 - Log</vt:lpstr>
      <vt:lpstr>Week 8 - Feedback</vt:lpstr>
      <vt:lpstr>Section C</vt:lpstr>
      <vt:lpstr>ILO 0.2</vt:lpstr>
      <vt:lpstr>ILO 0</vt:lpstr>
      <vt:lpstr>ILO 1.2</vt:lpstr>
      <vt:lpstr>ILO 1</vt:lpstr>
      <vt:lpstr>ILO 2.2</vt:lpstr>
      <vt:lpstr>ILO 2</vt:lpstr>
      <vt:lpstr>ILO 6.2</vt:lpstr>
      <vt:lpstr>ILO 6</vt:lpstr>
      <vt:lpstr>ILO 8.1</vt:lpstr>
      <vt:lpstr>ILO 8</vt:lpstr>
      <vt:lpstr>ILO 8.2</vt:lpstr>
      <vt:lpstr>ILO 8</vt:lpstr>
      <vt:lpstr>ILO 11.1</vt:lpstr>
      <vt:lpstr>ILO 11</vt:lpstr>
      <vt:lpstr>Medal Challenges</vt:lpstr>
      <vt:lpstr>1/1</vt:lpstr>
      <vt:lpstr>Section D</vt:lpstr>
      <vt:lpstr>What did I achieve this block?</vt:lpstr>
      <vt:lpstr>How well am I progressing?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«studentname» «studentid» «studentacademicproject»</dc:title>
  <dc:creator>Neggers, Margot</dc:creator>
  <cp:lastModifiedBy>Maks Burchard</cp:lastModifiedBy>
  <cp:revision>11</cp:revision>
  <dcterms:modified xsi:type="dcterms:W3CDTF">2024-11-19T10:59:52Z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0x0101000BADAD4AA324BF48804EF76FD903323C</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