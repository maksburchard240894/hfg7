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0" d="100"/>
          <a:sy n="140" d="100"/>
        </p:scale>
        <p:origin x="312"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641210492f586c7e7048ca3999cc3dd4c452cfa2/Deliverables/CreativeBrief_MaksBurchard_240894.ipynb" TargetMode="External"/><Relationship Id="rId2" Type="http://schemas.openxmlformats.org/officeDocument/2006/relationships/notesSlide" Target="../notesSlides/notesSlide23.xml"/><Relationship Id="rId1" Type="http://schemas.openxmlformats.org/officeDocument/2006/relationships/slideLayout" Target="../slideLayouts/slideLayout9.xml"/><Relationship Id="rId4" Type="http://schemas.openxmlformats.org/officeDocument/2006/relationships/hyperlink" Target="https://github.com/BredaUniversityADSAI/2024-25b-fai1-adsai-MaksBurchard240894/blob/641210492f586c7e7048ca3999cc3dd4c452cfa2/Deliverables/FinalReport_Maks_Burchard_240894.doc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hyperlink" Target="https://github.com/BredaUniversityADSAI/2024-25b-fai1-adsai-MaksBurchard240894/blob/2a5960277c5e20d1ba05a55e632d3fcfd124ccdd/Deliverables/FinalReport_Maks_Burchard_240894.docx" TargetMode="External"/><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7"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3.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PricePred_temp.ipynb" TargetMode="External"/><Relationship Id="rId5" Type="http://schemas.openxmlformats.org/officeDocument/2006/relationships/hyperlink" Target="https://github.com/BredaUniversityADSAI/2024-25b-fai1-adsai-MaksBurchard240894/blob/2a5960277c5e20d1ba05a55e632d3fcfd124ccdd/Block%20B/LogisticRegression_Final.ipynb" TargetMode="External"/><Relationship Id="rId4" Type="http://schemas.openxmlformats.org/officeDocument/2006/relationships/hyperlink" Target="https://github.com/BredaUniversityADSAI/2024-25b-fai1-adsai-MaksBurchard240894/blob/2a5960277c5e20d1ba05a55e632d3fcfd124ccdd/Block%20B/LinearRegression_Final.ipynb"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5.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Block%20B/AlgebraicExample_Final.ipynb" TargetMode="External"/><Relationship Id="rId2" Type="http://schemas.openxmlformats.org/officeDocument/2006/relationships/notesSlide" Target="../notesSlides/notesSlide37.xml"/><Relationship Id="rId1" Type="http://schemas.openxmlformats.org/officeDocument/2006/relationships/slideLayout" Target="../slideLayouts/slideLayout5.xml"/><Relationship Id="rId6" Type="http://schemas.openxmlformats.org/officeDocument/2006/relationships/hyperlink" Target="https://github.com/BredaUniversityADSAI/2024-25b-fai1-adsai-MaksBurchard240894/blob/2a5960277c5e20d1ba05a55e632d3fcfd124ccdd/Block%20B/LogisticRegression_Final.ipynb" TargetMode="External"/><Relationship Id="rId5" Type="http://schemas.openxmlformats.org/officeDocument/2006/relationships/hyperlink" Target="https://github.com/BredaUniversityADSAI/2024-25b-fai1-adsai-MaksBurchard240894/blob/2a5960277c5e20d1ba05a55e632d3fcfd124ccdd/Block%20B/LinearRegression_Final.ipynb" TargetMode="External"/><Relationship Id="rId4" Type="http://schemas.openxmlformats.org/officeDocument/2006/relationships/hyperlink" Target="https://github.com/BredaUniversityADSAI/2024-25b-fai1-adsai-MaksBurchard240894/blob/2a5960277c5e20d1ba05a55e632d3fcfd124ccdd/Block%20B/PricePred_temp.ipynb"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BredaUniversityADSAI/2024-25b-fai1-adsai-MaksBurchard240894/blob/2a5960277c5e20d1ba05a55e632d3fcfd124ccdd/Deliverables/CreativeBrief_MaksBurchard_240894.ipynb" TargetMode="External"/><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hyperlink" Target="https://github.com/BredaUniversityADSAI/2024-25b-fai1-adsai-MaksBurchard240894/blob/2a5960277c5e20d1ba05a55e632d3fcfd124ccdd/Deliverables/FinalReport_Maks_Burchard_240894.docx"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en-US" noProof="0" dirty="0"/>
              <a:t>It‘s the first week so there‘s not really much to talk about.</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US" b="1" noProof="0" dirty="0"/>
              <a:t>Milo </a:t>
            </a:r>
            <a:r>
              <a:rPr lang="en-US" b="1" noProof="0" dirty="0" err="1"/>
              <a:t>Everse</a:t>
            </a:r>
            <a:r>
              <a:rPr lang="en-US" b="1" noProof="0" dirty="0"/>
              <a:t> </a:t>
            </a:r>
            <a:r>
              <a:rPr lang="en-US" noProof="0" dirty="0"/>
              <a:t>Compared to the mentor feedback, the work this week was not sufficient.</a:t>
            </a:r>
          </a:p>
          <a:p>
            <a:pPr marL="0" lvl="0" indent="0" algn="l" rtl="0">
              <a:spcBef>
                <a:spcPts val="800"/>
              </a:spcBef>
              <a:spcAft>
                <a:spcPts val="800"/>
              </a:spcAft>
              <a:buNone/>
            </a:pPr>
            <a:r>
              <a:rPr lang="en" dirty="0"/>
              <a:t>I did not really attempt to adress the mentor feedback this week so during week 4 I will have to try and adress it. Feedback is fair.</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Being behind on a task is not good, but for the rest everything seems fine.</a:t>
            </a:r>
            <a:endParaRPr dirty="0"/>
          </a:p>
          <a:p>
            <a:pPr marL="0" lvl="0" indent="0" algn="l" rtl="0">
              <a:spcBef>
                <a:spcPts val="800"/>
              </a:spcBef>
              <a:spcAft>
                <a:spcPts val="800"/>
              </a:spcAft>
              <a:buNone/>
            </a:pPr>
            <a:r>
              <a:rPr lang="en" dirty="0"/>
              <a:t>I am still behind on some tasks due to my sickness last week, but I understand the concern, especially this close to the final deadline. The fact everything else seems fine is reassuring.</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finished</a:t>
            </a:r>
            <a:r>
              <a:rPr lang="de-DE" dirty="0"/>
              <a:t> all </a:t>
            </a:r>
            <a:r>
              <a:rPr lang="de-DE" dirty="0" err="1"/>
              <a:t>the</a:t>
            </a:r>
            <a:r>
              <a:rPr lang="de-DE" dirty="0"/>
              <a:t> </a:t>
            </a:r>
            <a:r>
              <a:rPr lang="de-DE" dirty="0" err="1"/>
              <a:t>documents</a:t>
            </a:r>
            <a:r>
              <a:rPr lang="de-DE" dirty="0"/>
              <a:t> </a:t>
            </a:r>
            <a:r>
              <a:rPr lang="de-DE" dirty="0" err="1"/>
              <a:t>that</a:t>
            </a:r>
            <a:r>
              <a:rPr lang="de-DE" dirty="0"/>
              <a:t> I </a:t>
            </a:r>
            <a:r>
              <a:rPr lang="de-DE" dirty="0" err="1"/>
              <a:t>needed</a:t>
            </a:r>
            <a:r>
              <a:rPr lang="de-DE" dirty="0"/>
              <a:t> </a:t>
            </a:r>
            <a:r>
              <a:rPr lang="de-DE" dirty="0" err="1"/>
              <a:t>to</a:t>
            </a:r>
            <a:r>
              <a:rPr lang="de-DE" dirty="0"/>
              <a:t>, </a:t>
            </a:r>
            <a:r>
              <a:rPr lang="de-DE" dirty="0" err="1"/>
              <a:t>from</a:t>
            </a:r>
            <a:r>
              <a:rPr lang="de-DE" dirty="0"/>
              <a:t> </a:t>
            </a:r>
            <a:r>
              <a:rPr lang="de-DE" dirty="0" err="1"/>
              <a:t>the</a:t>
            </a:r>
            <a:r>
              <a:rPr lang="de-DE" dirty="0"/>
              <a:t> </a:t>
            </a:r>
            <a:r>
              <a:rPr lang="de-DE" dirty="0" err="1"/>
              <a:t>creative</a:t>
            </a:r>
            <a:r>
              <a:rPr lang="de-DE" dirty="0"/>
              <a:t> </a:t>
            </a:r>
            <a:r>
              <a:rPr lang="de-DE" dirty="0" err="1"/>
              <a:t>brief</a:t>
            </a:r>
            <a:r>
              <a:rPr lang="de-DE" dirty="0"/>
              <a:t> &amp; final </a:t>
            </a:r>
            <a:r>
              <a:rPr lang="de-DE" dirty="0" err="1"/>
              <a:t>report</a:t>
            </a:r>
            <a:r>
              <a:rPr lang="de-DE" dirty="0"/>
              <a:t> </a:t>
            </a:r>
            <a:r>
              <a:rPr lang="de-DE" dirty="0" err="1"/>
              <a:t>to</a:t>
            </a:r>
            <a:r>
              <a:rPr lang="de-DE" dirty="0"/>
              <a:t> </a:t>
            </a:r>
            <a:r>
              <a:rPr lang="de-DE" dirty="0" err="1"/>
              <a:t>the</a:t>
            </a:r>
            <a:r>
              <a:rPr lang="de-DE" dirty="0"/>
              <a:t> Work &amp; </a:t>
            </a:r>
            <a:r>
              <a:rPr lang="de-DE" dirty="0" err="1"/>
              <a:t>Leaning</a:t>
            </a:r>
            <a:r>
              <a:rPr lang="de-DE" dirty="0"/>
              <a:t> Logs.</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3"/>
              </a:rPr>
              <a:t>Link </a:t>
            </a:r>
            <a:r>
              <a:rPr lang="de-DE" dirty="0" err="1">
                <a:hlinkClick r:id="rId3"/>
              </a:rPr>
              <a:t>to</a:t>
            </a:r>
            <a:r>
              <a:rPr lang="de-DE" dirty="0">
                <a:hlinkClick r:id="rId3"/>
              </a:rPr>
              <a:t> Creative Brief</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hlinkClick r:id="rId4"/>
              </a:rPr>
              <a:t>Link </a:t>
            </a:r>
            <a:r>
              <a:rPr lang="de-DE" dirty="0" err="1">
                <a:hlinkClick r:id="rId4"/>
              </a:rPr>
              <a:t>to</a:t>
            </a:r>
            <a:r>
              <a:rPr lang="de-DE" dirty="0">
                <a:hlinkClick r:id="rId4"/>
              </a:rPr>
              <a:t> Final Report</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presentation</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WorkLog</a:t>
            </a:r>
            <a:endParaRPr lang="de-DE" dirty="0"/>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Learning Log</a:t>
            </a:r>
          </a:p>
          <a:p>
            <a:pPr marL="182880" lvl="0" indent="-154940" algn="l" rtl="0">
              <a:spcBef>
                <a:spcPts val="0"/>
              </a:spcBef>
              <a:spcAft>
                <a:spcPts val="0"/>
              </a:spcAft>
              <a:buSzPts val="1000"/>
              <a:buChar char="●"/>
            </a:pPr>
            <a:endParaRPr lang="de-DE" dirty="0"/>
          </a:p>
          <a:p>
            <a:pPr marL="182880" lvl="0" indent="-154940" algn="l" rtl="0">
              <a:spcBef>
                <a:spcPts val="0"/>
              </a:spcBef>
              <a:spcAft>
                <a:spcPts val="0"/>
              </a:spcAft>
              <a:buSzPts val="1000"/>
              <a:buChar char="●"/>
            </a:pPr>
            <a:r>
              <a:rPr lang="de-DE" dirty="0"/>
              <a:t>Link </a:t>
            </a:r>
            <a:r>
              <a:rPr lang="de-DE" dirty="0" err="1"/>
              <a:t>to</a:t>
            </a:r>
            <a:r>
              <a:rPr lang="de-DE" dirty="0"/>
              <a:t> Final </a:t>
            </a:r>
            <a:r>
              <a:rPr lang="de-DE" dirty="0" err="1"/>
              <a:t>self-assesment</a:t>
            </a:r>
            <a:r>
              <a:rPr lang="de-DE" dirty="0"/>
              <a:t> </a:t>
            </a:r>
            <a:r>
              <a:rPr lang="de-DE" dirty="0" err="1"/>
              <a:t>rubric</a:t>
            </a:r>
            <a:endParaRPr lang="de-DE"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well</a:t>
            </a:r>
            <a:r>
              <a:rPr lang="de-DE" dirty="0"/>
              <a:t> </a:t>
            </a:r>
            <a:r>
              <a:rPr lang="de-DE" dirty="0" err="1"/>
              <a:t>as</a:t>
            </a:r>
            <a:r>
              <a:rPr lang="de-DE" dirty="0"/>
              <a:t> I </a:t>
            </a:r>
            <a:r>
              <a:rPr lang="de-DE" dirty="0" err="1"/>
              <a:t>worked</a:t>
            </a:r>
            <a:r>
              <a:rPr lang="de-DE" dirty="0"/>
              <a:t> </a:t>
            </a:r>
            <a:r>
              <a:rPr lang="de-DE" dirty="0" err="1"/>
              <a:t>quite</a:t>
            </a:r>
            <a:r>
              <a:rPr lang="de-DE" dirty="0"/>
              <a:t> a </a:t>
            </a:r>
            <a:r>
              <a:rPr lang="de-DE" dirty="0" err="1"/>
              <a:t>bit</a:t>
            </a:r>
            <a:r>
              <a:rPr lang="de-DE" dirty="0"/>
              <a:t> </a:t>
            </a:r>
            <a:r>
              <a:rPr lang="de-DE" dirty="0" err="1"/>
              <a:t>to</a:t>
            </a:r>
            <a:r>
              <a:rPr lang="de-DE" dirty="0"/>
              <a:t> finish all </a:t>
            </a:r>
            <a:r>
              <a:rPr lang="de-DE" dirty="0" err="1"/>
              <a:t>the</a:t>
            </a:r>
            <a:r>
              <a:rPr lang="de-DE" dirty="0"/>
              <a:t> </a:t>
            </a:r>
            <a:r>
              <a:rPr lang="de-DE" dirty="0" err="1"/>
              <a:t>required</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Finishing</a:t>
            </a:r>
            <a:r>
              <a:rPr lang="de-DE" dirty="0"/>
              <a:t> all </a:t>
            </a:r>
            <a:r>
              <a:rPr lang="de-DE" dirty="0" err="1"/>
              <a:t>the</a:t>
            </a:r>
            <a:r>
              <a:rPr lang="de-DE" dirty="0"/>
              <a:t> </a:t>
            </a:r>
            <a:r>
              <a:rPr lang="de-DE" dirty="0" err="1"/>
              <a:t>documents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Keeping track </a:t>
            </a:r>
            <a:r>
              <a:rPr lang="de-DE" dirty="0" err="1"/>
              <a:t>of</a:t>
            </a:r>
            <a:r>
              <a:rPr lang="de-DE" dirty="0"/>
              <a:t> </a:t>
            </a:r>
            <a:r>
              <a:rPr lang="de-DE" dirty="0" err="1"/>
              <a:t>the</a:t>
            </a:r>
            <a:r>
              <a:rPr lang="de-DE" dirty="0"/>
              <a:t> time </a:t>
            </a:r>
            <a:r>
              <a:rPr lang="de-DE" dirty="0" err="1"/>
              <a:t>during</a:t>
            </a:r>
            <a:r>
              <a:rPr lang="de-DE" dirty="0"/>
              <a:t> </a:t>
            </a:r>
            <a:r>
              <a:rPr lang="de-DE" dirty="0" err="1"/>
              <a:t>the</a:t>
            </a:r>
            <a:r>
              <a:rPr lang="de-DE" dirty="0"/>
              <a:t> </a:t>
            </a:r>
            <a:r>
              <a:rPr lang="de-DE" dirty="0" err="1"/>
              <a:t>tasks</a:t>
            </a:r>
            <a:r>
              <a:rPr lang="de-DE" dirty="0"/>
              <a:t> and </a:t>
            </a:r>
            <a:r>
              <a:rPr lang="de-DE" dirty="0" err="1"/>
              <a:t>leaving</a:t>
            </a:r>
            <a:r>
              <a:rPr lang="de-DE" dirty="0"/>
              <a:t> </a:t>
            </a:r>
            <a:r>
              <a:rPr lang="de-DE" dirty="0" err="1"/>
              <a:t>redoing</a:t>
            </a:r>
            <a:r>
              <a:rPr lang="de-DE" dirty="0"/>
              <a:t> </a:t>
            </a:r>
            <a:r>
              <a:rPr lang="de-DE" dirty="0" err="1"/>
              <a:t>the</a:t>
            </a:r>
            <a:r>
              <a:rPr lang="de-DE" dirty="0"/>
              <a:t> SQL </a:t>
            </a:r>
            <a:r>
              <a:rPr lang="de-DE" dirty="0" err="1"/>
              <a:t>part</a:t>
            </a:r>
            <a:r>
              <a:rPr lang="de-DE" dirty="0"/>
              <a:t> </a:t>
            </a:r>
            <a:r>
              <a:rPr lang="de-DE" dirty="0" err="1"/>
              <a:t>to</a:t>
            </a:r>
            <a:r>
              <a:rPr lang="de-DE" dirty="0"/>
              <a:t> </a:t>
            </a:r>
            <a:r>
              <a:rPr lang="de-DE" dirty="0" err="1"/>
              <a:t>almost</a:t>
            </a:r>
            <a:r>
              <a:rPr lang="de-DE" dirty="0"/>
              <a:t> </a:t>
            </a:r>
            <a:r>
              <a:rPr lang="de-DE" dirty="0" err="1"/>
              <a:t>the</a:t>
            </a:r>
            <a:r>
              <a:rPr lang="de-DE" dirty="0"/>
              <a:t> final </a:t>
            </a:r>
            <a:r>
              <a:rPr lang="de-DE" dirty="0" err="1"/>
              <a:t>day</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work</a:t>
            </a:r>
            <a:r>
              <a:rPr lang="de-DE" dirty="0"/>
              <a:t> </a:t>
            </a:r>
            <a:r>
              <a:rPr lang="de-DE" dirty="0" err="1"/>
              <a:t>under</a:t>
            </a:r>
            <a:r>
              <a:rPr lang="de-DE" dirty="0"/>
              <a:t> </a:t>
            </a:r>
            <a:r>
              <a:rPr lang="de-DE" dirty="0" err="1"/>
              <a:t>pressure</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Don’t procrastinate under a deadline.</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As </a:t>
            </a:r>
            <a:r>
              <a:rPr lang="de-DE" dirty="0" err="1"/>
              <a:t>of</a:t>
            </a:r>
            <a:r>
              <a:rPr lang="de-DE" dirty="0"/>
              <a:t> </a:t>
            </a:r>
            <a:r>
              <a:rPr lang="de-DE" dirty="0" err="1"/>
              <a:t>me</a:t>
            </a:r>
            <a:r>
              <a:rPr lang="de-DE" dirty="0"/>
              <a:t> </a:t>
            </a:r>
            <a:r>
              <a:rPr lang="de-DE" dirty="0" err="1"/>
              <a:t>writing</a:t>
            </a:r>
            <a:r>
              <a:rPr lang="de-DE" dirty="0"/>
              <a:t> </a:t>
            </a:r>
            <a:r>
              <a:rPr lang="de-DE" dirty="0" err="1"/>
              <a:t>this</a:t>
            </a:r>
            <a:r>
              <a:rPr lang="de-DE" dirty="0"/>
              <a:t>, I </a:t>
            </a:r>
            <a:r>
              <a:rPr lang="de-DE" dirty="0" err="1"/>
              <a:t>have</a:t>
            </a:r>
            <a:r>
              <a:rPr lang="de-DE" dirty="0"/>
              <a:t> </a:t>
            </a:r>
            <a:r>
              <a:rPr lang="de-DE" dirty="0" err="1"/>
              <a:t>achieved</a:t>
            </a:r>
            <a:r>
              <a:rPr lang="de-DE" dirty="0"/>
              <a:t> </a:t>
            </a:r>
            <a:r>
              <a:rPr lang="de-DE" dirty="0" err="1"/>
              <a:t>my</a:t>
            </a:r>
            <a:r>
              <a:rPr lang="de-DE" dirty="0"/>
              <a:t> </a:t>
            </a:r>
            <a:r>
              <a:rPr lang="de-DE" dirty="0" err="1"/>
              <a:t>first</a:t>
            </a:r>
            <a:r>
              <a:rPr lang="de-DE" dirty="0"/>
              <a:t> </a:t>
            </a:r>
            <a:r>
              <a:rPr lang="de-DE" dirty="0" err="1"/>
              <a:t>readjusted</a:t>
            </a:r>
            <a:r>
              <a:rPr lang="de-DE" dirty="0"/>
              <a:t> </a:t>
            </a:r>
            <a:r>
              <a:rPr lang="de-DE" dirty="0" err="1"/>
              <a:t>goal</a:t>
            </a:r>
            <a:r>
              <a:rPr lang="de-DE" dirty="0"/>
              <a:t> </a:t>
            </a:r>
            <a:r>
              <a:rPr lang="de-DE" dirty="0" err="1"/>
              <a:t>of</a:t>
            </a:r>
            <a:r>
              <a:rPr lang="de-DE" dirty="0"/>
              <a:t> 240 </a:t>
            </a:r>
            <a:r>
              <a:rPr lang="de-DE" dirty="0" err="1"/>
              <a:t>hours</a:t>
            </a:r>
            <a:r>
              <a:rPr lang="de-DE" dirty="0"/>
              <a:t> total </a:t>
            </a:r>
            <a:r>
              <a:rPr lang="de-DE" dirty="0" err="1"/>
              <a:t>work</a:t>
            </a:r>
            <a:r>
              <a:rPr lang="de-DE" dirty="0"/>
              <a:t>. </a:t>
            </a:r>
            <a:r>
              <a:rPr lang="de-DE" dirty="0" err="1"/>
              <a:t>That</a:t>
            </a:r>
            <a:r>
              <a:rPr lang="de-DE" dirty="0"/>
              <a:t> </a:t>
            </a:r>
            <a:r>
              <a:rPr lang="de-DE" dirty="0" err="1"/>
              <a:t>is</a:t>
            </a:r>
            <a:r>
              <a:rPr lang="de-DE" dirty="0"/>
              <a:t> a </a:t>
            </a:r>
            <a:r>
              <a:rPr lang="de-DE" dirty="0" err="1"/>
              <a:t>success</a:t>
            </a:r>
            <a:r>
              <a:rPr lang="de-DE" dirty="0"/>
              <a:t>. A </a:t>
            </a:r>
            <a:r>
              <a:rPr lang="de-DE" dirty="0" err="1"/>
              <a:t>for</a:t>
            </a:r>
            <a:r>
              <a:rPr lang="de-DE" dirty="0"/>
              <a:t> </a:t>
            </a:r>
            <a:r>
              <a:rPr lang="de-DE" dirty="0" err="1"/>
              <a:t>the</a:t>
            </a:r>
            <a:r>
              <a:rPr lang="de-DE" dirty="0"/>
              <a:t> </a:t>
            </a:r>
            <a:r>
              <a:rPr lang="de-DE" dirty="0" err="1"/>
              <a:t>second</a:t>
            </a:r>
            <a:r>
              <a:rPr lang="de-DE" dirty="0"/>
              <a:t> </a:t>
            </a:r>
            <a:r>
              <a:rPr lang="de-DE" dirty="0" err="1"/>
              <a:t>goal</a:t>
            </a:r>
            <a:r>
              <a:rPr lang="de-DE" dirty="0"/>
              <a:t>, I </a:t>
            </a:r>
            <a:r>
              <a:rPr lang="de-DE" dirty="0" err="1"/>
              <a:t>have</a:t>
            </a:r>
            <a:r>
              <a:rPr lang="de-DE" dirty="0"/>
              <a:t> </a:t>
            </a:r>
            <a:r>
              <a:rPr lang="de-DE" dirty="0" err="1"/>
              <a:t>shortened</a:t>
            </a:r>
            <a:r>
              <a:rPr lang="de-DE" dirty="0"/>
              <a:t> </a:t>
            </a:r>
            <a:r>
              <a:rPr lang="de-DE" dirty="0" err="1"/>
              <a:t>my</a:t>
            </a:r>
            <a:r>
              <a:rPr lang="de-DE" dirty="0"/>
              <a:t> </a:t>
            </a:r>
            <a:r>
              <a:rPr lang="de-DE" dirty="0" err="1"/>
              <a:t>sleeping</a:t>
            </a:r>
            <a:r>
              <a:rPr lang="de-DE" dirty="0"/>
              <a:t> </a:t>
            </a:r>
            <a:r>
              <a:rPr lang="de-DE" dirty="0" err="1"/>
              <a:t>schedule</a:t>
            </a:r>
            <a:r>
              <a:rPr lang="de-DE" dirty="0"/>
              <a:t> </a:t>
            </a:r>
            <a:r>
              <a:rPr lang="de-DE" dirty="0" err="1"/>
              <a:t>to</a:t>
            </a:r>
            <a:r>
              <a:rPr lang="de-DE" dirty="0"/>
              <a:t> </a:t>
            </a:r>
            <a:r>
              <a:rPr lang="de-DE" dirty="0" err="1"/>
              <a:t>try</a:t>
            </a:r>
            <a:r>
              <a:rPr lang="de-DE" dirty="0"/>
              <a:t> and </a:t>
            </a:r>
            <a:r>
              <a:rPr lang="de-DE" dirty="0" err="1"/>
              <a:t>get</a:t>
            </a:r>
            <a:r>
              <a:rPr lang="de-DE" dirty="0"/>
              <a:t> </a:t>
            </a:r>
            <a:r>
              <a:rPr lang="de-DE" dirty="0" err="1"/>
              <a:t>as</a:t>
            </a:r>
            <a:r>
              <a:rPr lang="de-DE" dirty="0"/>
              <a:t> </a:t>
            </a:r>
            <a:r>
              <a:rPr lang="de-DE" dirty="0" err="1"/>
              <a:t>much</a:t>
            </a:r>
            <a:r>
              <a:rPr lang="de-DE" dirty="0"/>
              <a:t> </a:t>
            </a:r>
            <a:r>
              <a:rPr lang="de-DE" dirty="0" err="1"/>
              <a:t>work</a:t>
            </a:r>
            <a:r>
              <a:rPr lang="de-DE" dirty="0"/>
              <a:t> </a:t>
            </a:r>
            <a:r>
              <a:rPr lang="de-DE" dirty="0" err="1"/>
              <a:t>done</a:t>
            </a:r>
            <a:r>
              <a:rPr lang="de-DE" dirty="0"/>
              <a:t> </a:t>
            </a:r>
            <a:r>
              <a:rPr lang="de-DE" dirty="0" err="1"/>
              <a:t>before</a:t>
            </a:r>
            <a:r>
              <a:rPr lang="de-DE" dirty="0"/>
              <a:t> </a:t>
            </a:r>
            <a:r>
              <a:rPr lang="de-DE" dirty="0" err="1"/>
              <a:t>the</a:t>
            </a:r>
            <a:r>
              <a:rPr lang="de-DE" dirty="0"/>
              <a:t> </a:t>
            </a:r>
            <a:r>
              <a:rPr lang="de-DE" dirty="0" err="1"/>
              <a:t>deadline</a:t>
            </a:r>
            <a:r>
              <a:rPr lang="de-DE" dirty="0"/>
              <a:t>. Overall, I </a:t>
            </a:r>
            <a:r>
              <a:rPr lang="de-DE" dirty="0" err="1"/>
              <a:t>would</a:t>
            </a:r>
            <a:r>
              <a:rPr lang="de-DE" dirty="0"/>
              <a:t> also </a:t>
            </a:r>
            <a:r>
              <a:rPr lang="de-DE" dirty="0" err="1"/>
              <a:t>say</a:t>
            </a:r>
            <a:r>
              <a:rPr lang="de-DE" dirty="0"/>
              <a:t> </a:t>
            </a:r>
            <a:r>
              <a:rPr lang="de-DE" dirty="0" err="1"/>
              <a:t>it</a:t>
            </a:r>
            <a:r>
              <a:rPr lang="de-DE" dirty="0"/>
              <a:t> </a:t>
            </a:r>
            <a:r>
              <a:rPr lang="de-DE" dirty="0" err="1"/>
              <a:t>is</a:t>
            </a:r>
            <a:r>
              <a:rPr lang="de-DE" dirty="0"/>
              <a:t> a </a:t>
            </a:r>
            <a:r>
              <a:rPr lang="de-DE" dirty="0" err="1"/>
              <a:t>success</a:t>
            </a:r>
            <a:r>
              <a:rPr lang="de-DE" dirty="0"/>
              <a:t> </a:t>
            </a:r>
            <a:r>
              <a:rPr lang="de-DE" dirty="0" err="1"/>
              <a:t>as</a:t>
            </a:r>
            <a:r>
              <a:rPr lang="de-DE" dirty="0"/>
              <a:t> I </a:t>
            </a:r>
            <a:r>
              <a:rPr lang="de-DE" dirty="0" err="1"/>
              <a:t>managed</a:t>
            </a:r>
            <a:r>
              <a:rPr lang="de-DE" dirty="0"/>
              <a:t> </a:t>
            </a:r>
            <a:r>
              <a:rPr lang="de-DE" dirty="0" err="1"/>
              <a:t>to</a:t>
            </a:r>
            <a:r>
              <a:rPr lang="de-DE" dirty="0"/>
              <a:t> </a:t>
            </a:r>
            <a:r>
              <a:rPr lang="de-DE" dirty="0" err="1"/>
              <a:t>say</a:t>
            </a:r>
            <a:r>
              <a:rPr lang="de-DE" dirty="0"/>
              <a:t> on </a:t>
            </a:r>
            <a:r>
              <a:rPr lang="de-DE" dirty="0" err="1"/>
              <a:t>the</a:t>
            </a:r>
            <a:r>
              <a:rPr lang="de-DE" dirty="0"/>
              <a:t> </a:t>
            </a:r>
            <a:r>
              <a:rPr lang="de-DE" dirty="0" err="1"/>
              <a:t>sleeping</a:t>
            </a:r>
            <a:r>
              <a:rPr lang="de-DE" dirty="0"/>
              <a:t> </a:t>
            </a:r>
            <a:r>
              <a:rPr lang="de-DE" dirty="0" err="1"/>
              <a:t>schedule</a:t>
            </a:r>
            <a:r>
              <a:rPr lang="de-DE" dirty="0"/>
              <a:t> </a:t>
            </a:r>
            <a:r>
              <a:rPr lang="de-DE" dirty="0" err="1"/>
              <a:t>for</a:t>
            </a:r>
            <a:r>
              <a:rPr lang="de-DE" dirty="0"/>
              <a:t> </a:t>
            </a:r>
            <a:r>
              <a:rPr lang="de-DE" dirty="0" err="1"/>
              <a:t>quite</a:t>
            </a:r>
            <a:r>
              <a:rPr lang="de-DE" dirty="0"/>
              <a:t> a </a:t>
            </a:r>
            <a:r>
              <a:rPr lang="de-DE" dirty="0" err="1"/>
              <a:t>while</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2921192737"/>
              </p:ext>
            </p:extLst>
          </p:nvPr>
        </p:nvGraphicFramePr>
        <p:xfrm>
          <a:off x="0" y="1069800"/>
          <a:ext cx="9139639" cy="5904017"/>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dirty="0" err="1">
                          <a:solidFill>
                            <a:srgbClr val="000000"/>
                          </a:solidFill>
                          <a:effectLst/>
                          <a:highlight>
                            <a:srgbClr val="FEF2CD"/>
                          </a:highlight>
                          <a:latin typeface="Calibri"/>
                        </a:rPr>
                        <a:t>DataLab</a:t>
                      </a:r>
                      <a:r>
                        <a:rPr lang="en-US" sz="1000" b="0" i="0" u="none" strike="noStrike" noProof="0" dirty="0">
                          <a:solidFill>
                            <a:srgbClr val="000000"/>
                          </a:solidFill>
                          <a:effectLst/>
                          <a:highlight>
                            <a:srgbClr val="FEF2CD"/>
                          </a:highlight>
                          <a:latin typeface="Calibri"/>
                        </a:rPr>
                        <a:t>.</a:t>
                      </a:r>
                      <a:endParaRPr lang="en-US" sz="1000" noProof="0" dirty="0">
                        <a:latin typeface="Calibri"/>
                      </a:endParaRPr>
                    </a:p>
                    <a:p>
                      <a:pPr lvl="0" algn="l">
                        <a:buNone/>
                      </a:pPr>
                      <a:endParaRPr lang="en-US" sz="1000" b="0" i="0" u="none" strike="noStrike" dirty="0">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dirty="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Numpy.</a:t>
                      </a:r>
                      <a:endParaRPr lang="en-US" sz="100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understanding of the working directory, file types and file structures in my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 have shown my understanding of working directory by directly loading the files from the same folder.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My understanding of file types and structures is shown in tasks 1 and 2 of the creative brief, as I do the EDA and process the data without any problems.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perform data cleansing activities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1B and 2 in the creative brief, I show my ability to clean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1B.2, I use Numpy to load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Additionally, in the Python notebooks “Linear Regression from Scratch” and “Logistic Regression from Scratch”, I use Numpy to achieve both tasks. </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design reports and visuals in the creative brief.</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my ability to establish connections with a database in task 1A of the creative brief, where I used SQL to perform operations to a database.</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demonstrated basic ETL operations in task 1, 2, and 3.1.2 as I extracted, transformed and loaded the dataset within those tasks.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 I have used SQL in task 1A of the creative brief.</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I have used said SQL to fulfill the requirements of the creative brief in task 1A.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rPr>
                        <a:t>Additional clarification of the creative brief can be found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2955188894"/>
              </p:ext>
            </p:extLst>
          </p:nvPr>
        </p:nvGraphicFramePr>
        <p:xfrm>
          <a:off x="0" y="1069800"/>
          <a:ext cx="9144001" cy="4362249"/>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dirty="0">
                          <a:solidFill>
                            <a:srgbClr val="000000"/>
                          </a:solidFill>
                          <a:effectLst/>
                          <a:highlight>
                            <a:srgbClr val="D0D0D0"/>
                          </a:highlight>
                          <a:latin typeface="Calibri"/>
                        </a:rPr>
                        <a:t>A (Points: 2)</a:t>
                      </a:r>
                      <a:endParaRPr lang="en-US" sz="1000" dirty="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dirty="0">
                        <a:latin typeface="Calibri"/>
                      </a:endParaRPr>
                    </a:p>
                    <a:p>
                      <a:pPr lvl="0" algn="l">
                        <a:buNone/>
                      </a:pPr>
                      <a:endParaRPr lang="en-US" sz="1000" b="0" i="0" u="none" strike="noStrike" dirty="0">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outlined all of my tasks, both completed and incomplete,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given commentary where necessary, such as incomplete tasks and tasks that took a significant amount of time longer or shorter to complete</a:t>
                      </a:r>
                      <a:endParaRPr lang="en-US" sz="800" b="0" i="0" u="none" strike="noStrike" noProof="0" dirty="0">
                        <a:solidFill>
                          <a:srgbClr val="000000"/>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written professional and critical reflections in section B of this learning log. I have also identified key lessons in the same section. I have tracked the time in the worklog.</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filled out my worklog for each and every week.</a:t>
                      </a:r>
                      <a:endParaRPr lang="en-US" sz="800" b="0" i="0" u="none" strike="noStrike" noProof="0" dirty="0">
                        <a:solidFill>
                          <a:srgbClr val="000000"/>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included references to as many resources as I could in the worklog for the listed task.</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This includes both important and unimportant tasks. I have done this to make sure I did not miss any references to important tasks, as I have trouble placing myself in the mind of others and seeing what they may find important.</a:t>
                      </a:r>
                      <a:endParaRPr lang="en-US" sz="800" b="0" i="0" u="none" strike="noStrike" noProof="0" dirty="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my writing style is professional. I have checked for spelling and grammar mistakes in the worklog.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believe I am able to comprehend what was completed, as shown by my creative brief and final report, and to comprehend why individual and project feedback was given, as shown by my responses to the feedback I received in section B of this learning log.</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481661311"/>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dirty="0">
                          <a:solidFill>
                            <a:srgbClr val="000000"/>
                          </a:solidFill>
                          <a:effectLst/>
                          <a:latin typeface="Calibri"/>
                        </a:rPr>
                        <a:t>Goals written with a </a:t>
                      </a:r>
                      <a:r>
                        <a:rPr lang="en-US" sz="1000" b="1" i="0" u="none" strike="noStrike" noProof="0" dirty="0">
                          <a:solidFill>
                            <a:srgbClr val="000000"/>
                          </a:solidFill>
                          <a:effectLst/>
                          <a:latin typeface="Calibri"/>
                        </a:rPr>
                        <a:t>SMARTER</a:t>
                      </a:r>
                      <a:r>
                        <a:rPr lang="en-US" sz="1000" b="0" i="0" u="none" strike="noStrike" noProof="0" dirty="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dirty="0">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written goals with a SMARTER method. I have made specific, measurable, achievable, relevant, and time-bound goals.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aligned one goal, goal 1, with project and professional development objectives and the other goal, goal 2, with personal development objectives.</a:t>
                      </a:r>
                    </a:p>
                    <a:p>
                      <a:pPr lvl="0" algn="ctr">
                        <a:buNone/>
                      </a:pPr>
                      <a:endParaRPr lang="en-US" sz="800" b="1" i="0" u="none" strike="noStrike" noProof="0" dirty="0">
                        <a:solidFill>
                          <a:srgbClr val="000000"/>
                        </a:solidFill>
                        <a:effectLst/>
                        <a:highlight>
                          <a:srgbClr val="FEF2CD"/>
                        </a:highlight>
                        <a:latin typeface="Calibri"/>
                      </a:endParaRPr>
                    </a:p>
                    <a:p>
                      <a:pPr lvl="0" algn="ctr">
                        <a:buNone/>
                      </a:pPr>
                      <a:r>
                        <a:rPr lang="en-US" sz="800" b="1" i="0" u="none" strike="noStrike" noProof="0" dirty="0">
                          <a:solidFill>
                            <a:srgbClr val="000000"/>
                          </a:solidFill>
                          <a:effectLst/>
                          <a:highlight>
                            <a:srgbClr val="FEF2CD"/>
                          </a:highlight>
                          <a:latin typeface="Calibri"/>
                        </a:rPr>
                        <a:t>I have evaluated and readjusted the goals throughout the block, as noted in section B of this learning log.</a:t>
                      </a: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1632262299"/>
              </p:ext>
            </p:extLst>
          </p:nvPr>
        </p:nvGraphicFramePr>
        <p:xfrm>
          <a:off x="0" y="1069800"/>
          <a:ext cx="9143993" cy="4842933"/>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have shown my ability to clean, pre-process and visualize data using Python libraries in the creative brief. </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Specifically in tasks 2 and 3.1.2, I have shown both that I am able to clean the data by dealing with missing values and removing duplicate rows.</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2 and 3.1.2, I have shown that I am able to pre-process data by encoding, scaling and splitting the data.</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2.1.3, I have created a host of visualizations, which I have justified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 also have used visualizations later in the creative brief, such as in tasks 3.2.5 and 3.3.3, which I have also justified in the final report.</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 2.2.1, I called up the metadata of the dataset and then </a:t>
                      </a:r>
                      <a:r>
                        <a:rPr lang="en-US" sz="800" b="1" i="0" u="none" strike="noStrike" noProof="0" dirty="0" err="1">
                          <a:solidFill>
                            <a:srgbClr val="000000"/>
                          </a:solidFill>
                          <a:effectLst/>
                          <a:highlight>
                            <a:srgbClr val="FEF2CD"/>
                          </a:highlight>
                          <a:latin typeface="Calibri"/>
                        </a:rPr>
                        <a:t>analysed</a:t>
                      </a:r>
                      <a:r>
                        <a:rPr lang="en-US" sz="800" b="1" i="0" u="none" strike="noStrike" noProof="0" dirty="0">
                          <a:solidFill>
                            <a:srgbClr val="000000"/>
                          </a:solidFill>
                          <a:effectLst/>
                          <a:highlight>
                            <a:srgbClr val="FEF2CD"/>
                          </a:highlight>
                          <a:latin typeface="Calibri"/>
                        </a:rPr>
                        <a:t> it in the final report.</a:t>
                      </a:r>
                    </a:p>
                    <a:p>
                      <a:pPr lvl="0" algn="ctr">
                        <a:lnSpc>
                          <a:spcPct val="100000"/>
                        </a:lnSpc>
                        <a:spcBef>
                          <a:spcPts val="0"/>
                        </a:spcBef>
                        <a:spcAft>
                          <a:spcPts val="0"/>
                        </a:spcAft>
                        <a:buNone/>
                      </a:pPr>
                      <a:endParaRPr lang="en-US" sz="800" b="1" i="0" u="none" strike="noStrike" noProof="0" dirty="0">
                        <a:solidFill>
                          <a:srgbClr val="000000"/>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rgbClr val="000000"/>
                          </a:solidFill>
                          <a:effectLst/>
                          <a:highlight>
                            <a:srgbClr val="FEF2CD"/>
                          </a:highlight>
                          <a:latin typeface="Calibri"/>
                        </a:rPr>
                        <a:t>In tasks 1A.2 and 2.2.2 I identified missing data, which I dealt with in task 3.1.2.</a:t>
                      </a: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7"/>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8"/>
                        </a:rPr>
                        <a:t>Link to final report</a:t>
                      </a:r>
                      <a:endParaRPr lang="en-US" sz="800" b="0" i="0" u="none" strike="noStrike" noProof="0" dirty="0">
                        <a:solidFill>
                          <a:srgbClr val="4285F4"/>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2759534412"/>
              </p:ext>
            </p:extLst>
          </p:nvPr>
        </p:nvGraphicFramePr>
        <p:xfrm>
          <a:off x="0" y="1069800"/>
          <a:ext cx="9144001" cy="462606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believe I posses a sufficient amount of knowledge about ML algorithms, as shown by my ability to create and use them in the creative brief and to clarify certain parts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regression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Specifically, task 3.1 covers regression.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rgbClr val="000000"/>
                        </a:solidFill>
                        <a:effectLst/>
                        <a:highlight>
                          <a:srgbClr val="FEF2CD"/>
                        </a:highlight>
                        <a:latin typeface="Calibri" panose="020F0502020204030204" pitchFamily="34" charset="0"/>
                      </a:endParaRP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Python notebooks,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3.2 covers classification.</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classification concepts,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3.3 covers clustering.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and implement feature engineering and hyperparameter tuning,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3.4 and 3.5 cover feature engineering and hyperparameter tuning.</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can understand, </a:t>
                      </a:r>
                      <a:r>
                        <a:rPr lang="en-US" sz="800" b="1" i="0" u="none" strike="noStrike" dirty="0" err="1">
                          <a:solidFill>
                            <a:srgbClr val="000000"/>
                          </a:solidFill>
                          <a:effectLst/>
                          <a:highlight>
                            <a:srgbClr val="FEF2CD"/>
                          </a:highlight>
                          <a:latin typeface="Calibri" panose="020F0502020204030204" pitchFamily="34" charset="0"/>
                        </a:rPr>
                        <a:t>analyse</a:t>
                      </a:r>
                      <a:r>
                        <a:rPr lang="en-US" sz="800" b="1" i="0" u="none" strike="noStrike" dirty="0">
                          <a:solidFill>
                            <a:srgbClr val="000000"/>
                          </a:solidFill>
                          <a:effectLst/>
                          <a:highlight>
                            <a:srgbClr val="FEF2CD"/>
                          </a:highlight>
                          <a:latin typeface="Calibri" panose="020F0502020204030204" pitchFamily="34" charset="0"/>
                        </a:rPr>
                        <a:t>, and interpret the results as required by this ILO as shown by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Specifically, task 3.6 covers feature engineering and hyperparameter tuning.</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rgbClr val="000000"/>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rgbClr val="000000"/>
                          </a:solidFill>
                          <a:effectLst/>
                          <a:highlight>
                            <a:srgbClr val="FEF2CD"/>
                          </a:highlight>
                          <a:latin typeface="Calibri" panose="020F0502020204030204" pitchFamily="34" charset="0"/>
                        </a:rPr>
                        <a:t>In the final report, additional analysis and interpretation is shown in part 4.</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543337760"/>
              </p:ext>
            </p:extLst>
          </p:nvPr>
        </p:nvGraphicFramePr>
        <p:xfrm>
          <a:off x="0" y="1069800"/>
          <a:ext cx="9144001" cy="533082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lvl="0" algn="ctr">
                        <a:buNone/>
                      </a:pPr>
                      <a:r>
                        <a:rPr lang="en-US" sz="800" b="1" i="0" u="none" strike="noStrike" noProof="0" dirty="0">
                          <a:solidFill>
                            <a:srgbClr val="000000"/>
                          </a:solidFill>
                          <a:effectLst/>
                          <a:highlight>
                            <a:srgbClr val="FEF2CD"/>
                          </a:highlight>
                          <a:latin typeface="Calibri"/>
                        </a:rPr>
                        <a:t>I have demonstrated all the required skills for this ILO in two Python notebooks, “</a:t>
                      </a:r>
                      <a:r>
                        <a:rPr lang="en-US" sz="800" b="1" i="0" u="none" strike="noStrike" noProof="0" dirty="0" err="1">
                          <a:solidFill>
                            <a:srgbClr val="000000"/>
                          </a:solidFill>
                          <a:effectLst/>
                          <a:highlight>
                            <a:srgbClr val="FEF2CD"/>
                          </a:highlight>
                          <a:latin typeface="Calibri"/>
                        </a:rPr>
                        <a:t>AlgebraicExample</a:t>
                      </a:r>
                      <a:r>
                        <a:rPr lang="en-US" sz="800" b="1" i="0" u="none" strike="noStrike" noProof="0" dirty="0">
                          <a:solidFill>
                            <a:srgbClr val="000000"/>
                          </a:solidFill>
                          <a:effectLst/>
                          <a:highlight>
                            <a:srgbClr val="FEF2CD"/>
                          </a:highlight>
                          <a:latin typeface="Calibri"/>
                        </a:rPr>
                        <a:t>” and “</a:t>
                      </a:r>
                      <a:r>
                        <a:rPr lang="en-US" sz="800" b="1" i="0" u="none" strike="noStrike" noProof="0" dirty="0" err="1">
                          <a:solidFill>
                            <a:srgbClr val="000000"/>
                          </a:solidFill>
                          <a:effectLst/>
                          <a:highlight>
                            <a:srgbClr val="FEF2CD"/>
                          </a:highlight>
                          <a:latin typeface="Calibri"/>
                        </a:rPr>
                        <a:t>PricePred</a:t>
                      </a:r>
                      <a:r>
                        <a:rPr lang="en-US" sz="800" b="1" i="0" u="none" strike="noStrike" noProof="0" dirty="0">
                          <a:solidFill>
                            <a:srgbClr val="000000"/>
                          </a:solidFill>
                          <a:effectLst/>
                          <a:highlight>
                            <a:srgbClr val="FEF2CD"/>
                          </a:highlight>
                          <a:latin typeface="Calibri"/>
                        </a:rPr>
                        <a:t>”. Both are linked below. </a:t>
                      </a: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3"/>
                        </a:rPr>
                        <a:t>Link to Python notebook Assignment 1 - Optimization Algorithms</a:t>
                      </a:r>
                      <a:endParaRPr lang="en-US" sz="800" b="1" i="0" u="none" strike="noStrike" noProof="0" dirty="0">
                        <a:solidFill>
                          <a:schemeClr val="tx1">
                            <a:lumMod val="75000"/>
                          </a:schemeClr>
                        </a:solidFill>
                        <a:effectLst/>
                        <a:highlight>
                          <a:srgbClr val="FEF2CD"/>
                        </a:highlight>
                        <a:latin typeface="Calibri"/>
                      </a:endParaRPr>
                    </a:p>
                    <a:p>
                      <a:pPr lvl="0" algn="ctr">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4"/>
                        </a:rPr>
                        <a:t>Link to Python notebook Gradient Descent Algorithm for House Price Prediction</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LinearRegression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5"/>
                        </a:rPr>
                        <a:t>Link to Python notebook Linear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lvl="0" algn="ctr">
                        <a:buNone/>
                      </a:pPr>
                      <a:endParaRPr lang="en-US" sz="800" b="1" i="0" u="none" strike="noStrike" noProof="0" dirty="0">
                        <a:solidFill>
                          <a:srgbClr val="000000"/>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p>
                      <a:pPr lvl="0" algn="ctr">
                        <a:buNone/>
                      </a:pPr>
                      <a:endParaRPr lang="en-US" sz="800" dirty="0">
                        <a:solidFill>
                          <a:srgbClr val="000000"/>
                        </a:solidFill>
                        <a:highlight>
                          <a:srgbClr val="FEF2CD"/>
                        </a:highlight>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r>
                        <a:rPr lang="en-US" sz="800" b="1" i="0" u="none" strike="noStrike" noProof="0" dirty="0">
                          <a:solidFill>
                            <a:srgbClr val="000000"/>
                          </a:solidFill>
                          <a:effectLst/>
                          <a:highlight>
                            <a:srgbClr val="FEF2CD"/>
                          </a:highlight>
                          <a:latin typeface="Calibri"/>
                        </a:rPr>
                        <a:t>have demonstrated all the required skills for this ILO in the Python notebook “</a:t>
                      </a:r>
                      <a:r>
                        <a:rPr lang="en-US" sz="800" b="1" i="0" u="none" strike="noStrike" noProof="0" dirty="0" err="1">
                          <a:solidFill>
                            <a:srgbClr val="000000"/>
                          </a:solidFill>
                          <a:effectLst/>
                          <a:highlight>
                            <a:srgbClr val="FEF2CD"/>
                          </a:highlight>
                          <a:latin typeface="Calibri"/>
                        </a:rPr>
                        <a:t>LogisticRegression</a:t>
                      </a:r>
                      <a:r>
                        <a:rPr lang="en-US" sz="800" b="1" i="0" u="none" strike="noStrike" noProof="0" dirty="0">
                          <a:solidFill>
                            <a:srgbClr val="000000"/>
                          </a:solidFill>
                          <a:effectLst/>
                          <a:highlight>
                            <a:srgbClr val="FEF2CD"/>
                          </a:highlight>
                          <a:latin typeface="Calibri"/>
                        </a:rPr>
                        <a:t>”, which is linked below. </a:t>
                      </a: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endParaRPr lang="en-US" sz="800" b="1" i="0" u="none" strike="noStrike" dirty="0">
                        <a:solidFill>
                          <a:schemeClr val="tx1">
                            <a:lumMod val="75000"/>
                          </a:schemeClr>
                        </a:solidFill>
                        <a:effectLst/>
                        <a:highlight>
                          <a:srgbClr val="FEF2CD"/>
                        </a:highlight>
                        <a:latin typeface="Calibri" panose="020F0502020204030204" pitchFamily="34" charset="0"/>
                      </a:endParaRPr>
                    </a:p>
                    <a:p>
                      <a:pPr marL="0" marR="0" lvl="0" indent="0" algn="ctr" defTabSz="914400" rtl="0" eaLnBrk="1" fontAlgn="t" latinLnBrk="0" hangingPunct="1">
                        <a:lnSpc>
                          <a:spcPct val="100000"/>
                        </a:lnSpc>
                        <a:spcBef>
                          <a:spcPts val="0"/>
                        </a:spcBef>
                        <a:spcAft>
                          <a:spcPts val="0"/>
                        </a:spcAft>
                        <a:buClr>
                          <a:srgbClr val="000000"/>
                        </a:buClr>
                        <a:buSzTx/>
                        <a:buFont typeface="Arial"/>
                        <a:buNone/>
                        <a:tabLst/>
                        <a:defRPr/>
                      </a:pPr>
                      <a:r>
                        <a:rPr lang="en-US" sz="800" b="1" i="0" u="none" strike="noStrike" dirty="0">
                          <a:solidFill>
                            <a:schemeClr val="tx1">
                              <a:lumMod val="75000"/>
                            </a:schemeClr>
                          </a:solidFill>
                          <a:effectLst/>
                          <a:highlight>
                            <a:srgbClr val="FEF2CD"/>
                          </a:highlight>
                          <a:latin typeface="Calibri" panose="020F0502020204030204" pitchFamily="34" charset="0"/>
                          <a:hlinkClick r:id="rId6"/>
                        </a:rPr>
                        <a:t>Link to Python notebook Logistic Regression from Scratch</a:t>
                      </a:r>
                      <a:endParaRPr lang="en-US" sz="800" b="1" i="0" u="none" strike="noStrike" dirty="0">
                        <a:solidFill>
                          <a:schemeClr val="tx1">
                            <a:lumMod val="75000"/>
                          </a:schemeClr>
                        </a:solidFill>
                        <a:effectLst/>
                        <a:highlight>
                          <a:srgbClr val="FEF2CD"/>
                        </a:highlight>
                        <a:latin typeface="Calibri" panose="020F0502020204030204" pitchFamily="34" charset="0"/>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2383344575"/>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dirty="0">
                        <a:solidFill>
                          <a:schemeClr val="tx1">
                            <a:lumMod val="75000"/>
                          </a:schemeClr>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submitted a complete learning log, worklog and self-assessment rubric.</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presented my presentation in week 8 on Friday.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Link to presentation slides.</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dirty="0">
                        <a:solidFill>
                          <a:schemeClr val="tx1">
                            <a:lumMod val="75000"/>
                          </a:schemeClr>
                        </a:solidFill>
                        <a:effectLst/>
                        <a:highlight>
                          <a:srgbClr val="FFE1CC"/>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defined the sections clearly in both my creative brief and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compared and described different machine learning models I used in my creative brief in my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demonstrated my ability to understand the different types of machine learning algorithms both in my implementation of them in the creative brief and my analysis of them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critically </a:t>
                      </a:r>
                      <a:r>
                        <a:rPr lang="en-US" sz="800" b="1" i="0" u="none" strike="noStrike" dirty="0" err="1">
                          <a:solidFill>
                            <a:srgbClr val="000000"/>
                          </a:solidFill>
                          <a:effectLst/>
                          <a:highlight>
                            <a:srgbClr val="FEF2CD"/>
                          </a:highlight>
                          <a:latin typeface="Calibri" panose="020F0502020204030204" pitchFamily="34" charset="0"/>
                        </a:rPr>
                        <a:t>analysed</a:t>
                      </a:r>
                      <a:r>
                        <a:rPr lang="en-US" sz="800" b="1" i="0" u="none" strike="noStrike" dirty="0">
                          <a:solidFill>
                            <a:srgbClr val="000000"/>
                          </a:solidFill>
                          <a:effectLst/>
                          <a:highlight>
                            <a:srgbClr val="FEF2CD"/>
                          </a:highlight>
                          <a:latin typeface="Calibri" panose="020F0502020204030204" pitchFamily="34" charset="0"/>
                        </a:rPr>
                        <a:t> and evaluated my proposed solutions based on my creative brief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dirty="0">
                        <a:solidFill>
                          <a:schemeClr val="tx1">
                            <a:lumMod val="75000"/>
                          </a:schemeClr>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p>
                      <a:pPr algn="ctr" rtl="0" fontAlgn="t"/>
                      <a:r>
                        <a:rPr lang="en-US" sz="800" b="1" i="0" u="none" strike="noStrike" dirty="0">
                          <a:solidFill>
                            <a:srgbClr val="000000"/>
                          </a:solidFill>
                          <a:effectLst/>
                          <a:highlight>
                            <a:srgbClr val="FEF2CD"/>
                          </a:highlight>
                          <a:latin typeface="Calibri" panose="020F0502020204030204" pitchFamily="34" charset="0"/>
                        </a:rPr>
                        <a:t> I have all my code in the creative brief. I believe it is clean and commented where necessary.</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algn="ctr" rtl="0" fontAlgn="t"/>
                      <a:r>
                        <a:rPr lang="en-US" sz="800" b="1" i="0" u="none" strike="noStrike" dirty="0">
                          <a:solidFill>
                            <a:srgbClr val="000000"/>
                          </a:solidFill>
                          <a:effectLst/>
                          <a:highlight>
                            <a:srgbClr val="FEF2CD"/>
                          </a:highlight>
                          <a:latin typeface="Calibri" panose="020F0502020204030204" pitchFamily="34" charset="0"/>
                        </a:rPr>
                        <a:t>I have identified shortcomings and proposed potential steps for improving the quality in the Final Report.</a:t>
                      </a:r>
                    </a:p>
                    <a:p>
                      <a:pPr algn="ctr" rtl="0" fontAlgn="t"/>
                      <a:endParaRPr lang="en-US" sz="800" b="1" i="0" u="none" strike="noStrike" dirty="0">
                        <a:solidFill>
                          <a:srgbClr val="000000"/>
                        </a:solidFill>
                        <a:effectLst/>
                        <a:highlight>
                          <a:srgbClr val="FEF2CD"/>
                        </a:highlight>
                        <a:latin typeface="Calibri" panose="020F0502020204030204" pitchFamily="34" charset="0"/>
                      </a:endParaRPr>
                    </a:p>
                    <a:p>
                      <a:pPr lvl="0" algn="ctr">
                        <a:lnSpc>
                          <a:spcPct val="100000"/>
                        </a:lnSpc>
                        <a:spcBef>
                          <a:spcPts val="0"/>
                        </a:spcBef>
                        <a:spcAft>
                          <a:spcPts val="0"/>
                        </a:spcAft>
                        <a:buNone/>
                      </a:pPr>
                      <a:r>
                        <a:rPr lang="en-US" sz="800" b="1" i="0" u="none" strike="noStrike" noProof="0" dirty="0">
                          <a:solidFill>
                            <a:schemeClr val="tx1">
                              <a:lumMod val="75000"/>
                            </a:schemeClr>
                          </a:solidFill>
                          <a:effectLst/>
                          <a:highlight>
                            <a:srgbClr val="FEF2CD"/>
                          </a:highlight>
                          <a:latin typeface="Calibri"/>
                          <a:hlinkClick r:id="rId3"/>
                        </a:rPr>
                        <a:t>Link to creative brief</a:t>
                      </a:r>
                      <a:endParaRPr lang="en-US" sz="800" b="1" i="0" u="none" strike="noStrike" noProof="0" dirty="0">
                        <a:solidFill>
                          <a:schemeClr val="tx1">
                            <a:lumMod val="75000"/>
                          </a:schemeClr>
                        </a:solidFill>
                        <a:effectLst/>
                        <a:highlight>
                          <a:srgbClr val="FEF2CD"/>
                        </a:highlight>
                        <a:latin typeface="Calibri"/>
                      </a:endParaRPr>
                    </a:p>
                    <a:p>
                      <a:pPr lvl="0" algn="ctr">
                        <a:lnSpc>
                          <a:spcPct val="100000"/>
                        </a:lnSpc>
                        <a:spcBef>
                          <a:spcPts val="0"/>
                        </a:spcBef>
                        <a:spcAft>
                          <a:spcPts val="0"/>
                        </a:spcAft>
                        <a:buNone/>
                      </a:pPr>
                      <a:endParaRPr lang="en-US" sz="800" b="1" i="0" u="none" strike="noStrike" noProof="0" dirty="0">
                        <a:solidFill>
                          <a:schemeClr val="tx1">
                            <a:lumMod val="75000"/>
                          </a:schemeClr>
                        </a:solidFill>
                        <a:effectLst/>
                        <a:highlight>
                          <a:srgbClr val="FEF2CD"/>
                        </a:highlight>
                        <a:latin typeface="Calibri"/>
                      </a:endParaRP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i="0" u="none" strike="noStrike" noProof="0" dirty="0">
                          <a:solidFill>
                            <a:srgbClr val="000000"/>
                          </a:solidFill>
                          <a:effectLst/>
                          <a:highlight>
                            <a:srgbClr val="FEF2CD"/>
                          </a:highlight>
                          <a:latin typeface="Calibri"/>
                          <a:hlinkClick r:id="rId4"/>
                        </a:rPr>
                        <a:t>Link to final report</a:t>
                      </a:r>
                      <a:r>
                        <a:rPr lang="en-US" sz="800" b="1" i="0" u="none" strike="noStrike" dirty="0">
                          <a:solidFill>
                            <a:srgbClr val="000000"/>
                          </a:solidFill>
                          <a:effectLst/>
                          <a:highlight>
                            <a:srgbClr val="FEF2CD"/>
                          </a:highlight>
                          <a:latin typeface="Calibri" panose="020F0502020204030204" pitchFamily="34" charset="0"/>
                        </a:rPr>
                        <a:t> </a:t>
                      </a: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dirty="0"/>
              <a:t>Pulling through.</a:t>
            </a:r>
          </a:p>
          <a:p>
            <a:pPr marL="0" lvl="0" indent="0" algn="just" rtl="0">
              <a:spcBef>
                <a:spcPts val="0"/>
              </a:spcBef>
              <a:spcAft>
                <a:spcPts val="0"/>
              </a:spcAft>
              <a:buNone/>
            </a:pPr>
            <a:endParaRPr lang="en" dirty="0"/>
          </a:p>
          <a:p>
            <a:pPr marL="0" lvl="0" indent="0" algn="just" rtl="0">
              <a:spcBef>
                <a:spcPts val="0"/>
              </a:spcBef>
              <a:spcAft>
                <a:spcPts val="0"/>
              </a:spcAft>
              <a:buNone/>
            </a:pPr>
            <a:r>
              <a:rPr lang="en" dirty="0"/>
              <a:t>Might not seem like much but for me the ups and downs th</a:t>
            </a:r>
            <a:r>
              <a:rPr lang="en-GB" dirty="0"/>
              <a:t>is</a:t>
            </a:r>
            <a:r>
              <a:rPr lang="en" dirty="0"/>
              <a:t> block felt like mountains and valleys.</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most difficult challenges this block</a:t>
            </a:r>
            <a:endParaRPr sz="1400" b="1" dirty="0"/>
          </a:p>
          <a:p>
            <a:pPr marL="0" lvl="0" indent="0" algn="just" rtl="0">
              <a:spcBef>
                <a:spcPts val="800"/>
              </a:spcBef>
              <a:spcAft>
                <a:spcPts val="0"/>
              </a:spcAft>
              <a:buNone/>
            </a:pPr>
            <a:r>
              <a:rPr lang="de-DE" dirty="0"/>
              <a:t>Me </a:t>
            </a:r>
            <a:r>
              <a:rPr lang="de-DE" dirty="0" err="1"/>
              <a:t>getting</a:t>
            </a:r>
            <a:r>
              <a:rPr lang="de-DE" dirty="0"/>
              <a:t> sick </a:t>
            </a:r>
            <a:r>
              <a:rPr lang="de-DE" dirty="0" err="1"/>
              <a:t>twice</a:t>
            </a:r>
            <a:r>
              <a:rPr lang="de-DE" dirty="0"/>
              <a:t> in </a:t>
            </a:r>
            <a:r>
              <a:rPr lang="de-DE" dirty="0" err="1"/>
              <a:t>two</a:t>
            </a:r>
            <a:r>
              <a:rPr lang="de-DE" dirty="0"/>
              <a:t> different </a:t>
            </a:r>
            <a:r>
              <a:rPr lang="de-DE" dirty="0" err="1"/>
              <a:t>weeks</a:t>
            </a:r>
            <a:r>
              <a:rPr lang="de-DE" dirty="0"/>
              <a:t> </a:t>
            </a:r>
            <a:r>
              <a:rPr lang="de-DE" dirty="0" err="1"/>
              <a:t>forced</a:t>
            </a:r>
            <a:r>
              <a:rPr lang="de-DE" dirty="0"/>
              <a:t> </a:t>
            </a:r>
            <a:r>
              <a:rPr lang="de-DE" dirty="0" err="1"/>
              <a:t>me</a:t>
            </a:r>
            <a:r>
              <a:rPr lang="de-DE" dirty="0"/>
              <a:t> </a:t>
            </a:r>
            <a:r>
              <a:rPr lang="de-DE" dirty="0" err="1"/>
              <a:t>to</a:t>
            </a:r>
            <a:r>
              <a:rPr lang="de-DE" dirty="0"/>
              <a:t> </a:t>
            </a:r>
            <a:r>
              <a:rPr lang="de-DE" dirty="0" err="1"/>
              <a:t>have</a:t>
            </a:r>
            <a:r>
              <a:rPr lang="de-DE" dirty="0"/>
              <a:t> </a:t>
            </a:r>
            <a:r>
              <a:rPr lang="de-DE" dirty="0" err="1"/>
              <a:t>to</a:t>
            </a:r>
            <a:r>
              <a:rPr lang="de-DE" dirty="0"/>
              <a:t> </a:t>
            </a:r>
            <a:r>
              <a:rPr lang="de-DE" dirty="0" err="1"/>
              <a:t>almost</a:t>
            </a:r>
            <a:r>
              <a:rPr lang="de-DE" dirty="0"/>
              <a:t> double </a:t>
            </a:r>
            <a:r>
              <a:rPr lang="de-DE" dirty="0" err="1"/>
              <a:t>my</a:t>
            </a:r>
            <a:r>
              <a:rPr lang="de-DE" dirty="0"/>
              <a:t> </a:t>
            </a:r>
            <a:r>
              <a:rPr lang="de-DE" dirty="0" err="1"/>
              <a:t>workrate</a:t>
            </a:r>
            <a:r>
              <a:rPr lang="de-DE" dirty="0"/>
              <a:t> </a:t>
            </a:r>
            <a:r>
              <a:rPr lang="de-DE" dirty="0" err="1"/>
              <a:t>the</a:t>
            </a:r>
            <a:r>
              <a:rPr lang="de-DE" dirty="0"/>
              <a:t> </a:t>
            </a:r>
            <a:r>
              <a:rPr lang="de-DE" dirty="0" err="1"/>
              <a:t>next</a:t>
            </a:r>
            <a:r>
              <a:rPr lang="de-DE" dirty="0"/>
              <a:t> </a:t>
            </a:r>
            <a:r>
              <a:rPr lang="de-DE" dirty="0" err="1"/>
              <a:t>week</a:t>
            </a:r>
            <a:r>
              <a:rPr lang="de-DE" dirty="0"/>
              <a:t>. </a:t>
            </a:r>
            <a:r>
              <a:rPr lang="de-DE" dirty="0" err="1"/>
              <a:t>Especially</a:t>
            </a:r>
            <a:r>
              <a:rPr lang="de-DE" dirty="0"/>
              <a:t> </a:t>
            </a:r>
            <a:r>
              <a:rPr lang="de-DE" dirty="0" err="1"/>
              <a:t>with</a:t>
            </a:r>
            <a:r>
              <a:rPr lang="de-DE" dirty="0"/>
              <a:t> </a:t>
            </a:r>
            <a:r>
              <a:rPr lang="de-DE" dirty="0" err="1"/>
              <a:t>week</a:t>
            </a:r>
            <a:r>
              <a:rPr lang="de-DE" dirty="0"/>
              <a:t> 6/7, </a:t>
            </a:r>
            <a:r>
              <a:rPr lang="de-DE" dirty="0" err="1"/>
              <a:t>where</a:t>
            </a:r>
            <a:r>
              <a:rPr lang="de-DE" dirty="0"/>
              <a:t> </a:t>
            </a:r>
            <a:r>
              <a:rPr lang="de-DE" dirty="0" err="1"/>
              <a:t>the</a:t>
            </a:r>
            <a:r>
              <a:rPr lang="de-DE" dirty="0"/>
              <a:t> </a:t>
            </a:r>
            <a:r>
              <a:rPr lang="de-DE" dirty="0" err="1"/>
              <a:t>deadline</a:t>
            </a:r>
            <a:r>
              <a:rPr lang="de-DE" dirty="0"/>
              <a:t> was </a:t>
            </a:r>
            <a:r>
              <a:rPr lang="de-DE" dirty="0" err="1"/>
              <a:t>already</a:t>
            </a:r>
            <a:r>
              <a:rPr lang="de-DE" dirty="0"/>
              <a:t> </a:t>
            </a:r>
            <a:r>
              <a:rPr lang="de-DE" dirty="0" err="1"/>
              <a:t>looming</a:t>
            </a:r>
            <a:r>
              <a:rPr lang="de-DE" dirty="0"/>
              <a:t>, I </a:t>
            </a:r>
            <a:r>
              <a:rPr lang="de-DE" dirty="0" err="1"/>
              <a:t>had</a:t>
            </a:r>
            <a:r>
              <a:rPr lang="de-DE" dirty="0"/>
              <a:t> </a:t>
            </a:r>
            <a:r>
              <a:rPr lang="de-DE" dirty="0" err="1"/>
              <a:t>some</a:t>
            </a:r>
            <a:r>
              <a:rPr lang="de-DE" dirty="0"/>
              <a:t> </a:t>
            </a:r>
            <a:r>
              <a:rPr lang="de-DE" dirty="0" err="1"/>
              <a:t>doubts</a:t>
            </a:r>
            <a:r>
              <a:rPr lang="de-DE" dirty="0"/>
              <a:t> </a:t>
            </a:r>
            <a:r>
              <a:rPr lang="de-DE" dirty="0" err="1"/>
              <a:t>about</a:t>
            </a:r>
            <a:r>
              <a:rPr lang="de-DE" dirty="0"/>
              <a:t> </a:t>
            </a:r>
            <a:r>
              <a:rPr lang="de-DE" dirty="0" err="1"/>
              <a:t>myself</a:t>
            </a:r>
            <a:r>
              <a:rPr lang="de-DE" dirty="0"/>
              <a:t> and </a:t>
            </a:r>
            <a:r>
              <a:rPr lang="de-DE" dirty="0" err="1"/>
              <a:t>whether</a:t>
            </a:r>
            <a:r>
              <a:rPr lang="de-DE" dirty="0"/>
              <a:t> I was </a:t>
            </a:r>
            <a:r>
              <a:rPr lang="de-DE" dirty="0" err="1"/>
              <a:t>going</a:t>
            </a:r>
            <a:r>
              <a:rPr lang="de-DE" dirty="0"/>
              <a:t> </a:t>
            </a:r>
            <a:r>
              <a:rPr lang="de-DE" dirty="0" err="1"/>
              <a:t>to</a:t>
            </a:r>
            <a:r>
              <a:rPr lang="de-DE" dirty="0"/>
              <a:t> </a:t>
            </a:r>
            <a:r>
              <a:rPr lang="de-DE" dirty="0" err="1"/>
              <a:t>achieve</a:t>
            </a:r>
            <a:r>
              <a:rPr lang="de-DE" dirty="0"/>
              <a:t> </a:t>
            </a:r>
            <a:r>
              <a:rPr lang="de-DE" dirty="0" err="1"/>
              <a:t>the</a:t>
            </a:r>
            <a:r>
              <a:rPr lang="de-DE" dirty="0"/>
              <a:t> block. </a:t>
            </a:r>
            <a:r>
              <a:rPr lang="de-DE" dirty="0" err="1"/>
              <a:t>Hopefully</a:t>
            </a:r>
            <a:r>
              <a:rPr lang="de-DE" dirty="0"/>
              <a:t>, </a:t>
            </a:r>
            <a:r>
              <a:rPr lang="de-DE" dirty="0" err="1"/>
              <a:t>everything</a:t>
            </a:r>
            <a:r>
              <a:rPr lang="de-DE" dirty="0"/>
              <a:t> </a:t>
            </a:r>
            <a:r>
              <a:rPr lang="de-DE" dirty="0" err="1"/>
              <a:t>has</a:t>
            </a:r>
            <a:r>
              <a:rPr lang="de-DE" dirty="0"/>
              <a:t> </a:t>
            </a:r>
            <a:r>
              <a:rPr lang="de-DE" dirty="0" err="1"/>
              <a:t>paid</a:t>
            </a:r>
            <a:r>
              <a:rPr lang="de-DE" dirty="0"/>
              <a:t> off.</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The most important lessons I learned</a:t>
            </a:r>
            <a:endParaRPr sz="1400" b="1" dirty="0"/>
          </a:p>
          <a:p>
            <a:pPr marL="0" lvl="0" indent="0" algn="just" rtl="0">
              <a:spcBef>
                <a:spcPts val="800"/>
              </a:spcBef>
              <a:spcAft>
                <a:spcPts val="800"/>
              </a:spcAft>
              <a:buNone/>
            </a:pPr>
            <a:r>
              <a:rPr lang="en" dirty="0"/>
              <a:t>I learned how to persevere through tough times.</a:t>
            </a:r>
            <a:endParaRPr dirty="0"/>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de-DE" dirty="0"/>
              <a:t>(</a:t>
            </a:r>
            <a:r>
              <a:rPr lang="de-DE" dirty="0" err="1"/>
              <a:t>note</a:t>
            </a:r>
            <a:r>
              <a:rPr lang="de-DE" dirty="0"/>
              <a:t>: I </a:t>
            </a:r>
            <a:r>
              <a:rPr lang="de-DE" dirty="0" err="1"/>
              <a:t>believe</a:t>
            </a:r>
            <a:r>
              <a:rPr lang="de-DE" dirty="0"/>
              <a:t> </a:t>
            </a:r>
            <a:r>
              <a:rPr lang="de-DE" dirty="0" err="1"/>
              <a:t>there</a:t>
            </a:r>
            <a:r>
              <a:rPr lang="de-DE" dirty="0"/>
              <a:t> </a:t>
            </a:r>
            <a:r>
              <a:rPr lang="de-DE" dirty="0" err="1"/>
              <a:t>may</a:t>
            </a:r>
            <a:r>
              <a:rPr lang="de-DE" dirty="0"/>
              <a:t> </a:t>
            </a:r>
            <a:r>
              <a:rPr lang="de-DE" dirty="0" err="1"/>
              <a:t>be</a:t>
            </a:r>
            <a:r>
              <a:rPr lang="de-DE" dirty="0"/>
              <a:t> a </a:t>
            </a:r>
            <a:r>
              <a:rPr lang="de-DE" dirty="0" err="1"/>
              <a:t>mistake</a:t>
            </a:r>
            <a:r>
              <a:rPr lang="de-DE" dirty="0"/>
              <a:t> in </a:t>
            </a:r>
            <a:r>
              <a:rPr lang="de-DE" dirty="0" err="1"/>
              <a:t>the</a:t>
            </a:r>
            <a:r>
              <a:rPr lang="de-DE" dirty="0"/>
              <a:t> </a:t>
            </a:r>
            <a:r>
              <a:rPr lang="de-DE" dirty="0" err="1"/>
              <a:t>self-assesment</a:t>
            </a:r>
            <a:r>
              <a:rPr lang="de-DE" dirty="0"/>
              <a:t> </a:t>
            </a:r>
            <a:r>
              <a:rPr lang="de-DE" dirty="0" err="1"/>
              <a:t>rubric</a:t>
            </a:r>
            <a:r>
              <a:rPr lang="de-DE" dirty="0"/>
              <a:t> </a:t>
            </a:r>
            <a:r>
              <a:rPr lang="de-DE" dirty="0" err="1"/>
              <a:t>as</a:t>
            </a:r>
            <a:r>
              <a:rPr lang="de-DE" dirty="0"/>
              <a:t> </a:t>
            </a:r>
            <a:r>
              <a:rPr lang="de-DE" dirty="0" err="1"/>
              <a:t>the</a:t>
            </a:r>
            <a:r>
              <a:rPr lang="de-DE" dirty="0"/>
              <a:t> </a:t>
            </a:r>
            <a:r>
              <a:rPr lang="de-DE" dirty="0" err="1"/>
              <a:t>points</a:t>
            </a:r>
            <a:r>
              <a:rPr lang="de-DE" dirty="0"/>
              <a:t> </a:t>
            </a:r>
            <a:r>
              <a:rPr lang="de-DE" dirty="0" err="1"/>
              <a:t>for</a:t>
            </a:r>
            <a:r>
              <a:rPr lang="de-DE" dirty="0"/>
              <a:t> ILO 2 </a:t>
            </a:r>
            <a:r>
              <a:rPr lang="de-DE" dirty="0" err="1"/>
              <a:t>are</a:t>
            </a:r>
            <a:r>
              <a:rPr lang="de-DE" dirty="0"/>
              <a:t> </a:t>
            </a:r>
            <a:r>
              <a:rPr lang="de-DE" dirty="0" err="1"/>
              <a:t>multiplied</a:t>
            </a:r>
            <a:r>
              <a:rPr lang="de-DE" dirty="0"/>
              <a:t> </a:t>
            </a:r>
            <a:r>
              <a:rPr lang="de-DE" dirty="0" err="1"/>
              <a:t>by</a:t>
            </a:r>
            <a:r>
              <a:rPr lang="de-DE" dirty="0"/>
              <a:t> 2, so </a:t>
            </a:r>
            <a:r>
              <a:rPr lang="de-DE" dirty="0" err="1"/>
              <a:t>therefore</a:t>
            </a:r>
            <a:r>
              <a:rPr lang="de-DE" dirty="0"/>
              <a:t> </a:t>
            </a:r>
            <a:r>
              <a:rPr lang="de-DE" dirty="0" err="1"/>
              <a:t>my</a:t>
            </a:r>
            <a:r>
              <a:rPr lang="de-DE" dirty="0"/>
              <a:t> grade </a:t>
            </a:r>
            <a:r>
              <a:rPr lang="de-DE" dirty="0" err="1"/>
              <a:t>would</a:t>
            </a:r>
            <a:r>
              <a:rPr lang="de-DE" dirty="0"/>
              <a:t> </a:t>
            </a:r>
            <a:r>
              <a:rPr lang="de-DE" dirty="0" err="1"/>
              <a:t>be</a:t>
            </a:r>
            <a:r>
              <a:rPr lang="de-DE" dirty="0"/>
              <a:t> 7.4)</a:t>
            </a:r>
            <a:endParaRPr dirty="0"/>
          </a:p>
          <a:p>
            <a:pPr marL="0" lvl="0" indent="0" algn="just" rtl="0">
              <a:spcBef>
                <a:spcPts val="800"/>
              </a:spcBef>
              <a:spcAft>
                <a:spcPts val="0"/>
              </a:spcAft>
              <a:buNone/>
            </a:pPr>
            <a:r>
              <a:rPr lang="de-DE" dirty="0"/>
              <a:t>An 8.3, and </a:t>
            </a:r>
            <a:r>
              <a:rPr lang="de-DE" dirty="0" err="1"/>
              <a:t>even</a:t>
            </a:r>
            <a:r>
              <a:rPr lang="de-DE" dirty="0"/>
              <a:t> a 7.4 </a:t>
            </a:r>
            <a:r>
              <a:rPr lang="de-DE" dirty="0" err="1"/>
              <a:t>seem</a:t>
            </a:r>
            <a:r>
              <a:rPr lang="de-DE" dirty="0"/>
              <a:t> </a:t>
            </a:r>
            <a:r>
              <a:rPr lang="de-DE" dirty="0" err="1"/>
              <a:t>unbelievebly</a:t>
            </a:r>
            <a:r>
              <a:rPr lang="de-DE" dirty="0"/>
              <a:t> high </a:t>
            </a:r>
            <a:r>
              <a:rPr lang="de-DE" dirty="0" err="1"/>
              <a:t>considering</a:t>
            </a:r>
            <a:r>
              <a:rPr lang="de-DE" dirty="0"/>
              <a:t> </a:t>
            </a:r>
            <a:r>
              <a:rPr lang="de-DE" dirty="0" err="1"/>
              <a:t>how</a:t>
            </a:r>
            <a:r>
              <a:rPr lang="de-DE" dirty="0"/>
              <a:t> tough I </a:t>
            </a:r>
            <a:r>
              <a:rPr lang="de-DE" dirty="0" err="1"/>
              <a:t>thought</a:t>
            </a:r>
            <a:r>
              <a:rPr lang="de-DE" dirty="0"/>
              <a:t> </a:t>
            </a:r>
            <a:r>
              <a:rPr lang="de-DE" dirty="0" err="1"/>
              <a:t>this</a:t>
            </a:r>
            <a:r>
              <a:rPr lang="de-DE" dirty="0"/>
              <a:t> block </a:t>
            </a:r>
            <a:r>
              <a:rPr lang="de-DE" dirty="0" err="1"/>
              <a:t>to</a:t>
            </a:r>
            <a:r>
              <a:rPr lang="de-DE" dirty="0"/>
              <a:t> </a:t>
            </a:r>
            <a:r>
              <a:rPr lang="de-DE" dirty="0" err="1"/>
              <a:t>be</a:t>
            </a:r>
            <a:r>
              <a:rPr lang="de-DE" dirty="0"/>
              <a:t>.</a:t>
            </a:r>
            <a:endParaRPr dirty="0"/>
          </a:p>
          <a:p>
            <a:pPr marL="0" lvl="0" indent="0" algn="just" rtl="0">
              <a:spcBef>
                <a:spcPts val="800"/>
              </a:spcBef>
              <a:spcAft>
                <a:spcPts val="0"/>
              </a:spcAft>
              <a:buNone/>
            </a:pPr>
            <a:r>
              <a:rPr lang="en" sz="1400" b="1" dirty="0"/>
              <a:t>How I plan to improve next block</a:t>
            </a:r>
            <a:endParaRPr sz="1400" b="1" dirty="0"/>
          </a:p>
          <a:p>
            <a:pPr marL="0" lvl="0" indent="0" algn="just" rtl="0">
              <a:spcBef>
                <a:spcPts val="800"/>
              </a:spcBef>
              <a:spcAft>
                <a:spcPts val="800"/>
              </a:spcAft>
              <a:buNone/>
            </a:pPr>
            <a:r>
              <a:rPr lang="en" dirty="0"/>
              <a:t>I need to </a:t>
            </a:r>
            <a:r>
              <a:rPr lang="en"/>
              <a:t>improve on mitigating the effects of the tough times.</a:t>
            </a:r>
            <a:endParaRPr dirty="0"/>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dirty="0">
                <a:solidFill>
                  <a:srgbClr val="434343"/>
                </a:solidFill>
                <a:latin typeface="Roboto"/>
                <a:ea typeface="Roboto"/>
                <a:cs typeface="Roboto"/>
                <a:sym typeface="Roboto"/>
              </a:rPr>
              <a:t>8.3</a:t>
            </a:r>
            <a:endParaRPr sz="3600" b="1" dirty="0">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9791E-52D0-4ABB-925A-4EAECF798D9B}">
  <ds:schemaRefs>
    <ds:schemaRef ds:uri="http://schemas.microsoft.com/sharepoint/v3/contenttype/forms"/>
  </ds:schemaRefs>
</ds:datastoreItem>
</file>

<file path=customXml/itemProps3.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941</TotalTime>
  <Words>9373</Words>
  <Application>Microsoft Office PowerPoint</Application>
  <PresentationFormat>On-screen Show (16:9)</PresentationFormat>
  <Paragraphs>807</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Proxima Nova</vt:lpstr>
      <vt:lpstr>Arial</vt:lpstr>
      <vt:lpstr>Roboto Light</vt:lpstr>
      <vt:lpstr>Roboto</vt:lpstr>
      <vt:lpstr>Calibri</vt:lpstr>
      <vt:lpstr>Open Sans</vt:lpstr>
      <vt:lpstr>Helvetica Neue</vt:lpstr>
      <vt:lpstr>Roboto Thin</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182</cp:revision>
  <dcterms:modified xsi:type="dcterms:W3CDTF">2025-01-23T23:20:55Z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