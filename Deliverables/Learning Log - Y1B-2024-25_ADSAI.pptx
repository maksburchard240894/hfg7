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B060603050402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00000000000000000" pitchFamily="2" charset="0"/>
      <p:regular r:id="rId62"/>
      <p:bold r:id="rId63"/>
      <p:italic r:id="rId64"/>
      <p:boldItalic r:id="rId65"/>
    </p:embeddedFont>
    <p:embeddedFont>
      <p:font typeface="Roboto Light" panose="02000000000000000000" pitchFamily="2" charset="0"/>
      <p:regular r:id="rId66"/>
      <p:italic r:id="rId67"/>
    </p:embeddedFont>
    <p:embeddedFont>
      <p:font typeface="Roboto Thin" panose="02000000000000000000"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802" y="6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59436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5.svg"/></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5.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I learned last block -													     Previous block’s grade</a:t>
            </a:r>
            <a:endParaRPr/>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dirty="0"/>
              <a:t>...</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although I suspect I will get somewhere between 0.5-1.5 based on the next month.</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pl-PL" dirty="0"/>
              <a:t>Making sure I get the 320 hours of work expected of me this block.</a:t>
            </a:r>
            <a:endParaRPr dirty="0"/>
          </a:p>
          <a:p>
            <a:pPr marL="0" lvl="0" indent="0" algn="l" rtl="0">
              <a:spcBef>
                <a:spcPts val="800"/>
              </a:spcBef>
              <a:spcAft>
                <a:spcPts val="0"/>
              </a:spcAft>
              <a:buNone/>
            </a:pP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pl-PL" dirty="0"/>
              <a:t>First goal is to reach the 320 hours. I should aim for getting 40 hours of work each week and if I don’t reach it, I need to compensate for that by doing more work next week.</a:t>
            </a:r>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en" dirty="0"/>
              <a:t>I have found my footing for the first week so far.</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p>
          <a:p>
            <a:pPr marL="182880" lvl="0" indent="-154940" algn="l" rtl="0">
              <a:spcBef>
                <a:spcPts val="0"/>
              </a:spcBef>
              <a:spcAft>
                <a:spcPts val="0"/>
              </a:spcAft>
              <a:buSzPts val="1000"/>
              <a:buChar char="●"/>
            </a:pPr>
            <a:r>
              <a:rPr lang="en" dirty="0"/>
              <a:t>I had some problems with certain tasks, but in general did do quite a bit of work.</a:t>
            </a:r>
            <a:r>
              <a:rPr lang="en" b="1" dirty="0"/>
              <a:t> </a:t>
            </a:r>
            <a:endParaRPr b="1"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en-GB" dirty="0"/>
              <a:t>Finding solutions to unexpected problems.</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en" dirty="0"/>
              <a:t>Filling in the WorkLog (especially towards the end of the week)</a:t>
            </a:r>
            <a:endParaRPr dirty="0"/>
          </a:p>
          <a:p>
            <a:pPr marL="182880" lvl="0" indent="-154940" algn="l" rtl="0">
              <a:spcBef>
                <a:spcPts val="0"/>
              </a:spcBef>
              <a:spcAft>
                <a:spcPts val="0"/>
              </a:spcAft>
              <a:buSzPts val="1000"/>
              <a:buChar char="●"/>
            </a:pPr>
            <a:r>
              <a:rPr lang="en" b="1" dirty="0"/>
              <a:t>What did you learn? </a:t>
            </a:r>
            <a:endParaRPr b="1"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The WorkLog needs to be filled in correctly.</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indent="0">
              <a:spcBef>
                <a:spcPts val="800"/>
              </a:spcBef>
              <a:spcAft>
                <a:spcPts val="800"/>
              </a:spcAft>
              <a:buNone/>
            </a:pPr>
            <a:r>
              <a:rPr lang="en"/>
              <a:t>Response</a:t>
            </a:r>
            <a:r>
              <a:rPr lang="en-US"/>
              <a:t> to Feedback</a:t>
            </a:r>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 dirty="0"/>
              <a:t>My goal for this week is to make sure I fill in the WorkLog correctly.</a:t>
            </a:r>
            <a:endParaRPr dirty="0"/>
          </a:p>
          <a:p>
            <a:pPr marL="182880" lvl="0" indent="-154940" algn="l" rtl="0">
              <a:spcBef>
                <a:spcPts val="0"/>
              </a:spcBef>
              <a:spcAft>
                <a:spcPts val="0"/>
              </a:spcAft>
              <a:buSzPts val="1000"/>
              <a:buChar char="●"/>
            </a:pPr>
            <a:r>
              <a:rPr lang="en" b="1" dirty="0"/>
              <a:t>What have you actually been able to do? </a:t>
            </a:r>
            <a:endParaRPr b="1"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b="1" dirty="0"/>
          </a:p>
          <a:p>
            <a:pPr marL="182880" lvl="0" indent="-154940" algn="l" rtl="0">
              <a:spcBef>
                <a:spcPts val="0"/>
              </a:spcBef>
              <a:spcAft>
                <a:spcPts val="0"/>
              </a:spcAft>
              <a:buSzPts val="1000"/>
              <a:buChar char="●"/>
            </a:pPr>
            <a:r>
              <a:rPr lang="en" b="1" dirty="0"/>
              <a:t>What went well? </a:t>
            </a:r>
            <a:endParaRPr b="1" dirty="0"/>
          </a:p>
          <a:p>
            <a:pPr marL="182880" lvl="0" indent="-154940" algn="l" rtl="0">
              <a:spcBef>
                <a:spcPts val="0"/>
              </a:spcBef>
              <a:spcAft>
                <a:spcPts val="0"/>
              </a:spcAft>
              <a:buSzPts val="1000"/>
              <a:buChar char="●"/>
            </a:pPr>
            <a:r>
              <a:rPr lang="en" b="1" dirty="0"/>
              <a:t>What didn’t go so well? </a:t>
            </a:r>
            <a:endParaRPr b="1" dirty="0"/>
          </a:p>
          <a:p>
            <a:pPr marL="182880" lvl="0" indent="-154940" algn="l" rtl="0">
              <a:spcBef>
                <a:spcPts val="0"/>
              </a:spcBef>
              <a:spcAft>
                <a:spcPts val="0"/>
              </a:spcAft>
              <a:buSzPts val="1000"/>
              <a:buChar char="●"/>
            </a:pPr>
            <a:r>
              <a:rPr lang="en" b="1" dirty="0"/>
              <a:t>What did you learn? </a:t>
            </a:r>
            <a:endParaRPr b="1" dirty="0"/>
          </a:p>
          <a:p>
            <a:pPr marL="182880" lvl="0" indent="-154940" algn="l" rtl="0">
              <a:spcBef>
                <a:spcPts val="0"/>
              </a:spcBef>
              <a:spcAft>
                <a:spcPts val="0"/>
              </a:spcAft>
              <a:buSzPts val="1000"/>
              <a:buChar char="●"/>
            </a:pPr>
            <a:r>
              <a:rPr lang="en" b="1" dirty="0"/>
              <a:t>What could be added as an Action point looking forward to next week?</a:t>
            </a:r>
            <a:endParaRPr b="1" dirty="0"/>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4185191198"/>
              </p:ext>
            </p:extLst>
          </p:nvPr>
        </p:nvGraphicFramePr>
        <p:xfrm>
          <a:off x="0" y="1069800"/>
          <a:ext cx="9139639" cy="4872981"/>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a:t>
                      </a:r>
                      <a:r>
                        <a:rPr lang="en-US" sz="1000" b="0" i="0" u="none" strike="noStrike" noProof="0" err="1">
                          <a:solidFill>
                            <a:srgbClr val="000000"/>
                          </a:solidFill>
                          <a:effectLst/>
                          <a:highlight>
                            <a:srgbClr val="FFE1CC"/>
                          </a:highlight>
                          <a:latin typeface="Calibri"/>
                        </a:rPr>
                        <a:t>Numpy</a:t>
                      </a:r>
                      <a:r>
                        <a:rPr lang="en-US" sz="1000" b="0" i="0" u="none" strike="noStrike" noProof="0">
                          <a:solidFill>
                            <a:srgbClr val="000000"/>
                          </a:solidFill>
                          <a:effectLst/>
                          <a:highlight>
                            <a:srgbClr val="FFE1CC"/>
                          </a:highlight>
                          <a:latin typeface="Calibri"/>
                        </a:rPr>
                        <a: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r>
                        <a:rPr lang="en-US" sz="1800" b="1" i="0" u="none" strike="noStrike">
                          <a:solidFill>
                            <a:schemeClr val="tx1">
                              <a:lumMod val="75000"/>
                            </a:schemeClr>
                          </a:solidFill>
                          <a:effectLst/>
                          <a:highlight>
                            <a:srgbClr val="FEF2CD"/>
                          </a:highlight>
                          <a:latin typeface="Calibri"/>
                        </a:rPr>
                        <a:t>Justification +Links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3440348285"/>
              </p:ext>
            </p:extLst>
          </p:nvPr>
        </p:nvGraphicFramePr>
        <p:xfrm>
          <a:off x="0" y="1069800"/>
          <a:ext cx="9144001" cy="4073700"/>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r>
                        <a:rPr lang="en-US" sz="1800" b="1" i="0" u="none" strike="noStrike">
                          <a:solidFill>
                            <a:schemeClr val="tx1">
                              <a:lumMod val="75000"/>
                            </a:schemeClr>
                          </a:solidFill>
                          <a:effectLst/>
                          <a:highlight>
                            <a:srgbClr val="FEF2CD"/>
                          </a:highlight>
                          <a:latin typeface="Calibri"/>
                        </a:rPr>
                        <a:t>Justification +Links</a:t>
                      </a:r>
                      <a:endParaRPr lang="en-US"/>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3214073086"/>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written with a </a:t>
                      </a:r>
                      <a:r>
                        <a:rPr lang="en-US" sz="1000" b="1" i="0" u="none" strike="noStrike" noProof="0">
                          <a:solidFill>
                            <a:srgbClr val="000000"/>
                          </a:solidFill>
                          <a:effectLst/>
                          <a:latin typeface="Calibri"/>
                        </a:rPr>
                        <a:t>SMARTER</a:t>
                      </a:r>
                      <a:r>
                        <a:rPr lang="en-US" sz="1000" b="0" i="0" u="none" strike="noStrike" noProof="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3151947256"/>
              </p:ext>
            </p:extLst>
          </p:nvPr>
        </p:nvGraphicFramePr>
        <p:xfrm>
          <a:off x="0" y="1069800"/>
          <a:ext cx="9143993" cy="4130208"/>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446303457"/>
              </p:ext>
            </p:extLst>
          </p:nvPr>
        </p:nvGraphicFramePr>
        <p:xfrm>
          <a:off x="0" y="1069800"/>
          <a:ext cx="9144001" cy="40737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830487356"/>
              </p:ext>
            </p:extLst>
          </p:nvPr>
        </p:nvGraphicFramePr>
        <p:xfrm>
          <a:off x="0" y="1069800"/>
          <a:ext cx="9144001" cy="50223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533302219"/>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My most difficult challenges this block</a:t>
            </a:r>
            <a:endParaRPr sz="1400" b="1"/>
          </a:p>
          <a:p>
            <a:pPr marL="0" lvl="0" indent="0" algn="just" rtl="0">
              <a:spcBef>
                <a:spcPts val="80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The most important lessons I learned</a:t>
            </a:r>
            <a:endParaRPr sz="1400" b="1"/>
          </a:p>
          <a:p>
            <a:pPr marL="0" lvl="0" indent="0" algn="just" rtl="0">
              <a:spcBef>
                <a:spcPts val="800"/>
              </a:spcBef>
              <a:spcAft>
                <a:spcPts val="800"/>
              </a:spcAft>
              <a:buNone/>
            </a:pPr>
            <a:r>
              <a:rPr lang="en"/>
              <a:t>...</a:t>
            </a:r>
            <a:endParaRPr/>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How I plan to improve next block</a:t>
            </a:r>
            <a:endParaRPr sz="1400" b="1"/>
          </a:p>
          <a:p>
            <a:pPr marL="0" lvl="0" indent="0" algn="just" rtl="0">
              <a:spcBef>
                <a:spcPts val="800"/>
              </a:spcBef>
              <a:spcAft>
                <a:spcPts val="800"/>
              </a:spcAft>
              <a:buNone/>
            </a:pPr>
            <a:r>
              <a:rPr lang="en"/>
              <a:t>...</a:t>
            </a:r>
            <a:endParaRPr/>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a:solidFill>
                  <a:srgbClr val="434343"/>
                </a:solidFill>
                <a:latin typeface="Roboto"/>
                <a:ea typeface="Roboto"/>
                <a:cs typeface="Roboto"/>
                <a:sym typeface="Roboto"/>
              </a:rPr>
              <a:t>x.x</a:t>
            </a:r>
            <a:endParaRPr sz="3600" b="1">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98D9791E-52D0-4ABB-925A-4EAECF798D9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95</TotalTime>
  <Words>5696</Words>
  <Application>Microsoft Office PowerPoint</Application>
  <PresentationFormat>On-screen Show (16:9)</PresentationFormat>
  <Paragraphs>554</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Roboto</vt:lpstr>
      <vt:lpstr>Proxima Nova</vt:lpstr>
      <vt:lpstr>Roboto Light</vt:lpstr>
      <vt:lpstr>Arial</vt:lpstr>
      <vt:lpstr>Calibri</vt:lpstr>
      <vt:lpstr>Open Sans</vt:lpstr>
      <vt:lpstr>Helvetica Neue</vt:lpstr>
      <vt:lpstr>Roboto Thin</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Maks Burchard</cp:lastModifiedBy>
  <cp:revision>13</cp:revision>
  <dcterms:modified xsi:type="dcterms:W3CDTF">2024-11-26T07:53:20Z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