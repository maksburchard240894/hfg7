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58" r:id="rId4"/>
  </p:sldMasterIdLst>
  <p:notesMasterIdLst>
    <p:notesMasterId r:id="rId49"/>
  </p:notesMasterIdLst>
  <p:sldIdLst>
    <p:sldId id="256" r:id="rId5"/>
    <p:sldId id="257" r:id="rId6"/>
    <p:sldId id="258" r:id="rId7"/>
    <p:sldId id="263" r:id="rId8"/>
    <p:sldId id="260" r:id="rId9"/>
    <p:sldId id="261" r:id="rId10"/>
    <p:sldId id="262" r:id="rId11"/>
    <p:sldId id="305" r:id="rId12"/>
    <p:sldId id="264" r:id="rId13"/>
    <p:sldId id="265" r:id="rId14"/>
    <p:sldId id="268" r:id="rId15"/>
    <p:sldId id="269" r:id="rId16"/>
    <p:sldId id="270" r:id="rId17"/>
    <p:sldId id="271" r:id="rId18"/>
    <p:sldId id="324" r:id="rId19"/>
    <p:sldId id="325" r:id="rId20"/>
    <p:sldId id="308" r:id="rId21"/>
    <p:sldId id="326" r:id="rId22"/>
    <p:sldId id="327" r:id="rId23"/>
    <p:sldId id="311" r:id="rId24"/>
    <p:sldId id="328" r:id="rId25"/>
    <p:sldId id="329" r:id="rId26"/>
    <p:sldId id="331" r:id="rId27"/>
    <p:sldId id="332" r:id="rId28"/>
    <p:sldId id="282" r:id="rId29"/>
    <p:sldId id="283" r:id="rId30"/>
    <p:sldId id="343" r:id="rId31"/>
    <p:sldId id="345" r:id="rId32"/>
    <p:sldId id="352" r:id="rId33"/>
    <p:sldId id="346" r:id="rId34"/>
    <p:sldId id="353" r:id="rId35"/>
    <p:sldId id="347" r:id="rId36"/>
    <p:sldId id="354" r:id="rId37"/>
    <p:sldId id="348" r:id="rId38"/>
    <p:sldId id="355" r:id="rId39"/>
    <p:sldId id="360" r:id="rId40"/>
    <p:sldId id="359" r:id="rId41"/>
    <p:sldId id="350" r:id="rId42"/>
    <p:sldId id="357" r:id="rId43"/>
    <p:sldId id="333" r:id="rId44"/>
    <p:sldId id="334" r:id="rId45"/>
    <p:sldId id="296" r:id="rId46"/>
    <p:sldId id="297" r:id="rId47"/>
    <p:sldId id="298" r:id="rId48"/>
  </p:sldIdLst>
  <p:sldSz cx="9144000" cy="5143500" type="screen16x9"/>
  <p:notesSz cx="6858000" cy="9144000"/>
  <p:embeddedFontLst>
    <p:embeddedFont>
      <p:font typeface="Helvetica Neue" panose="020B0604020202020204" charset="0"/>
      <p:regular r:id="rId50"/>
      <p:bold r:id="rId51"/>
      <p:italic r:id="rId52"/>
      <p:boldItalic r:id="rId53"/>
    </p:embeddedFont>
    <p:embeddedFont>
      <p:font typeface="Open Sans" panose="020B0606030504020204" pitchFamily="34" charset="0"/>
      <p:regular r:id="rId54"/>
      <p:bold r:id="rId55"/>
      <p:italic r:id="rId56"/>
      <p:boldItalic r:id="rId57"/>
    </p:embeddedFont>
    <p:embeddedFont>
      <p:font typeface="Proxima Nova" panose="020B0604020202020204" charset="0"/>
      <p:regular r:id="rId58"/>
      <p:bold r:id="rId59"/>
      <p:italic r:id="rId60"/>
      <p:boldItalic r:id="rId61"/>
    </p:embeddedFont>
    <p:embeddedFont>
      <p:font typeface="Roboto" panose="02000000000000000000" pitchFamily="2" charset="0"/>
      <p:regular r:id="rId62"/>
      <p:bold r:id="rId63"/>
      <p:italic r:id="rId64"/>
      <p:boldItalic r:id="rId65"/>
    </p:embeddedFont>
    <p:embeddedFont>
      <p:font typeface="Roboto Light" panose="02000000000000000000" pitchFamily="2" charset="0"/>
      <p:regular r:id="rId66"/>
      <p:italic r:id="rId67"/>
    </p:embeddedFont>
    <p:embeddedFont>
      <p:font typeface="Roboto Thin" panose="02000000000000000000" pitchFamily="2" charset="0"/>
      <p:regular r:id="rId68"/>
      <p:italic r:id="rId6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3F07B12-FAE0-28AD-E538-EEDF72EBCEF7}" name="Noyan, Alican" initials="NA" userId="S::noyan.a@buas.nl::f2106684-872a-4b1d-b983-18c991c41330"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Biswas, Abhishek" initials="BA" lastIdx="1" clrIdx="0">
    <p:extLst>
      <p:ext uri="{19B8F6BF-5375-455C-9EA6-DF929625EA0E}">
        <p15:presenceInfo xmlns:p15="http://schemas.microsoft.com/office/powerpoint/2012/main" userId="S::biswas.a@buas.nl::fb8d240a-d551-4b24-ab9a-9862bbc79dd8" providerId="AD"/>
      </p:ext>
    </p:extLst>
  </p:cmAuthor>
  <p:cmAuthor id="2" name="Noyan, Alican" initials="NA" lastIdx="3" clrIdx="1">
    <p:extLst>
      <p:ext uri="{19B8F6BF-5375-455C-9EA6-DF929625EA0E}">
        <p15:presenceInfo xmlns:p15="http://schemas.microsoft.com/office/powerpoint/2012/main" userId="S::noyan.a@buas.nl::f2106684-872a-4b1d-b983-18c991c41330" providerId="AD"/>
      </p:ext>
    </p:extLst>
  </p:cmAuthor>
  <p:cmAuthor id="3" name="Heijligers, Bram" initials="HB" lastIdx="3" clrIdx="2">
    <p:extLst>
      <p:ext uri="{19B8F6BF-5375-455C-9EA6-DF929625EA0E}">
        <p15:presenceInfo xmlns:p15="http://schemas.microsoft.com/office/powerpoint/2012/main" userId="S::heijligers.b@buas.nl::5cef929d-ecf9-4fca-bf12-bc5ee065fc9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CC"/>
    <a:srgbClr val="00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DE4B18-C8E5-9083-0879-DA16C72BA878}" v="6" dt="2024-11-19T09:26:58.345"/>
    <p1510:client id="{925896CF-2934-AE40-9346-8DAA55A656D1}" v="12" dt="2024-11-19T04:15:32.799"/>
    <p1510:client id="{A7FBBC6F-7762-5F33-BE83-DB69F7694010}" v="148" dt="2024-11-19T08:19:17.950"/>
    <p1510:client id="{CD9E5212-1E66-6ED2-C9A9-E0B7D2519126}" v="883" dt="2024-11-18T15:45:56.763"/>
    <p1510:client id="{E4169D13-82C7-3490-4C71-8AEE22B0DBE0}" v="62" dt="2024-11-19T08:15:02.372"/>
  </p1510:revLst>
</p1510:revInfo>
</file>

<file path=ppt/tableStyles.xml><?xml version="1.0" encoding="utf-8"?>
<a:tblStyleLst xmlns:a="http://schemas.openxmlformats.org/drawingml/2006/main" def="{764D4AE7-FFBC-431D-9275-528F30A785D3}">
  <a:tblStyle styleId="{764D4AE7-FFBC-431D-9275-528F30A785D3}"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802" y="62"/>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font" Target="fonts/font14.fntdata"/><Relationship Id="rId68" Type="http://schemas.openxmlformats.org/officeDocument/2006/relationships/font" Target="fonts/font19.fntdata"/><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font" Target="fonts/font4.fntdata"/><Relationship Id="rId58" Type="http://schemas.openxmlformats.org/officeDocument/2006/relationships/font" Target="fonts/font9.fntdata"/><Relationship Id="rId66" Type="http://schemas.openxmlformats.org/officeDocument/2006/relationships/font" Target="fonts/font17.fntdata"/><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font" Target="fonts/font12.fntdata"/><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font" Target="fonts/font7.fntdata"/><Relationship Id="rId64" Type="http://schemas.openxmlformats.org/officeDocument/2006/relationships/font" Target="fonts/font15.fntdata"/><Relationship Id="rId69" Type="http://schemas.openxmlformats.org/officeDocument/2006/relationships/font" Target="fonts/font20.fntdata"/><Relationship Id="rId8" Type="http://schemas.openxmlformats.org/officeDocument/2006/relationships/slide" Target="slides/slide4.xml"/><Relationship Id="rId51" Type="http://schemas.openxmlformats.org/officeDocument/2006/relationships/font" Target="fonts/font2.fntdata"/><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font" Target="fonts/font10.fntdata"/><Relationship Id="rId67" Type="http://schemas.openxmlformats.org/officeDocument/2006/relationships/font" Target="fonts/font18.fntdata"/><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font" Target="fonts/font5.fntdata"/><Relationship Id="rId62" Type="http://schemas.openxmlformats.org/officeDocument/2006/relationships/font" Target="fonts/font13.fntdata"/><Relationship Id="rId70" Type="http://schemas.openxmlformats.org/officeDocument/2006/relationships/commentAuthors" Target="commentAuthors.xml"/><Relationship Id="rId75"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notesMaster" Target="notesMasters/notesMaster1.xml"/><Relationship Id="rId57" Type="http://schemas.openxmlformats.org/officeDocument/2006/relationships/font" Target="fonts/font8.fntdata"/><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font" Target="fonts/font3.fntdata"/><Relationship Id="rId60" Type="http://schemas.openxmlformats.org/officeDocument/2006/relationships/font" Target="fonts/font11.fntdata"/><Relationship Id="rId65" Type="http://schemas.openxmlformats.org/officeDocument/2006/relationships/font" Target="fonts/font16.fntdata"/><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font" Target="fonts/font1.fntdata"/><Relationship Id="rId55" Type="http://schemas.openxmlformats.org/officeDocument/2006/relationships/font" Target="fonts/font6.fntdata"/><Relationship Id="rId76" Type="http://schemas.microsoft.com/office/2018/10/relationships/authors" Target="authors.xml"/><Relationship Id="rId7" Type="http://schemas.openxmlformats.org/officeDocument/2006/relationships/slide" Target="slides/slide3.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6b4f495656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6b4f495656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6b4f495656_0_6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6b4f495656_0_6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6b4f495656_0_6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6b4f495656_0_6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6b602ea5a7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6b602ea5a7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6b602ea5a7_1_10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6b602ea5a7_1_10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Copy and paste the feedback from the previous block’s assessment into the text box.</a:t>
            </a:r>
            <a:endParaRPr dirty="0"/>
          </a:p>
          <a:p>
            <a:pPr marL="0" lvl="0" indent="0" algn="l" rtl="0">
              <a:spcBef>
                <a:spcPts val="0"/>
              </a:spcBef>
              <a:spcAft>
                <a:spcPts val="0"/>
              </a:spcAft>
              <a:buNone/>
            </a:pPr>
            <a:r>
              <a:rPr lang="en" dirty="0"/>
              <a:t>Copy and paste the bullet points you listed on the “Lessons Learned” page in section C of your last block’s log.</a:t>
            </a:r>
            <a:endParaRPr dirty="0"/>
          </a:p>
          <a:p>
            <a:pPr marL="0" lvl="0" indent="0" algn="l" rtl="0">
              <a:spcBef>
                <a:spcPts val="0"/>
              </a:spcBef>
              <a:spcAft>
                <a:spcPts val="0"/>
              </a:spcAft>
              <a:buNone/>
            </a:pPr>
            <a:r>
              <a:rPr lang="en" dirty="0"/>
              <a:t>Compare the grade you gave yourself with the grade you received, and reevaluate or restate your feeling on your current level of progress.</a:t>
            </a: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6b602ea5a7_1_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6b602ea5a7_1_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Describe your goals for this block using the SMARTER method. Make sure they are clear, relevant, have a measurable outcome, and can be recorded. Consider how well do they align with the role(s) you wish to take, and with the requirements given in the project brief. Think about the objectives you plan to choose, or that are mandated by the project. Are there any competencies that you need to focus on?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n" dirty="0"/>
              <a:t>For each goal, find concrete examples of tasks you expect to undertake that will demonstrate this within the project for the block. Make sure the plan has an outcome that can be tracked and assessed. Make sure you have a clearly stated target for each goal. If you are unsure of how to demonstrate something, ask for help from your teachers.</a:t>
            </a:r>
            <a:endParaRPr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6b4f495656_0_6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6b4f495656_0_6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UPDATED EVERY WEEK</a:t>
            </a:r>
            <a:endParaRPr/>
          </a:p>
          <a:p>
            <a:pPr marL="0" lvl="0" indent="0" algn="l" rtl="0">
              <a:spcBef>
                <a:spcPts val="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0"/>
              </a:spcBef>
              <a:spcAft>
                <a:spcPts val="0"/>
              </a:spcAft>
              <a:buNone/>
            </a:pPr>
            <a:r>
              <a:rPr lang="en"/>
              <a:t>(Some reflection is almost always a good idea as it provides the foundation for Section C.)</a:t>
            </a:r>
            <a:endParaRPr/>
          </a:p>
        </p:txBody>
      </p:sp>
    </p:spTree>
    <p:extLst>
      <p:ext uri="{BB962C8B-B14F-4D97-AF65-F5344CB8AC3E}">
        <p14:creationId xmlns:p14="http://schemas.microsoft.com/office/powerpoint/2010/main" val="3267376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75e44ff1a3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75e44ff1a3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75e44ff1a3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0" name="Google Shape;170;g75e44ff1a3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75e44ff1a3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 name="Google Shape;200;g75e44ff1a3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6b602ea5a7_1_5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6b602ea5a7_1_5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983444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877827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82411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7729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5399939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870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8930111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7523334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g6b602ea5a7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1" name="Google Shape;221;g6b602ea5a7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82608166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g6b602ea5a7_1_5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5" name="Google Shape;235;g6b602ea5a7_1_5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623156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6b4f495656_0_6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6b4f495656_0_6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 BUT SHOULD BE UPDATED REGULARLY</a:t>
            </a:r>
            <a:endParaRPr/>
          </a:p>
          <a:p>
            <a:pPr marL="0" lvl="0" indent="0" algn="l" rtl="0">
              <a:spcBef>
                <a:spcPts val="0"/>
              </a:spcBef>
              <a:spcAft>
                <a:spcPts val="0"/>
              </a:spcAft>
              <a:buNone/>
            </a:pPr>
            <a:r>
              <a:rPr lang="en"/>
              <a:t>This is where you link your evidence to each of the Intended Learning Outcomes of this block.</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267210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63843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39242849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316389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6233489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994239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5236045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766264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912843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14421768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315746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6b4f495656_0_7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6b4f495656_0_7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39891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Google Shape;390;g6b602ea5a7_1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1" name="Google Shape;391;g6b602ea5a7_1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395789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6b4f495656_0_7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6b4f495656_0_7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776480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g6b602ea5a7_1_3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3" name="Google Shape;473;g6b602ea5a7_1_3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7002684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6b4f495656_0_7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6b4f495656_0_7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MUST BE COMPLETED IN WEEK 8</a:t>
            </a:r>
            <a:endParaRPr/>
          </a:p>
          <a:p>
            <a:pPr marL="0" lvl="0" indent="0" algn="l" rtl="0">
              <a:spcBef>
                <a:spcPts val="0"/>
              </a:spcBef>
              <a:spcAft>
                <a:spcPts val="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6b602ea5a7_1_2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6b602ea5a7_1_2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g6b602ea5a7_1_2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1" name="Google Shape;511;g6b602ea5a7_1_2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_1">
    <p:bg>
      <p:bgPr>
        <a:solidFill>
          <a:srgbClr val="EC781C"/>
        </a:solidFill>
        <a:effectLst/>
      </p:bgPr>
    </p:bg>
    <p:spTree>
      <p:nvGrpSpPr>
        <p:cNvPr id="1" name="Shape 9"/>
        <p:cNvGrpSpPr/>
        <p:nvPr/>
      </p:nvGrpSpPr>
      <p:grpSpPr>
        <a:xfrm>
          <a:off x="0" y="0"/>
          <a:ext cx="0" cy="0"/>
          <a:chOff x="0" y="0"/>
          <a:chExt cx="0" cy="0"/>
        </a:xfrm>
      </p:grpSpPr>
      <p:sp>
        <p:nvSpPr>
          <p:cNvPr id="10" name="Google Shape;10;p2"/>
          <p:cNvSpPr/>
          <p:nvPr/>
        </p:nvSpPr>
        <p:spPr>
          <a:xfrm>
            <a:off x="3109025" y="-1200"/>
            <a:ext cx="6035100" cy="51462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Google Shape;11;p2"/>
          <p:cNvSpPr/>
          <p:nvPr/>
        </p:nvSpPr>
        <p:spPr>
          <a:xfrm>
            <a:off x="0" y="4363525"/>
            <a:ext cx="9144000" cy="777300"/>
          </a:xfrm>
          <a:prstGeom prst="rect">
            <a:avLst/>
          </a:pr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12;p2"/>
          <p:cNvSpPr txBox="1">
            <a:spLocks noGrp="1"/>
          </p:cNvSpPr>
          <p:nvPr>
            <p:ph type="ctrTitle"/>
          </p:nvPr>
        </p:nvSpPr>
        <p:spPr>
          <a:xfrm>
            <a:off x="3657600" y="548650"/>
            <a:ext cx="4937700" cy="3264300"/>
          </a:xfrm>
          <a:prstGeom prst="rect">
            <a:avLst/>
          </a:prstGeom>
        </p:spPr>
        <p:txBody>
          <a:bodyPr spcFirstLastPara="1" wrap="square" lIns="91425" tIns="91425" rIns="91425" bIns="91425" anchor="t" anchorCtr="0">
            <a:noAutofit/>
          </a:bodyPr>
          <a:lstStyle>
            <a:lvl1pPr lvl="0" rtl="0">
              <a:spcBef>
                <a:spcPts val="0"/>
              </a:spcBef>
              <a:spcAft>
                <a:spcPts val="0"/>
              </a:spcAft>
              <a:buClr>
                <a:srgbClr val="FFFFFF"/>
              </a:buClr>
              <a:buSzPts val="1800"/>
              <a:buNone/>
              <a:defRPr sz="1800">
                <a:solidFill>
                  <a:srgbClr val="FFFFFF"/>
                </a:solidFill>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3" name="Google Shape;13;p2"/>
          <p:cNvSpPr txBox="1">
            <a:spLocks noGrp="1"/>
          </p:cNvSpPr>
          <p:nvPr>
            <p:ph type="subTitle" idx="1"/>
          </p:nvPr>
        </p:nvSpPr>
        <p:spPr>
          <a:xfrm>
            <a:off x="548650" y="548650"/>
            <a:ext cx="2011800" cy="3264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Clr>
                <a:srgbClr val="FFFFFF"/>
              </a:buClr>
              <a:buSzPts val="1800"/>
              <a:buNone/>
              <a:defRPr sz="1800">
                <a:solidFill>
                  <a:srgbClr val="FFFFFF"/>
                </a:solidFill>
              </a:defRPr>
            </a:lvl1pPr>
            <a:lvl2pPr lvl="1" algn="ctr" rtl="0">
              <a:lnSpc>
                <a:spcPct val="100000"/>
              </a:lnSpc>
              <a:spcBef>
                <a:spcPts val="0"/>
              </a:spcBef>
              <a:spcAft>
                <a:spcPts val="0"/>
              </a:spcAft>
              <a:buClr>
                <a:srgbClr val="FFFFFF"/>
              </a:buClr>
              <a:buSzPts val="3000"/>
              <a:buNone/>
              <a:defRPr sz="3000">
                <a:solidFill>
                  <a:srgbClr val="FFFFFF"/>
                </a:solidFill>
              </a:defRPr>
            </a:lvl2pPr>
            <a:lvl3pPr lvl="2" algn="ctr" rtl="0">
              <a:lnSpc>
                <a:spcPct val="100000"/>
              </a:lnSpc>
              <a:spcBef>
                <a:spcPts val="0"/>
              </a:spcBef>
              <a:spcAft>
                <a:spcPts val="0"/>
              </a:spcAft>
              <a:buClr>
                <a:srgbClr val="FFFFFF"/>
              </a:buClr>
              <a:buSzPts val="3000"/>
              <a:buNone/>
              <a:defRPr sz="3000">
                <a:solidFill>
                  <a:srgbClr val="FFFFFF"/>
                </a:solidFill>
              </a:defRPr>
            </a:lvl3pPr>
            <a:lvl4pPr lvl="3" algn="ctr" rtl="0">
              <a:lnSpc>
                <a:spcPct val="100000"/>
              </a:lnSpc>
              <a:spcBef>
                <a:spcPts val="0"/>
              </a:spcBef>
              <a:spcAft>
                <a:spcPts val="0"/>
              </a:spcAft>
              <a:buClr>
                <a:srgbClr val="FFFFFF"/>
              </a:buClr>
              <a:buSzPts val="3000"/>
              <a:buNone/>
              <a:defRPr sz="3000">
                <a:solidFill>
                  <a:srgbClr val="FFFFFF"/>
                </a:solidFill>
              </a:defRPr>
            </a:lvl4pPr>
            <a:lvl5pPr lvl="4" algn="ctr" rtl="0">
              <a:lnSpc>
                <a:spcPct val="100000"/>
              </a:lnSpc>
              <a:spcBef>
                <a:spcPts val="0"/>
              </a:spcBef>
              <a:spcAft>
                <a:spcPts val="0"/>
              </a:spcAft>
              <a:buClr>
                <a:srgbClr val="FFFFFF"/>
              </a:buClr>
              <a:buSzPts val="3000"/>
              <a:buNone/>
              <a:defRPr sz="3000">
                <a:solidFill>
                  <a:srgbClr val="FFFFFF"/>
                </a:solidFill>
              </a:defRPr>
            </a:lvl5pPr>
            <a:lvl6pPr lvl="5" algn="ctr" rtl="0">
              <a:lnSpc>
                <a:spcPct val="100000"/>
              </a:lnSpc>
              <a:spcBef>
                <a:spcPts val="0"/>
              </a:spcBef>
              <a:spcAft>
                <a:spcPts val="0"/>
              </a:spcAft>
              <a:buClr>
                <a:srgbClr val="FFFFFF"/>
              </a:buClr>
              <a:buSzPts val="3000"/>
              <a:buNone/>
              <a:defRPr sz="3000">
                <a:solidFill>
                  <a:srgbClr val="FFFFFF"/>
                </a:solidFill>
              </a:defRPr>
            </a:lvl6pPr>
            <a:lvl7pPr lvl="6" algn="ctr" rtl="0">
              <a:lnSpc>
                <a:spcPct val="100000"/>
              </a:lnSpc>
              <a:spcBef>
                <a:spcPts val="0"/>
              </a:spcBef>
              <a:spcAft>
                <a:spcPts val="0"/>
              </a:spcAft>
              <a:buClr>
                <a:srgbClr val="FFFFFF"/>
              </a:buClr>
              <a:buSzPts val="3000"/>
              <a:buNone/>
              <a:defRPr sz="3000">
                <a:solidFill>
                  <a:srgbClr val="FFFFFF"/>
                </a:solidFill>
              </a:defRPr>
            </a:lvl7pPr>
            <a:lvl8pPr lvl="7" algn="ctr" rtl="0">
              <a:lnSpc>
                <a:spcPct val="100000"/>
              </a:lnSpc>
              <a:spcBef>
                <a:spcPts val="0"/>
              </a:spcBef>
              <a:spcAft>
                <a:spcPts val="0"/>
              </a:spcAft>
              <a:buClr>
                <a:srgbClr val="FFFFFF"/>
              </a:buClr>
              <a:buSzPts val="3000"/>
              <a:buNone/>
              <a:defRPr sz="3000">
                <a:solidFill>
                  <a:srgbClr val="FFFFFF"/>
                </a:solidFill>
              </a:defRPr>
            </a:lvl8pPr>
            <a:lvl9pPr lvl="8" algn="ctr" rtl="0">
              <a:lnSpc>
                <a:spcPct val="100000"/>
              </a:lnSpc>
              <a:spcBef>
                <a:spcPts val="0"/>
              </a:spcBef>
              <a:spcAft>
                <a:spcPts val="0"/>
              </a:spcAft>
              <a:buClr>
                <a:srgbClr val="FFFFFF"/>
              </a:buClr>
              <a:buSzPts val="3000"/>
              <a:buNone/>
              <a:defRPr sz="3000">
                <a:solidFill>
                  <a:srgbClr val="FFFFFF"/>
                </a:solidFill>
              </a:defRPr>
            </a:lvl9pPr>
          </a:lstStyle>
          <a:p>
            <a:endParaRPr/>
          </a:p>
        </p:txBody>
      </p:sp>
      <p:pic>
        <p:nvPicPr>
          <p:cNvPr id="14" name="Google Shape;14;p2"/>
          <p:cNvPicPr preferRelativeResize="0"/>
          <p:nvPr/>
        </p:nvPicPr>
        <p:blipFill>
          <a:blip r:embed="rId2">
            <a:alphaModFix/>
          </a:blip>
          <a:stretch>
            <a:fillRect/>
          </a:stretch>
        </p:blipFill>
        <p:spPr>
          <a:xfrm>
            <a:off x="164592" y="4523578"/>
            <a:ext cx="1329394" cy="457200"/>
          </a:xfrm>
          <a:prstGeom prst="rect">
            <a:avLst/>
          </a:prstGeom>
          <a:noFill/>
          <a:ln>
            <a:noFill/>
          </a:ln>
        </p:spPr>
      </p:pic>
      <p:graphicFrame>
        <p:nvGraphicFramePr>
          <p:cNvPr id="4" name="Table 3">
            <a:extLst>
              <a:ext uri="{FF2B5EF4-FFF2-40B4-BE49-F238E27FC236}">
                <a16:creationId xmlns:a16="http://schemas.microsoft.com/office/drawing/2014/main" id="{9C37A2C8-F053-CFA5-72C7-D1B7AFD043D0}"/>
              </a:ext>
            </a:extLst>
          </p:cNvPr>
          <p:cNvGraphicFramePr>
            <a:graphicFrameLocks noGrp="1"/>
          </p:cNvGraphicFramePr>
          <p:nvPr userDrawn="1">
            <p:extLst>
              <p:ext uri="{D42A27DB-BD31-4B8C-83A1-F6EECF244321}">
                <p14:modId xmlns:p14="http://schemas.microsoft.com/office/powerpoint/2010/main" val="251012479"/>
              </p:ext>
            </p:extLst>
          </p:nvPr>
        </p:nvGraphicFramePr>
        <p:xfrm>
          <a:off x="1845398" y="4454995"/>
          <a:ext cx="7094899" cy="594360"/>
        </p:xfrm>
        <a:graphic>
          <a:graphicData uri="http://schemas.openxmlformats.org/drawingml/2006/table">
            <a:tbl>
              <a:tblPr firstRow="1" bandRow="1">
                <a:tableStyleId>{764D4AE7-FFBC-431D-9275-528F30A785D3}</a:tableStyleId>
              </a:tblPr>
              <a:tblGrid>
                <a:gridCol w="1189355">
                  <a:extLst>
                    <a:ext uri="{9D8B030D-6E8A-4147-A177-3AD203B41FA5}">
                      <a16:colId xmlns:a16="http://schemas.microsoft.com/office/drawing/2014/main" val="828907917"/>
                    </a:ext>
                  </a:extLst>
                </a:gridCol>
                <a:gridCol w="5905544">
                  <a:extLst>
                    <a:ext uri="{9D8B030D-6E8A-4147-A177-3AD203B41FA5}">
                      <a16:colId xmlns:a16="http://schemas.microsoft.com/office/drawing/2014/main" val="682174830"/>
                    </a:ext>
                  </a:extLst>
                </a:gridCol>
              </a:tblGrid>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 sz="700" b="1">
                          <a:solidFill>
                            <a:srgbClr val="999999"/>
                          </a:solidFill>
                          <a:latin typeface="Helvetica Neue"/>
                          <a:ea typeface="Helvetica Neue"/>
                          <a:cs typeface="Helvetica Neue"/>
                          <a:sym typeface="Helvetica Neue"/>
                        </a:rPr>
                        <a:t>Project Brief</a:t>
                      </a:r>
                      <a:r>
                        <a:rPr lang="en-NL" sz="700" b="1">
                          <a:solidFill>
                            <a:srgbClr val="999999"/>
                          </a:solidFill>
                          <a:latin typeface="Helvetica Neue"/>
                          <a:ea typeface="Helvetica Neue"/>
                          <a:cs typeface="Helvetica Neue"/>
                          <a:sym typeface="Helvetica Neue"/>
                        </a:rPr>
                        <a:t>:</a:t>
                      </a:r>
                      <a:r>
                        <a:rPr lang="en" sz="700" b="1">
                          <a:solidFill>
                            <a:srgbClr val="999999"/>
                          </a:solidFill>
                          <a:latin typeface="Helvetica Neue"/>
                          <a:ea typeface="Helvetica Neue"/>
                          <a:cs typeface="Helvetica Neue"/>
                          <a:sym typeface="Helvetica Neue"/>
                        </a:rPr>
                        <a:t> </a:t>
                      </a:r>
                      <a:endParaRPr lang="en-NL" sz="700" b="1">
                        <a:solidFill>
                          <a:srgbClr val="999999"/>
                        </a:solidFill>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000607423"/>
                  </a:ext>
                </a:extLst>
              </a:tr>
              <a:tr h="18542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b="1">
                          <a:solidFill>
                            <a:srgbClr val="999999"/>
                          </a:solidFill>
                          <a:latin typeface="Helvetica Neue"/>
                          <a:ea typeface="Helvetica Neue"/>
                          <a:cs typeface="Helvetica Neue"/>
                          <a:sym typeface="Helvetica Neue"/>
                        </a:rPr>
                        <a:t>Assessment Assignment:</a:t>
                      </a:r>
                      <a:endParaRPr lang="en-US" sz="700" b="1">
                        <a:latin typeface="Helvetica Neue"/>
                        <a:ea typeface="Helvetica Neue"/>
                        <a:cs typeface="Helvetica Neue"/>
                        <a:sym typeface="Helvetica Neue"/>
                      </a:endParaRPr>
                    </a:p>
                  </a:txBody>
                  <a:tcPr/>
                </a:tc>
                <a:tc>
                  <a:txBody>
                    <a:bodyPr/>
                    <a:lstStyle/>
                    <a:p>
                      <a:endParaRPr lang="en-GB" sz="700"/>
                    </a:p>
                  </a:txBody>
                  <a:tcPr/>
                </a:tc>
                <a:extLst>
                  <a:ext uri="{0D108BD9-81ED-4DB2-BD59-A6C34878D82A}">
                    <a16:rowId xmlns:a16="http://schemas.microsoft.com/office/drawing/2014/main" val="1233139930"/>
                  </a:ext>
                </a:extLst>
              </a:tr>
              <a:tr h="185420">
                <a:tc>
                  <a:txBody>
                    <a:bodyPr/>
                    <a:lstStyle/>
                    <a:p>
                      <a:r>
                        <a:rPr lang="en-NL" sz="700" b="1">
                          <a:solidFill>
                            <a:srgbClr val="999999"/>
                          </a:solidFill>
                          <a:latin typeface="Helvetica Neue"/>
                          <a:ea typeface="Helvetica Neue"/>
                          <a:cs typeface="Helvetica Neue"/>
                          <a:sym typeface="Helvetica Neue"/>
                        </a:rPr>
                        <a:t>Student </a:t>
                      </a:r>
                      <a:r>
                        <a:rPr lang="en" sz="700" b="1">
                          <a:solidFill>
                            <a:srgbClr val="999999"/>
                          </a:solidFill>
                          <a:latin typeface="Helvetica Neue"/>
                          <a:ea typeface="Helvetica Neue"/>
                          <a:cs typeface="Helvetica Neue"/>
                          <a:sym typeface="Helvetica Neue"/>
                        </a:rPr>
                        <a:t>GitHub Folder: </a:t>
                      </a:r>
                      <a:endParaRPr lang="en-GB" sz="700"/>
                    </a:p>
                  </a:txBody>
                  <a:tcPr/>
                </a:tc>
                <a:tc>
                  <a:txBody>
                    <a:bodyPr/>
                    <a:lstStyle/>
                    <a:p>
                      <a:endParaRPr lang="en-GB" sz="700"/>
                    </a:p>
                  </a:txBody>
                  <a:tcPr/>
                </a:tc>
                <a:extLst>
                  <a:ext uri="{0D108BD9-81ED-4DB2-BD59-A6C34878D82A}">
                    <a16:rowId xmlns:a16="http://schemas.microsoft.com/office/drawing/2014/main" val="1618248095"/>
                  </a:ext>
                </a:extLst>
              </a:tr>
            </a:tbl>
          </a:graphicData>
        </a:graphic>
      </p:graphicFrame>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p:cSld name="CUSTOM_1_2">
    <p:bg>
      <p:bgPr>
        <a:solidFill>
          <a:srgbClr val="666666"/>
        </a:solidFill>
        <a:effectLst/>
      </p:bgPr>
    </p:bg>
    <p:spTree>
      <p:nvGrpSpPr>
        <p:cNvPr id="1" name="Shape 17"/>
        <p:cNvGrpSpPr/>
        <p:nvPr/>
      </p:nvGrpSpPr>
      <p:grpSpPr>
        <a:xfrm>
          <a:off x="0" y="0"/>
          <a:ext cx="0" cy="0"/>
          <a:chOff x="0" y="0"/>
          <a:chExt cx="0" cy="0"/>
        </a:xfrm>
      </p:grpSpPr>
      <p:sp>
        <p:nvSpPr>
          <p:cNvPr id="18" name="Google Shape;18;p3"/>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FFFFFF"/>
              </a:buClr>
              <a:buSzPts val="6000"/>
              <a:buFont typeface="Roboto Thin"/>
              <a:buNone/>
              <a:defRPr sz="6000" b="0">
                <a:solidFill>
                  <a:srgbClr val="FFFFFF"/>
                </a:solidFill>
                <a:latin typeface="Roboto Thin"/>
                <a:ea typeface="Roboto Thin"/>
                <a:cs typeface="Roboto Thin"/>
                <a:sym typeface="Roboto Thin"/>
              </a:defRPr>
            </a:lvl1pPr>
            <a:lvl2pPr lvl="1" algn="ctr" rtl="0">
              <a:spcBef>
                <a:spcPts val="0"/>
              </a:spcBef>
              <a:spcAft>
                <a:spcPts val="0"/>
              </a:spcAft>
              <a:buClr>
                <a:srgbClr val="FFFFFF"/>
              </a:buClr>
              <a:buSzPts val="3600"/>
              <a:buNone/>
              <a:defRPr sz="3600">
                <a:solidFill>
                  <a:srgbClr val="FFFFFF"/>
                </a:solidFill>
              </a:defRPr>
            </a:lvl2pPr>
            <a:lvl3pPr lvl="2" algn="ctr" rtl="0">
              <a:spcBef>
                <a:spcPts val="0"/>
              </a:spcBef>
              <a:spcAft>
                <a:spcPts val="0"/>
              </a:spcAft>
              <a:buClr>
                <a:srgbClr val="FFFFFF"/>
              </a:buClr>
              <a:buSzPts val="3600"/>
              <a:buNone/>
              <a:defRPr sz="3600">
                <a:solidFill>
                  <a:srgbClr val="FFFFFF"/>
                </a:solidFill>
              </a:defRPr>
            </a:lvl3pPr>
            <a:lvl4pPr lvl="3" algn="ctr" rtl="0">
              <a:spcBef>
                <a:spcPts val="0"/>
              </a:spcBef>
              <a:spcAft>
                <a:spcPts val="0"/>
              </a:spcAft>
              <a:buClr>
                <a:srgbClr val="FFFFFF"/>
              </a:buClr>
              <a:buSzPts val="3600"/>
              <a:buNone/>
              <a:defRPr sz="3600">
                <a:solidFill>
                  <a:srgbClr val="FFFFFF"/>
                </a:solidFill>
              </a:defRPr>
            </a:lvl4pPr>
            <a:lvl5pPr lvl="4" algn="ctr" rtl="0">
              <a:spcBef>
                <a:spcPts val="0"/>
              </a:spcBef>
              <a:spcAft>
                <a:spcPts val="0"/>
              </a:spcAft>
              <a:buClr>
                <a:srgbClr val="FFFFFF"/>
              </a:buClr>
              <a:buSzPts val="3600"/>
              <a:buNone/>
              <a:defRPr sz="3600">
                <a:solidFill>
                  <a:srgbClr val="FFFFFF"/>
                </a:solidFill>
              </a:defRPr>
            </a:lvl5pPr>
            <a:lvl6pPr lvl="5" algn="ctr" rtl="0">
              <a:spcBef>
                <a:spcPts val="0"/>
              </a:spcBef>
              <a:spcAft>
                <a:spcPts val="0"/>
              </a:spcAft>
              <a:buClr>
                <a:srgbClr val="FFFFFF"/>
              </a:buClr>
              <a:buSzPts val="3600"/>
              <a:buNone/>
              <a:defRPr sz="3600">
                <a:solidFill>
                  <a:srgbClr val="FFFFFF"/>
                </a:solidFill>
              </a:defRPr>
            </a:lvl6pPr>
            <a:lvl7pPr lvl="6" algn="ctr" rtl="0">
              <a:spcBef>
                <a:spcPts val="0"/>
              </a:spcBef>
              <a:spcAft>
                <a:spcPts val="0"/>
              </a:spcAft>
              <a:buClr>
                <a:srgbClr val="FFFFFF"/>
              </a:buClr>
              <a:buSzPts val="3600"/>
              <a:buNone/>
              <a:defRPr sz="3600">
                <a:solidFill>
                  <a:srgbClr val="FFFFFF"/>
                </a:solidFill>
              </a:defRPr>
            </a:lvl7pPr>
            <a:lvl8pPr lvl="7" algn="ctr" rtl="0">
              <a:spcBef>
                <a:spcPts val="0"/>
              </a:spcBef>
              <a:spcAft>
                <a:spcPts val="0"/>
              </a:spcAft>
              <a:buClr>
                <a:srgbClr val="FFFFFF"/>
              </a:buClr>
              <a:buSzPts val="3600"/>
              <a:buNone/>
              <a:defRPr sz="3600">
                <a:solidFill>
                  <a:srgbClr val="FFFFFF"/>
                </a:solidFill>
              </a:defRPr>
            </a:lvl8pPr>
            <a:lvl9pPr lvl="8" algn="ctr" rtl="0">
              <a:spcBef>
                <a:spcPts val="0"/>
              </a:spcBef>
              <a:spcAft>
                <a:spcPts val="0"/>
              </a:spcAft>
              <a:buClr>
                <a:srgbClr val="FFFFFF"/>
              </a:buClr>
              <a:buSzPts val="3600"/>
              <a:buNone/>
              <a:defRPr sz="3600">
                <a:solidFill>
                  <a:srgbClr val="FFFFFF"/>
                </a:solidFill>
              </a:defRPr>
            </a:lvl9pPr>
          </a:lstStyle>
          <a:p>
            <a:endParaRPr/>
          </a:p>
        </p:txBody>
      </p:sp>
      <p:sp>
        <p:nvSpPr>
          <p:cNvPr id="19" name="Google Shape;19;p3"/>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1pPr>
            <a:lvl2pPr lvl="1"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2pPr>
            <a:lvl3pPr lvl="2"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3pPr>
            <a:lvl4pPr lvl="3"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4pPr>
            <a:lvl5pPr lvl="4"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5pPr>
            <a:lvl6pPr lvl="5"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6pPr>
            <a:lvl7pPr lvl="6"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7pPr>
            <a:lvl8pPr lvl="7"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8pPr>
            <a:lvl9pPr lvl="8" algn="ctr" rtl="0">
              <a:lnSpc>
                <a:spcPct val="100000"/>
              </a:lnSpc>
              <a:spcBef>
                <a:spcPts val="0"/>
              </a:spcBef>
              <a:spcAft>
                <a:spcPts val="0"/>
              </a:spcAft>
              <a:buClr>
                <a:srgbClr val="FFFFFF"/>
              </a:buClr>
              <a:buSzPts val="3000"/>
              <a:buFont typeface="Roboto Thin"/>
              <a:buNone/>
              <a:defRPr sz="3000">
                <a:solidFill>
                  <a:srgbClr val="FFFFFF"/>
                </a:solidFill>
                <a:latin typeface="Roboto Thin"/>
                <a:ea typeface="Roboto Thin"/>
                <a:cs typeface="Roboto Thin"/>
                <a:sym typeface="Roboto Thin"/>
              </a:defRPr>
            </a:lvl9pPr>
          </a:lstStyle>
          <a:p>
            <a:endParaRPr/>
          </a:p>
        </p:txBody>
      </p:sp>
      <p:sp>
        <p:nvSpPr>
          <p:cNvPr id="2" name="Rectangle 1">
            <a:extLst>
              <a:ext uri="{FF2B5EF4-FFF2-40B4-BE49-F238E27FC236}">
                <a16:creationId xmlns:a16="http://schemas.microsoft.com/office/drawing/2014/main" id="{ED2E902F-3793-054A-A49F-5F75EC799503}"/>
              </a:ext>
            </a:extLst>
          </p:cNvPr>
          <p:cNvSpPr/>
          <p:nvPr userDrawn="1"/>
        </p:nvSpPr>
        <p:spPr>
          <a:xfrm>
            <a:off x="0" y="4393870"/>
            <a:ext cx="9144000" cy="74963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oogle Shape;20;p3"/>
          <p:cNvPicPr preferRelativeResize="0"/>
          <p:nvPr/>
        </p:nvPicPr>
        <p:blipFill>
          <a:blip r:embed="rId2">
            <a:alphaModFix/>
          </a:blip>
          <a:stretch>
            <a:fillRect/>
          </a:stretch>
        </p:blipFill>
        <p:spPr>
          <a:xfrm>
            <a:off x="7214616" y="4434840"/>
            <a:ext cx="1691640" cy="582676"/>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Sub-Header">
  <p:cSld name="CUSTOM_1_2_1">
    <p:bg>
      <p:bgPr>
        <a:solidFill>
          <a:srgbClr val="666666"/>
        </a:solidFill>
        <a:effectLst/>
      </p:bgPr>
    </p:bg>
    <p:spTree>
      <p:nvGrpSpPr>
        <p:cNvPr id="1" name="Shape 21"/>
        <p:cNvGrpSpPr/>
        <p:nvPr/>
      </p:nvGrpSpPr>
      <p:grpSpPr>
        <a:xfrm>
          <a:off x="0" y="0"/>
          <a:ext cx="0" cy="0"/>
          <a:chOff x="0" y="0"/>
          <a:chExt cx="0" cy="0"/>
        </a:xfrm>
      </p:grpSpPr>
      <p:sp>
        <p:nvSpPr>
          <p:cNvPr id="22" name="Google Shape;22;p4"/>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6000"/>
              <a:buFont typeface="Roboto Thin"/>
              <a:buNone/>
              <a:defRPr sz="6000" b="0">
                <a:latin typeface="Roboto Thin"/>
                <a:ea typeface="Roboto Thin"/>
                <a:cs typeface="Roboto Thin"/>
                <a:sym typeface="Roboto Thin"/>
              </a:defRPr>
            </a:lvl1pPr>
            <a:lvl2pPr lvl="1" algn="ctr" rtl="0">
              <a:spcBef>
                <a:spcPts val="0"/>
              </a:spcBef>
              <a:spcAft>
                <a:spcPts val="0"/>
              </a:spcAft>
              <a:buClr>
                <a:srgbClr val="434343"/>
              </a:buClr>
              <a:buSzPts val="3600"/>
              <a:buNone/>
              <a:defRPr sz="3600">
                <a:solidFill>
                  <a:srgbClr val="434343"/>
                </a:solidFill>
              </a:defRPr>
            </a:lvl2pPr>
            <a:lvl3pPr lvl="2" algn="ctr" rtl="0">
              <a:spcBef>
                <a:spcPts val="0"/>
              </a:spcBef>
              <a:spcAft>
                <a:spcPts val="0"/>
              </a:spcAft>
              <a:buClr>
                <a:srgbClr val="434343"/>
              </a:buClr>
              <a:buSzPts val="3600"/>
              <a:buNone/>
              <a:defRPr sz="3600">
                <a:solidFill>
                  <a:srgbClr val="434343"/>
                </a:solidFill>
              </a:defRPr>
            </a:lvl3pPr>
            <a:lvl4pPr lvl="3" algn="ctr" rtl="0">
              <a:spcBef>
                <a:spcPts val="0"/>
              </a:spcBef>
              <a:spcAft>
                <a:spcPts val="0"/>
              </a:spcAft>
              <a:buClr>
                <a:srgbClr val="434343"/>
              </a:buClr>
              <a:buSzPts val="3600"/>
              <a:buNone/>
              <a:defRPr sz="3600">
                <a:solidFill>
                  <a:srgbClr val="434343"/>
                </a:solidFill>
              </a:defRPr>
            </a:lvl4pPr>
            <a:lvl5pPr lvl="4" algn="ctr" rtl="0">
              <a:spcBef>
                <a:spcPts val="0"/>
              </a:spcBef>
              <a:spcAft>
                <a:spcPts val="0"/>
              </a:spcAft>
              <a:buClr>
                <a:srgbClr val="434343"/>
              </a:buClr>
              <a:buSzPts val="3600"/>
              <a:buNone/>
              <a:defRPr sz="3600">
                <a:solidFill>
                  <a:srgbClr val="434343"/>
                </a:solidFill>
              </a:defRPr>
            </a:lvl5pPr>
            <a:lvl6pPr lvl="5" algn="ctr" rtl="0">
              <a:spcBef>
                <a:spcPts val="0"/>
              </a:spcBef>
              <a:spcAft>
                <a:spcPts val="0"/>
              </a:spcAft>
              <a:buClr>
                <a:srgbClr val="434343"/>
              </a:buClr>
              <a:buSzPts val="3600"/>
              <a:buNone/>
              <a:defRPr sz="3600">
                <a:solidFill>
                  <a:srgbClr val="434343"/>
                </a:solidFill>
              </a:defRPr>
            </a:lvl6pPr>
            <a:lvl7pPr lvl="6" algn="ctr" rtl="0">
              <a:spcBef>
                <a:spcPts val="0"/>
              </a:spcBef>
              <a:spcAft>
                <a:spcPts val="0"/>
              </a:spcAft>
              <a:buClr>
                <a:srgbClr val="434343"/>
              </a:buClr>
              <a:buSzPts val="3600"/>
              <a:buNone/>
              <a:defRPr sz="3600">
                <a:solidFill>
                  <a:srgbClr val="434343"/>
                </a:solidFill>
              </a:defRPr>
            </a:lvl7pPr>
            <a:lvl8pPr lvl="7" algn="ctr" rtl="0">
              <a:spcBef>
                <a:spcPts val="0"/>
              </a:spcBef>
              <a:spcAft>
                <a:spcPts val="0"/>
              </a:spcAft>
              <a:buClr>
                <a:srgbClr val="434343"/>
              </a:buClr>
              <a:buSzPts val="3600"/>
              <a:buNone/>
              <a:defRPr sz="3600">
                <a:solidFill>
                  <a:srgbClr val="434343"/>
                </a:solidFill>
              </a:defRPr>
            </a:lvl8pPr>
            <a:lvl9pPr lvl="8" algn="ctr" rtl="0">
              <a:spcBef>
                <a:spcPts val="0"/>
              </a:spcBef>
              <a:spcAft>
                <a:spcPts val="0"/>
              </a:spcAft>
              <a:buClr>
                <a:srgbClr val="434343"/>
              </a:buClr>
              <a:buSzPts val="3600"/>
              <a:buNone/>
              <a:defRPr sz="3600">
                <a:solidFill>
                  <a:srgbClr val="434343"/>
                </a:solidFill>
              </a:defRPr>
            </a:lvl9pPr>
          </a:lstStyle>
          <a:p>
            <a:endParaRPr/>
          </a:p>
        </p:txBody>
      </p:sp>
      <p:sp>
        <p:nvSpPr>
          <p:cNvPr id="23" name="Google Shape;23;p4"/>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1pPr>
            <a:lvl2pPr lvl="1"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ct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4" name="Google Shape;24;p4"/>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lvl1pPr lvl="0" algn="r" rtl="0">
              <a:lnSpc>
                <a:spcPct val="100000"/>
              </a:lnSpc>
              <a:spcBef>
                <a:spcPts val="0"/>
              </a:spcBef>
              <a:spcAft>
                <a:spcPts val="0"/>
              </a:spcAft>
              <a:buSzPts val="1000"/>
              <a:buFont typeface="Roboto Light"/>
              <a:buNone/>
              <a:defRPr>
                <a:latin typeface="Roboto Light"/>
                <a:ea typeface="Roboto Light"/>
                <a:cs typeface="Roboto Light"/>
                <a:sym typeface="Roboto Light"/>
              </a:defRPr>
            </a:lvl1pPr>
            <a:lvl2pPr lvl="1"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2pPr>
            <a:lvl3pPr lvl="2"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3pPr>
            <a:lvl4pPr lvl="3"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4pPr>
            <a:lvl5pPr lvl="4"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5pPr>
            <a:lvl6pPr lvl="5"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6pPr>
            <a:lvl7pPr lvl="6"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7pPr>
            <a:lvl8pPr lvl="7"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8pPr>
            <a:lvl9pPr lvl="8" algn="r" rtl="0">
              <a:lnSpc>
                <a:spcPct val="100000"/>
              </a:lnSpc>
              <a:spcBef>
                <a:spcPts val="0"/>
              </a:spcBef>
              <a:spcAft>
                <a:spcPts val="0"/>
              </a:spcAft>
              <a:buSzPts val="3000"/>
              <a:buFont typeface="Roboto Thin"/>
              <a:buNone/>
              <a:defRPr sz="3000">
                <a:latin typeface="Roboto Thin"/>
                <a:ea typeface="Roboto Thin"/>
                <a:cs typeface="Roboto Thin"/>
                <a:sym typeface="Roboto Thin"/>
              </a:defRPr>
            </a:lvl9pPr>
          </a:lstStyle>
          <a:p>
            <a:endParaRPr/>
          </a:p>
        </p:txBody>
      </p:sp>
      <p:sp>
        <p:nvSpPr>
          <p:cNvPr id="25" name="Google Shape;25;p4"/>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endParaRPr sz="40000">
              <a:solidFill>
                <a:srgbClr val="B7B7B7"/>
              </a:solidFill>
              <a:latin typeface="Roboto"/>
              <a:ea typeface="Roboto"/>
              <a:cs typeface="Roboto"/>
              <a:sym typeface="Roboto"/>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efault">
  <p:cSld name="CUSTOM_2_4">
    <p:spTree>
      <p:nvGrpSpPr>
        <p:cNvPr id="1" name="Shape 26"/>
        <p:cNvGrpSpPr/>
        <p:nvPr/>
      </p:nvGrpSpPr>
      <p:grpSpPr>
        <a:xfrm>
          <a:off x="0" y="0"/>
          <a:ext cx="0" cy="0"/>
          <a:chOff x="0" y="0"/>
          <a:chExt cx="0" cy="0"/>
        </a:xfrm>
      </p:grpSpPr>
      <p:sp>
        <p:nvSpPr>
          <p:cNvPr id="27" name="Google Shape;27;p5"/>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29" name="Google Shape;29;p5"/>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0" name="Google Shape;30;p5"/>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31" name="Google Shape;31;p5"/>
          <p:cNvSpPr txBox="1">
            <a:spLocks noGrp="1"/>
          </p:cNvSpPr>
          <p:nvPr>
            <p:ph type="body" idx="3"/>
          </p:nvPr>
        </p:nvSpPr>
        <p:spPr>
          <a:xfrm>
            <a:off x="182880" y="1069848"/>
            <a:ext cx="5486400" cy="38952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sz="1000"/>
            </a:lvl1pPr>
            <a:lvl2pPr marL="914400" lvl="1" indent="-292100" rtl="0">
              <a:spcBef>
                <a:spcPts val="800"/>
              </a:spcBef>
              <a:spcAft>
                <a:spcPts val="0"/>
              </a:spcAft>
              <a:buSzPts val="1000"/>
              <a:buChar char="○"/>
              <a:defRPr sz="1000"/>
            </a:lvl2pPr>
            <a:lvl3pPr marL="1371600" lvl="2" indent="-292100" rtl="0">
              <a:spcBef>
                <a:spcPts val="800"/>
              </a:spcBef>
              <a:spcAft>
                <a:spcPts val="0"/>
              </a:spcAft>
              <a:buSzPts val="1000"/>
              <a:buChar char="■"/>
              <a:defRPr sz="1000"/>
            </a:lvl3pPr>
            <a:lvl4pPr marL="1828800" lvl="3" indent="-292100" rtl="0">
              <a:spcBef>
                <a:spcPts val="800"/>
              </a:spcBef>
              <a:spcAft>
                <a:spcPts val="0"/>
              </a:spcAft>
              <a:buSzPts val="1000"/>
              <a:buChar char="●"/>
              <a:defRPr sz="1000"/>
            </a:lvl4pPr>
            <a:lvl5pPr marL="2286000" lvl="4" indent="-292100" rtl="0">
              <a:spcBef>
                <a:spcPts val="800"/>
              </a:spcBef>
              <a:spcAft>
                <a:spcPts val="0"/>
              </a:spcAft>
              <a:buSzPts val="1000"/>
              <a:buChar char="○"/>
              <a:defRPr sz="1000"/>
            </a:lvl5pPr>
            <a:lvl6pPr marL="2743200" lvl="5" indent="-292100" rtl="0">
              <a:spcBef>
                <a:spcPts val="800"/>
              </a:spcBef>
              <a:spcAft>
                <a:spcPts val="0"/>
              </a:spcAft>
              <a:buSzPts val="1000"/>
              <a:buChar char="■"/>
              <a:defRPr sz="1000"/>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sz="1000"/>
            </a:lvl8pPr>
            <a:lvl9pPr marL="4114800" lvl="8" indent="-292100" rtl="0">
              <a:spcBef>
                <a:spcPts val="800"/>
              </a:spcBef>
              <a:spcAft>
                <a:spcPts val="800"/>
              </a:spcAft>
              <a:buSzPts val="1000"/>
              <a:buChar char="■"/>
              <a:defRPr sz="1000"/>
            </a:lvl9pPr>
          </a:lstStyle>
          <a:p>
            <a:endParaRPr/>
          </a:p>
        </p:txBody>
      </p:sp>
      <p:sp>
        <p:nvSpPr>
          <p:cNvPr id="32" name="Google Shape;32;p5"/>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ILO's" userDrawn="1">
  <p:cSld name="CUSTOM_2_3_1">
    <p:spTree>
      <p:nvGrpSpPr>
        <p:cNvPr id="1" name="Shape 33"/>
        <p:cNvGrpSpPr/>
        <p:nvPr/>
      </p:nvGrpSpPr>
      <p:grpSpPr>
        <a:xfrm>
          <a:off x="0" y="0"/>
          <a:ext cx="0" cy="0"/>
          <a:chOff x="0" y="0"/>
          <a:chExt cx="0" cy="0"/>
        </a:xfrm>
      </p:grpSpPr>
      <p:sp>
        <p:nvSpPr>
          <p:cNvPr id="34" name="Google Shape;34;p6"/>
          <p:cNvSpPr/>
          <p:nvPr/>
        </p:nvSpPr>
        <p:spPr>
          <a:xfrm>
            <a:off x="0" y="571460"/>
            <a:ext cx="9144000" cy="4938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Google Shape;35;p6"/>
          <p:cNvSpPr/>
          <p:nvPr/>
        </p:nvSpPr>
        <p:spPr>
          <a:xfrm>
            <a:off x="0" y="0"/>
            <a:ext cx="9144000" cy="5727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6"/>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7" name="Google Shape;37;p6"/>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39" name="Google Shape;39;p6"/>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40" name="Google Shape;40;p6"/>
          <p:cNvSpPr txBox="1">
            <a:spLocks noGrp="1"/>
          </p:cNvSpPr>
          <p:nvPr>
            <p:ph type="title" idx="4"/>
          </p:nvPr>
        </p:nvSpPr>
        <p:spPr>
          <a:xfrm>
            <a:off x="68250" y="576000"/>
            <a:ext cx="8397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36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1" name="Google Shape;41;p6"/>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900" i="1">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a:endParaRPr/>
          </a:p>
        </p:txBody>
      </p:sp>
      <p:sp>
        <p:nvSpPr>
          <p:cNvPr id="42" name="Google Shape;42;p6"/>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lvl1pPr lvl="0" rtl="0">
              <a:spcBef>
                <a:spcPts val="0"/>
              </a:spcBef>
              <a:spcAft>
                <a:spcPts val="0"/>
              </a:spcAft>
              <a:buNone/>
              <a:defRPr sz="1200"/>
            </a:lvl1pPr>
            <a:lvl2pPr lvl="1" rtl="0">
              <a:spcBef>
                <a:spcPts val="0"/>
              </a:spcBef>
              <a:spcAft>
                <a:spcPts val="0"/>
              </a:spcAft>
              <a:buNone/>
              <a:defRPr sz="900"/>
            </a:lvl2pPr>
            <a:lvl3pPr lvl="2" rtl="0">
              <a:spcBef>
                <a:spcPts val="0"/>
              </a:spcBef>
              <a:spcAft>
                <a:spcPts val="0"/>
              </a:spcAft>
              <a:buNone/>
              <a:defRPr sz="900"/>
            </a:lvl3pPr>
            <a:lvl4pPr lvl="3" rtl="0">
              <a:spcBef>
                <a:spcPts val="0"/>
              </a:spcBef>
              <a:spcAft>
                <a:spcPts val="0"/>
              </a:spcAft>
              <a:buNone/>
              <a:defRPr sz="900"/>
            </a:lvl4pPr>
            <a:lvl5pPr lvl="4" rtl="0">
              <a:spcBef>
                <a:spcPts val="0"/>
              </a:spcBef>
              <a:spcAft>
                <a:spcPts val="0"/>
              </a:spcAft>
              <a:buNone/>
              <a:defRPr sz="900"/>
            </a:lvl5pPr>
            <a:lvl6pPr lvl="5" rtl="0">
              <a:spcBef>
                <a:spcPts val="0"/>
              </a:spcBef>
              <a:spcAft>
                <a:spcPts val="0"/>
              </a:spcAft>
              <a:buNone/>
              <a:defRPr sz="900"/>
            </a:lvl6pPr>
            <a:lvl7pPr lvl="6" rtl="0">
              <a:spcBef>
                <a:spcPts val="0"/>
              </a:spcBef>
              <a:spcAft>
                <a:spcPts val="0"/>
              </a:spcAft>
              <a:buNone/>
              <a:defRPr sz="900"/>
            </a:lvl7pPr>
            <a:lvl8pPr lvl="7" rtl="0">
              <a:spcBef>
                <a:spcPts val="0"/>
              </a:spcBef>
              <a:spcAft>
                <a:spcPts val="0"/>
              </a:spcAft>
              <a:buNone/>
              <a:defRPr sz="900"/>
            </a:lvl8pPr>
            <a:lvl9pPr lvl="8" rtl="0">
              <a:spcBef>
                <a:spcPts val="0"/>
              </a:spcBef>
              <a:spcAft>
                <a:spcPts val="0"/>
              </a:spcAft>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3"/>
        <p:cNvGrpSpPr/>
        <p:nvPr/>
      </p:nvGrpSpPr>
      <p:grpSpPr>
        <a:xfrm>
          <a:off x="0" y="0"/>
          <a:ext cx="0" cy="0"/>
          <a:chOff x="0" y="0"/>
          <a:chExt cx="0" cy="0"/>
        </a:xfrm>
      </p:grpSpPr>
      <p:sp>
        <p:nvSpPr>
          <p:cNvPr id="84" name="Google Shape;84;p11"/>
          <p:cNvSpPr/>
          <p:nvPr/>
        </p:nvSpPr>
        <p:spPr>
          <a:xfrm>
            <a:off x="3108960" y="-1200"/>
            <a:ext cx="6035100" cy="5143500"/>
          </a:xfrm>
          <a:prstGeom prst="rect">
            <a:avLst/>
          </a:prstGeom>
          <a:solidFill>
            <a:srgbClr val="999999"/>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b="1"/>
          </a:p>
        </p:txBody>
      </p:sp>
      <p:sp>
        <p:nvSpPr>
          <p:cNvPr id="85" name="Google Shape;85;p11"/>
          <p:cNvSpPr txBox="1">
            <a:spLocks noGrp="1"/>
          </p:cNvSpPr>
          <p:nvPr>
            <p:ph type="title"/>
          </p:nvPr>
        </p:nvSpPr>
        <p:spPr>
          <a:xfrm>
            <a:off x="265500" y="308799"/>
            <a:ext cx="4045200" cy="15519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000"/>
              <a:buNone/>
              <a:defRPr sz="3000"/>
            </a:lvl1pPr>
            <a:lvl2pPr lvl="1" algn="ctr" rtl="0">
              <a:spcBef>
                <a:spcPts val="0"/>
              </a:spcBef>
              <a:spcAft>
                <a:spcPts val="0"/>
              </a:spcAft>
              <a:buSzPts val="3800"/>
              <a:buNone/>
              <a:defRPr sz="3800"/>
            </a:lvl2pPr>
            <a:lvl3pPr lvl="2" algn="ctr" rtl="0">
              <a:spcBef>
                <a:spcPts val="0"/>
              </a:spcBef>
              <a:spcAft>
                <a:spcPts val="0"/>
              </a:spcAft>
              <a:buSzPts val="3800"/>
              <a:buNone/>
              <a:defRPr sz="3800"/>
            </a:lvl3pPr>
            <a:lvl4pPr lvl="3" algn="ctr" rtl="0">
              <a:spcBef>
                <a:spcPts val="0"/>
              </a:spcBef>
              <a:spcAft>
                <a:spcPts val="0"/>
              </a:spcAft>
              <a:buSzPts val="3800"/>
              <a:buNone/>
              <a:defRPr sz="3800"/>
            </a:lvl4pPr>
            <a:lvl5pPr lvl="4" algn="ctr" rtl="0">
              <a:spcBef>
                <a:spcPts val="0"/>
              </a:spcBef>
              <a:spcAft>
                <a:spcPts val="0"/>
              </a:spcAft>
              <a:buSzPts val="3800"/>
              <a:buNone/>
              <a:defRPr sz="3800"/>
            </a:lvl5pPr>
            <a:lvl6pPr lvl="5" algn="ctr" rtl="0">
              <a:spcBef>
                <a:spcPts val="0"/>
              </a:spcBef>
              <a:spcAft>
                <a:spcPts val="0"/>
              </a:spcAft>
              <a:buSzPts val="3800"/>
              <a:buNone/>
              <a:defRPr sz="3800"/>
            </a:lvl6pPr>
            <a:lvl7pPr lvl="6" algn="ctr" rtl="0">
              <a:spcBef>
                <a:spcPts val="0"/>
              </a:spcBef>
              <a:spcAft>
                <a:spcPts val="0"/>
              </a:spcAft>
              <a:buSzPts val="3800"/>
              <a:buNone/>
              <a:defRPr sz="3800"/>
            </a:lvl7pPr>
            <a:lvl8pPr lvl="7" algn="ctr" rtl="0">
              <a:spcBef>
                <a:spcPts val="0"/>
              </a:spcBef>
              <a:spcAft>
                <a:spcPts val="0"/>
              </a:spcAft>
              <a:buSzPts val="3800"/>
              <a:buNone/>
              <a:defRPr sz="3800"/>
            </a:lvl8pPr>
            <a:lvl9pPr lvl="8" algn="ctr" rtl="0">
              <a:spcBef>
                <a:spcPts val="0"/>
              </a:spcBef>
              <a:spcAft>
                <a:spcPts val="0"/>
              </a:spcAft>
              <a:buSzPts val="3800"/>
              <a:buNone/>
              <a:defRPr sz="3800"/>
            </a:lvl9pPr>
          </a:lstStyle>
          <a:p>
            <a:endParaRPr/>
          </a:p>
        </p:txBody>
      </p:sp>
      <p:sp>
        <p:nvSpPr>
          <p:cNvPr id="86" name="Google Shape;86;p11"/>
          <p:cNvSpPr txBox="1">
            <a:spLocks noGrp="1"/>
          </p:cNvSpPr>
          <p:nvPr>
            <p:ph type="subTitle" idx="1"/>
          </p:nvPr>
        </p:nvSpPr>
        <p:spPr>
          <a:xfrm>
            <a:off x="265500" y="1860700"/>
            <a:ext cx="4045200" cy="3012900"/>
          </a:xfrm>
          <a:prstGeom prst="rect">
            <a:avLst/>
          </a:prstGeom>
        </p:spPr>
        <p:txBody>
          <a:bodyPr spcFirstLastPara="1" wrap="square" lIns="91425" tIns="91425" rIns="91425" bIns="91425" anchor="ctr" anchorCtr="0">
            <a:noAutofit/>
          </a:bodyPr>
          <a:lstStyle>
            <a:lvl1pPr lvl="0" algn="ctr" rtl="0">
              <a:lnSpc>
                <a:spcPct val="100000"/>
              </a:lnSpc>
              <a:spcBef>
                <a:spcPts val="0"/>
              </a:spcBef>
              <a:spcAft>
                <a:spcPts val="0"/>
              </a:spcAft>
              <a:buSzPts val="1000"/>
              <a:buNone/>
              <a:defRPr/>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
        <p:nvSpPr>
          <p:cNvPr id="87" name="Google Shape;87;p11"/>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292100" rtl="0">
              <a:spcBef>
                <a:spcPts val="0"/>
              </a:spcBef>
              <a:spcAft>
                <a:spcPts val="0"/>
              </a:spcAft>
              <a:buClr>
                <a:schemeClr val="lt1"/>
              </a:buClr>
              <a:buSzPts val="1000"/>
              <a:buChar char="●"/>
              <a:defRPr>
                <a:solidFill>
                  <a:schemeClr val="lt1"/>
                </a:solidFill>
              </a:defRPr>
            </a:lvl1pPr>
            <a:lvl2pPr marL="914400" lvl="1" indent="-292100" rtl="0">
              <a:spcBef>
                <a:spcPts val="800"/>
              </a:spcBef>
              <a:spcAft>
                <a:spcPts val="0"/>
              </a:spcAft>
              <a:buClr>
                <a:schemeClr val="lt1"/>
              </a:buClr>
              <a:buSzPts val="1000"/>
              <a:buChar char="○"/>
              <a:defRPr>
                <a:solidFill>
                  <a:schemeClr val="lt1"/>
                </a:solidFill>
              </a:defRPr>
            </a:lvl2pPr>
            <a:lvl3pPr marL="1371600" lvl="2" indent="-292100" rtl="0">
              <a:spcBef>
                <a:spcPts val="800"/>
              </a:spcBef>
              <a:spcAft>
                <a:spcPts val="0"/>
              </a:spcAft>
              <a:buClr>
                <a:schemeClr val="lt1"/>
              </a:buClr>
              <a:buSzPts val="1000"/>
              <a:buChar char="■"/>
              <a:defRPr>
                <a:solidFill>
                  <a:schemeClr val="lt1"/>
                </a:solidFill>
              </a:defRPr>
            </a:lvl3pPr>
            <a:lvl4pPr marL="1828800" lvl="3" indent="-292100" rtl="0">
              <a:spcBef>
                <a:spcPts val="800"/>
              </a:spcBef>
              <a:spcAft>
                <a:spcPts val="0"/>
              </a:spcAft>
              <a:buClr>
                <a:schemeClr val="lt1"/>
              </a:buClr>
              <a:buSzPts val="1000"/>
              <a:buChar char="●"/>
              <a:defRPr>
                <a:solidFill>
                  <a:schemeClr val="lt1"/>
                </a:solidFill>
              </a:defRPr>
            </a:lvl4pPr>
            <a:lvl5pPr marL="2286000" lvl="4" indent="-292100" rtl="0">
              <a:spcBef>
                <a:spcPts val="800"/>
              </a:spcBef>
              <a:spcAft>
                <a:spcPts val="0"/>
              </a:spcAft>
              <a:buClr>
                <a:schemeClr val="lt1"/>
              </a:buClr>
              <a:buSzPts val="1000"/>
              <a:buChar char="○"/>
              <a:defRPr>
                <a:solidFill>
                  <a:schemeClr val="lt1"/>
                </a:solidFill>
              </a:defRPr>
            </a:lvl5pPr>
            <a:lvl6pPr marL="2743200" lvl="5" indent="-292100" rtl="0">
              <a:spcBef>
                <a:spcPts val="800"/>
              </a:spcBef>
              <a:spcAft>
                <a:spcPts val="0"/>
              </a:spcAft>
              <a:buClr>
                <a:schemeClr val="lt1"/>
              </a:buClr>
              <a:buSzPts val="1000"/>
              <a:buChar char="■"/>
              <a:defRPr>
                <a:solidFill>
                  <a:schemeClr val="lt1"/>
                </a:solidFill>
              </a:defRPr>
            </a:lvl6pPr>
            <a:lvl7pPr marL="3200400" lvl="6" indent="-292100" rtl="0">
              <a:spcBef>
                <a:spcPts val="800"/>
              </a:spcBef>
              <a:spcAft>
                <a:spcPts val="0"/>
              </a:spcAft>
              <a:buClr>
                <a:schemeClr val="lt1"/>
              </a:buClr>
              <a:buSzPts val="1000"/>
              <a:buChar char="●"/>
              <a:defRPr>
                <a:solidFill>
                  <a:schemeClr val="lt1"/>
                </a:solidFill>
              </a:defRPr>
            </a:lvl7pPr>
            <a:lvl8pPr marL="3657600" lvl="7" indent="-292100" rtl="0">
              <a:spcBef>
                <a:spcPts val="800"/>
              </a:spcBef>
              <a:spcAft>
                <a:spcPts val="0"/>
              </a:spcAft>
              <a:buClr>
                <a:schemeClr val="lt1"/>
              </a:buClr>
              <a:buSzPts val="1000"/>
              <a:buChar char="○"/>
              <a:defRPr>
                <a:solidFill>
                  <a:schemeClr val="lt1"/>
                </a:solidFill>
              </a:defRPr>
            </a:lvl8pPr>
            <a:lvl9pPr marL="4114800" lvl="8" indent="-292100" rtl="0">
              <a:spcBef>
                <a:spcPts val="800"/>
              </a:spcBef>
              <a:spcAft>
                <a:spcPts val="800"/>
              </a:spcAft>
              <a:buClr>
                <a:schemeClr val="lt1"/>
              </a:buClr>
              <a:buSzPts val="1000"/>
              <a:buChar char="■"/>
              <a:defRPr>
                <a:solidFill>
                  <a:schemeClr val="lt1"/>
                </a:solidFill>
              </a:defRPr>
            </a:lvl9pPr>
          </a:lstStyle>
          <a:p>
            <a:endParaRPr/>
          </a:p>
        </p:txBody>
      </p:sp>
      <p:sp>
        <p:nvSpPr>
          <p:cNvPr id="88" name="Google Shape;88;p11"/>
          <p:cNvSpPr txBox="1">
            <a:spLocks noGrp="1"/>
          </p:cNvSpPr>
          <p:nvPr>
            <p:ph type="sldNum" idx="12"/>
          </p:nvPr>
        </p:nvSpPr>
        <p:spPr>
          <a:xfrm>
            <a:off x="90450" y="4873575"/>
            <a:ext cx="548700" cy="269700"/>
          </a:xfrm>
          <a:prstGeom prst="rect">
            <a:avLst/>
          </a:prstGeom>
        </p:spPr>
        <p:txBody>
          <a:bodyPr spcFirstLastPara="1" wrap="square" lIns="91425" tIns="91425" rIns="91425" bIns="91425" anchor="ctr" anchorCtr="0">
            <a:noAutofit/>
          </a:bodyPr>
          <a:lstStyle>
            <a:lvl1pPr lvl="0" rtl="0">
              <a:buNone/>
              <a:defRPr>
                <a:solidFill>
                  <a:schemeClr val="lt1"/>
                </a:solidFill>
              </a:defRPr>
            </a:lvl1pPr>
            <a:lvl2pPr lvl="1" rtl="0">
              <a:buNone/>
              <a:defRPr>
                <a:solidFill>
                  <a:schemeClr val="lt1"/>
                </a:solidFill>
              </a:defRPr>
            </a:lvl2pPr>
            <a:lvl3pPr lvl="2" rtl="0">
              <a:buNone/>
              <a:defRPr>
                <a:solidFill>
                  <a:schemeClr val="lt1"/>
                </a:solidFill>
              </a:defRPr>
            </a:lvl3pPr>
            <a:lvl4pPr lvl="3" rtl="0">
              <a:buNone/>
              <a:defRPr>
                <a:solidFill>
                  <a:schemeClr val="lt1"/>
                </a:solidFill>
              </a:defRPr>
            </a:lvl4pPr>
            <a:lvl5pPr lvl="4" rtl="0">
              <a:buNone/>
              <a:defRPr>
                <a:solidFill>
                  <a:schemeClr val="lt1"/>
                </a:solidFill>
              </a:defRPr>
            </a:lvl5pPr>
            <a:lvl6pPr lvl="5" rtl="0">
              <a:buNone/>
              <a:defRPr>
                <a:solidFill>
                  <a:schemeClr val="lt1"/>
                </a:solidFill>
              </a:defRPr>
            </a:lvl6pPr>
            <a:lvl7pPr lvl="6" rtl="0">
              <a:buNone/>
              <a:defRPr>
                <a:solidFill>
                  <a:schemeClr val="lt1"/>
                </a:solidFill>
              </a:defRPr>
            </a:lvl7pPr>
            <a:lvl8pPr lvl="7" rtl="0">
              <a:buNone/>
              <a:defRPr>
                <a:solidFill>
                  <a:schemeClr val="lt1"/>
                </a:solidFill>
              </a:defRPr>
            </a:lvl8pPr>
            <a:lvl9pPr lvl="8" rtl="0">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eeks">
  <p:cSld name="Weeks">
    <p:spTree>
      <p:nvGrpSpPr>
        <p:cNvPr id="1" name="Shape 45"/>
        <p:cNvGrpSpPr/>
        <p:nvPr/>
      </p:nvGrpSpPr>
      <p:grpSpPr>
        <a:xfrm>
          <a:off x="0" y="0"/>
          <a:ext cx="0" cy="0"/>
          <a:chOff x="0" y="0"/>
          <a:chExt cx="0" cy="0"/>
        </a:xfrm>
      </p:grpSpPr>
      <p:sp>
        <p:nvSpPr>
          <p:cNvPr id="46" name="Google Shape;46;p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47" name="Google Shape;47;p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8" name="Google Shape;48;p7"/>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49" name="Google Shape;49;p7"/>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0" name="Google Shape;50;p7"/>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2" name="Google Shape;52;p7"/>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53" name="Google Shape;53;p7"/>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1811834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Feedback Slides">
  <p:cSld name="Feedback Slides">
    <p:bg>
      <p:bgPr>
        <a:solidFill>
          <a:srgbClr val="134F5C"/>
        </a:solidFill>
        <a:effectLst/>
      </p:bgPr>
    </p:bg>
    <p:spTree>
      <p:nvGrpSpPr>
        <p:cNvPr id="1" name="Shape 65"/>
        <p:cNvGrpSpPr/>
        <p:nvPr/>
      </p:nvGrpSpPr>
      <p:grpSpPr>
        <a:xfrm>
          <a:off x="0" y="0"/>
          <a:ext cx="0" cy="0"/>
          <a:chOff x="0" y="0"/>
          <a:chExt cx="0" cy="0"/>
        </a:xfrm>
      </p:grpSpPr>
      <p:sp>
        <p:nvSpPr>
          <p:cNvPr id="66" name="Google Shape;66;p9"/>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67" name="Google Shape;67;p9"/>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8" name="Google Shape;68;p9"/>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9"/>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0" name="Google Shape;70;p9"/>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71" name="Google Shape;71;p9"/>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Tree>
    <p:extLst>
      <p:ext uri="{BB962C8B-B14F-4D97-AF65-F5344CB8AC3E}">
        <p14:creationId xmlns:p14="http://schemas.microsoft.com/office/powerpoint/2010/main" val="22373867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eek 4 goals">
  <p:cSld name="Week 4 goals">
    <p:spTree>
      <p:nvGrpSpPr>
        <p:cNvPr id="1" name="Shape 54"/>
        <p:cNvGrpSpPr/>
        <p:nvPr/>
      </p:nvGrpSpPr>
      <p:grpSpPr>
        <a:xfrm>
          <a:off x="0" y="0"/>
          <a:ext cx="0" cy="0"/>
          <a:chOff x="0" y="0"/>
          <a:chExt cx="0" cy="0"/>
        </a:xfrm>
      </p:grpSpPr>
      <p:sp>
        <p:nvSpPr>
          <p:cNvPr id="55" name="Google Shape;55;p8"/>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6" name="Google Shape;56;p8"/>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7" name="Google Shape;57;p8"/>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58" name="Google Shape;58;p8"/>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
        <p:nvSpPr>
          <p:cNvPr id="59" name="Google Shape;59;p8"/>
          <p:cNvSpPr/>
          <p:nvPr/>
        </p:nvSpPr>
        <p:spPr>
          <a:xfrm>
            <a:off x="0" y="0"/>
            <a:ext cx="9144000" cy="576000"/>
          </a:xfrm>
          <a:prstGeom prst="rect">
            <a:avLst/>
          </a:prstGeom>
          <a:solidFill>
            <a:srgbClr val="EC781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Google Shape;60;p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1" name="Google Shape;61;p8"/>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lvl1pPr lvl="0" algn="ctr" rtl="0">
              <a:spcBef>
                <a:spcPts val="0"/>
              </a:spcBef>
              <a:spcAft>
                <a:spcPts val="0"/>
              </a:spcAft>
              <a:buNone/>
              <a:defRPr sz="4800">
                <a:solidFill>
                  <a:schemeClr val="lt1"/>
                </a:solidFill>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2" name="Google Shape;62;p8"/>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lvl1pPr lvl="0" algn="r" rtl="0">
              <a:spcBef>
                <a:spcPts val="0"/>
              </a:spcBef>
              <a:spcAft>
                <a:spcPts val="0"/>
              </a:spcAft>
              <a:buNone/>
              <a:defRPr sz="1400"/>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a:endParaRPr/>
          </a:p>
        </p:txBody>
      </p:sp>
      <p:sp>
        <p:nvSpPr>
          <p:cNvPr id="63" name="Google Shape;63;p8"/>
          <p:cNvSpPr txBox="1">
            <a:spLocks noGrp="1"/>
          </p:cNvSpPr>
          <p:nvPr>
            <p:ph type="body" idx="7"/>
          </p:nvPr>
        </p:nvSpPr>
        <p:spPr>
          <a:xfrm>
            <a:off x="4663450" y="3172148"/>
            <a:ext cx="4297800" cy="1625700"/>
          </a:xfrm>
          <a:prstGeom prst="rect">
            <a:avLst/>
          </a:prstGeom>
        </p:spPr>
        <p:txBody>
          <a:bodyPr spcFirstLastPara="1" wrap="square" lIns="91425" tIns="91425" rIns="91425" bIns="91425" anchor="t" anchorCtr="0">
            <a:noAutofit/>
          </a:bodyPr>
          <a:lstStyle>
            <a:lvl1pPr marL="457200" lvl="0" indent="-292100" rtl="0">
              <a:spcBef>
                <a:spcPts val="0"/>
              </a:spcBef>
              <a:spcAft>
                <a:spcPts val="0"/>
              </a:spcAft>
              <a:buSzPts val="1000"/>
              <a:buChar char="●"/>
              <a:defRPr/>
            </a:lvl1pPr>
            <a:lvl2pPr marL="914400" lvl="1" indent="-292100" rtl="0">
              <a:spcBef>
                <a:spcPts val="800"/>
              </a:spcBef>
              <a:spcAft>
                <a:spcPts val="0"/>
              </a:spcAft>
              <a:buSzPts val="1000"/>
              <a:buChar char="○"/>
              <a:defRPr/>
            </a:lvl2pPr>
            <a:lvl3pPr marL="1371600" lvl="2" indent="-292100" rtl="0">
              <a:spcBef>
                <a:spcPts val="800"/>
              </a:spcBef>
              <a:spcAft>
                <a:spcPts val="0"/>
              </a:spcAft>
              <a:buSzPts val="1000"/>
              <a:buChar char="■"/>
              <a:defRPr/>
            </a:lvl3pPr>
            <a:lvl4pPr marL="1828800" lvl="3" indent="-292100" rtl="0">
              <a:spcBef>
                <a:spcPts val="800"/>
              </a:spcBef>
              <a:spcAft>
                <a:spcPts val="0"/>
              </a:spcAft>
              <a:buSzPts val="1000"/>
              <a:buChar char="●"/>
              <a:defRPr/>
            </a:lvl4pPr>
            <a:lvl5pPr marL="2286000" lvl="4" indent="-292100" rtl="0">
              <a:spcBef>
                <a:spcPts val="800"/>
              </a:spcBef>
              <a:spcAft>
                <a:spcPts val="0"/>
              </a:spcAft>
              <a:buSzPts val="1000"/>
              <a:buChar char="○"/>
              <a:defRPr/>
            </a:lvl5pPr>
            <a:lvl6pPr marL="2743200" lvl="5" indent="-292100" rtl="0">
              <a:spcBef>
                <a:spcPts val="800"/>
              </a:spcBef>
              <a:spcAft>
                <a:spcPts val="0"/>
              </a:spcAft>
              <a:buSzPts val="1000"/>
              <a:buChar char="■"/>
              <a:defRPr/>
            </a:lvl6pPr>
            <a:lvl7pPr marL="3200400" lvl="6" indent="-292100" rtl="0">
              <a:spcBef>
                <a:spcPts val="800"/>
              </a:spcBef>
              <a:spcAft>
                <a:spcPts val="0"/>
              </a:spcAft>
              <a:buSzPts val="1000"/>
              <a:buChar char="●"/>
              <a:defRPr/>
            </a:lvl7pPr>
            <a:lvl8pPr marL="3657600" lvl="7" indent="-292100" rtl="0">
              <a:spcBef>
                <a:spcPts val="800"/>
              </a:spcBef>
              <a:spcAft>
                <a:spcPts val="0"/>
              </a:spcAft>
              <a:buSzPts val="1000"/>
              <a:buChar char="○"/>
              <a:defRPr/>
            </a:lvl8pPr>
            <a:lvl9pPr marL="4114800" lvl="8" indent="-292100" rtl="0">
              <a:spcBef>
                <a:spcPts val="800"/>
              </a:spcBef>
              <a:spcAft>
                <a:spcPts val="800"/>
              </a:spcAft>
              <a:buSzPts val="1000"/>
              <a:buChar char="■"/>
              <a:defRPr/>
            </a:lvl9pPr>
          </a:lstStyle>
          <a:p>
            <a:endParaRPr/>
          </a:p>
        </p:txBody>
      </p:sp>
      <p:sp>
        <p:nvSpPr>
          <p:cNvPr id="64" name="Google Shape;64;p8"/>
          <p:cNvSpPr txBox="1">
            <a:spLocks noGrp="1"/>
          </p:cNvSpPr>
          <p:nvPr>
            <p:ph type="subTitle" idx="8"/>
          </p:nvPr>
        </p:nvSpPr>
        <p:spPr>
          <a:xfrm>
            <a:off x="4663440" y="2778402"/>
            <a:ext cx="4297800" cy="393900"/>
          </a:xfrm>
          <a:prstGeom prst="rect">
            <a:avLst/>
          </a:prstGeom>
        </p:spPr>
        <p:txBody>
          <a:bodyPr spcFirstLastPara="1" wrap="square" lIns="91425" tIns="91425" rIns="91425" bIns="91425" anchor="t" anchorCtr="0">
            <a:noAutofit/>
          </a:bodyPr>
          <a:lstStyle>
            <a:lvl1pPr lvl="0" rtl="0">
              <a:spcBef>
                <a:spcPts val="0"/>
              </a:spcBef>
              <a:spcAft>
                <a:spcPts val="0"/>
              </a:spcAft>
              <a:buNone/>
              <a:defRPr sz="1400" b="1"/>
            </a:lvl1pPr>
            <a:lvl2pPr lvl="1" rtl="0">
              <a:spcBef>
                <a:spcPts val="800"/>
              </a:spcBef>
              <a:spcAft>
                <a:spcPts val="0"/>
              </a:spcAft>
              <a:buNone/>
              <a:defRPr/>
            </a:lvl2pPr>
            <a:lvl3pPr lvl="2" rtl="0">
              <a:spcBef>
                <a:spcPts val="800"/>
              </a:spcBef>
              <a:spcAft>
                <a:spcPts val="0"/>
              </a:spcAft>
              <a:buNone/>
              <a:defRPr/>
            </a:lvl3pPr>
            <a:lvl4pPr lvl="3" rtl="0">
              <a:spcBef>
                <a:spcPts val="800"/>
              </a:spcBef>
              <a:spcAft>
                <a:spcPts val="0"/>
              </a:spcAft>
              <a:buNone/>
              <a:defRPr/>
            </a:lvl4pPr>
            <a:lvl5pPr lvl="4" rtl="0">
              <a:spcBef>
                <a:spcPts val="800"/>
              </a:spcBef>
              <a:spcAft>
                <a:spcPts val="0"/>
              </a:spcAft>
              <a:buNone/>
              <a:defRPr/>
            </a:lvl5pPr>
            <a:lvl6pPr lvl="5" rtl="0">
              <a:spcBef>
                <a:spcPts val="800"/>
              </a:spcBef>
              <a:spcAft>
                <a:spcPts val="0"/>
              </a:spcAft>
              <a:buNone/>
              <a:defRPr/>
            </a:lvl6pPr>
            <a:lvl7pPr lvl="6" rtl="0">
              <a:spcBef>
                <a:spcPts val="800"/>
              </a:spcBef>
              <a:spcAft>
                <a:spcPts val="0"/>
              </a:spcAft>
              <a:buNone/>
              <a:defRPr/>
            </a:lvl7pPr>
            <a:lvl8pPr lvl="7" rtl="0">
              <a:spcBef>
                <a:spcPts val="800"/>
              </a:spcBef>
              <a:spcAft>
                <a:spcPts val="0"/>
              </a:spcAft>
              <a:buNone/>
              <a:defRPr/>
            </a:lvl8pPr>
            <a:lvl9pPr lvl="8" rtl="0">
              <a:spcBef>
                <a:spcPts val="800"/>
              </a:spcBef>
              <a:spcAft>
                <a:spcPts val="800"/>
              </a:spcAft>
              <a:buNone/>
              <a:defRPr/>
            </a:lvl9pPr>
          </a:lstStyle>
          <a:p>
            <a:endParaRPr/>
          </a:p>
        </p:txBody>
      </p:sp>
    </p:spTree>
    <p:extLst>
      <p:ext uri="{BB962C8B-B14F-4D97-AF65-F5344CB8AC3E}">
        <p14:creationId xmlns:p14="http://schemas.microsoft.com/office/powerpoint/2010/main" val="3212919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gameday">
    <p:bg>
      <p:bgPr>
        <a:solidFill>
          <a:srgbClr val="666666"/>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64025"/>
            <a:ext cx="8520600" cy="572700"/>
          </a:xfrm>
          <a:prstGeom prst="rect">
            <a:avLst/>
          </a:prstGeom>
          <a:noFill/>
          <a:ln>
            <a:noFill/>
          </a:ln>
        </p:spPr>
        <p:txBody>
          <a:bodyPr spcFirstLastPara="1" wrap="square" lIns="91425" tIns="91425" rIns="91425" bIns="91425" anchor="ctr" anchorCtr="0">
            <a:noAutofit/>
          </a:bodyPr>
          <a:lstStyle>
            <a:lvl1pPr lvl="0">
              <a:spcBef>
                <a:spcPts val="0"/>
              </a:spcBef>
              <a:spcAft>
                <a:spcPts val="0"/>
              </a:spcAft>
              <a:buClr>
                <a:srgbClr val="FFFFFF"/>
              </a:buClr>
              <a:buSzPts val="2000"/>
              <a:buFont typeface="Roboto Light"/>
              <a:buNone/>
              <a:defRPr sz="2000">
                <a:solidFill>
                  <a:srgbClr val="FFFFFF"/>
                </a:solidFill>
                <a:latin typeface="Roboto Light"/>
                <a:ea typeface="Roboto Light"/>
                <a:cs typeface="Roboto Light"/>
                <a:sym typeface="Roboto Light"/>
              </a:defRPr>
            </a:lvl1pPr>
            <a:lvl2pPr lvl="1">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2pPr>
            <a:lvl3pPr lvl="2">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3pPr>
            <a:lvl4pPr lvl="3">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4pPr>
            <a:lvl5pPr lvl="4">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5pPr>
            <a:lvl6pPr lvl="5">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6pPr>
            <a:lvl7pPr lvl="6">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7pPr>
            <a:lvl8pPr lvl="7">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8pPr>
            <a:lvl9pPr lvl="8">
              <a:spcBef>
                <a:spcPts val="0"/>
              </a:spcBef>
              <a:spcAft>
                <a:spcPts val="0"/>
              </a:spcAft>
              <a:buClr>
                <a:srgbClr val="EC781C"/>
              </a:buClr>
              <a:buSzPts val="2400"/>
              <a:buFont typeface="Alfa Slab One"/>
              <a:buNone/>
              <a:defRPr sz="2400">
                <a:solidFill>
                  <a:srgbClr val="EC781C"/>
                </a:solidFill>
                <a:latin typeface="Alfa Slab One"/>
                <a:ea typeface="Alfa Slab One"/>
                <a:cs typeface="Alfa Slab One"/>
                <a:sym typeface="Alfa Slab One"/>
              </a:defRPr>
            </a:lvl9pPr>
          </a:lstStyle>
          <a:p>
            <a:endParaRPr/>
          </a:p>
        </p:txBody>
      </p:sp>
      <p:sp>
        <p:nvSpPr>
          <p:cNvPr id="7" name="Google Shape;7;p1"/>
          <p:cNvSpPr txBox="1">
            <a:spLocks noGrp="1"/>
          </p:cNvSpPr>
          <p:nvPr>
            <p:ph type="body" idx="1"/>
          </p:nvPr>
        </p:nvSpPr>
        <p:spPr>
          <a:xfrm>
            <a:off x="311700" y="636725"/>
            <a:ext cx="8520600" cy="3932100"/>
          </a:xfrm>
          <a:prstGeom prst="rect">
            <a:avLst/>
          </a:prstGeom>
          <a:noFill/>
          <a:ln>
            <a:noFill/>
          </a:ln>
        </p:spPr>
        <p:txBody>
          <a:bodyPr spcFirstLastPara="1" wrap="square" lIns="91425" tIns="91425" rIns="91425" bIns="91425" anchor="t" anchorCtr="0">
            <a:noAutofit/>
          </a:bodyPr>
          <a:lstStyle>
            <a:lvl1pPr marL="457200" lvl="0" indent="-292100">
              <a:lnSpc>
                <a:spcPct val="104000"/>
              </a:lnSpc>
              <a:spcBef>
                <a:spcPts val="0"/>
              </a:spcBef>
              <a:spcAft>
                <a:spcPts val="0"/>
              </a:spcAft>
              <a:buClr>
                <a:srgbClr val="FFFFFF"/>
              </a:buClr>
              <a:buSzPts val="1000"/>
              <a:buFont typeface="Roboto"/>
              <a:buChar char="●"/>
              <a:defRPr sz="1000">
                <a:solidFill>
                  <a:srgbClr val="FFFFFF"/>
                </a:solidFill>
                <a:latin typeface="Roboto"/>
                <a:ea typeface="Roboto"/>
                <a:cs typeface="Roboto"/>
                <a:sym typeface="Roboto"/>
              </a:defRPr>
            </a:lvl1pPr>
            <a:lvl2pPr marL="914400" lvl="1"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2pPr>
            <a:lvl3pPr marL="1371600" lvl="2"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3pPr>
            <a:lvl4pPr marL="1828800" lvl="3"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4pPr>
            <a:lvl5pPr marL="2286000" lvl="4"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5pPr>
            <a:lvl6pPr marL="2743200" lvl="5" indent="-292100">
              <a:lnSpc>
                <a:spcPct val="104000"/>
              </a:lnSpc>
              <a:spcBef>
                <a:spcPts val="800"/>
              </a:spcBef>
              <a:spcAft>
                <a:spcPts val="0"/>
              </a:spcAft>
              <a:buClr>
                <a:srgbClr val="FFFFFF"/>
              </a:buClr>
              <a:buSzPts val="1000"/>
              <a:buFont typeface="Roboto"/>
              <a:buChar char="■"/>
              <a:defRPr sz="1000" u="sng">
                <a:solidFill>
                  <a:srgbClr val="FFFFFF"/>
                </a:solidFill>
                <a:latin typeface="Roboto"/>
                <a:ea typeface="Roboto"/>
                <a:cs typeface="Roboto"/>
                <a:sym typeface="Roboto"/>
              </a:defRPr>
            </a:lvl6pPr>
            <a:lvl7pPr marL="3200400" lvl="6" indent="-292100">
              <a:lnSpc>
                <a:spcPct val="104000"/>
              </a:lnSpc>
              <a:spcBef>
                <a:spcPts val="800"/>
              </a:spcBef>
              <a:spcAft>
                <a:spcPts val="0"/>
              </a:spcAft>
              <a:buClr>
                <a:srgbClr val="FFFFFF"/>
              </a:buClr>
              <a:buSzPts val="1000"/>
              <a:buFont typeface="Roboto"/>
              <a:buChar char="●"/>
              <a:defRPr sz="1000">
                <a:solidFill>
                  <a:srgbClr val="FFFFFF"/>
                </a:solidFill>
                <a:latin typeface="Roboto"/>
                <a:ea typeface="Roboto"/>
                <a:cs typeface="Roboto"/>
                <a:sym typeface="Roboto"/>
              </a:defRPr>
            </a:lvl7pPr>
            <a:lvl8pPr marL="3657600" lvl="7" indent="-292100">
              <a:lnSpc>
                <a:spcPct val="104000"/>
              </a:lnSpc>
              <a:spcBef>
                <a:spcPts val="800"/>
              </a:spcBef>
              <a:spcAft>
                <a:spcPts val="0"/>
              </a:spcAft>
              <a:buClr>
                <a:srgbClr val="FFFFFF"/>
              </a:buClr>
              <a:buSzPts val="1000"/>
              <a:buFont typeface="Roboto"/>
              <a:buChar char="○"/>
              <a:defRPr sz="1000" i="1">
                <a:solidFill>
                  <a:srgbClr val="FFFFFF"/>
                </a:solidFill>
                <a:latin typeface="Roboto"/>
                <a:ea typeface="Roboto"/>
                <a:cs typeface="Roboto"/>
                <a:sym typeface="Roboto"/>
              </a:defRPr>
            </a:lvl8pPr>
            <a:lvl9pPr marL="4114800" lvl="8" indent="-292100">
              <a:lnSpc>
                <a:spcPct val="104000"/>
              </a:lnSpc>
              <a:spcBef>
                <a:spcPts val="800"/>
              </a:spcBef>
              <a:spcAft>
                <a:spcPts val="800"/>
              </a:spcAft>
              <a:buClr>
                <a:srgbClr val="FFFFFF"/>
              </a:buClr>
              <a:buSzPts val="1000"/>
              <a:buFont typeface="Roboto"/>
              <a:buChar char="■"/>
              <a:defRPr sz="1000" u="sng">
                <a:solidFill>
                  <a:srgbClr val="FFFFFF"/>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90450" y="4873575"/>
            <a:ext cx="548700" cy="269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latin typeface="Proxima Nova"/>
                <a:ea typeface="Proxima Nova"/>
                <a:cs typeface="Proxima Nova"/>
                <a:sym typeface="Proxima Nova"/>
              </a:defRPr>
            </a:lvl1pPr>
            <a:lvl2pPr lvl="1" algn="r">
              <a:buNone/>
              <a:defRPr sz="1000">
                <a:solidFill>
                  <a:schemeClr val="dk2"/>
                </a:solidFill>
                <a:latin typeface="Proxima Nova"/>
                <a:ea typeface="Proxima Nova"/>
                <a:cs typeface="Proxima Nova"/>
                <a:sym typeface="Proxima Nova"/>
              </a:defRPr>
            </a:lvl2pPr>
            <a:lvl3pPr lvl="2" algn="r">
              <a:buNone/>
              <a:defRPr sz="1000">
                <a:solidFill>
                  <a:schemeClr val="dk2"/>
                </a:solidFill>
                <a:latin typeface="Proxima Nova"/>
                <a:ea typeface="Proxima Nova"/>
                <a:cs typeface="Proxima Nova"/>
                <a:sym typeface="Proxima Nova"/>
              </a:defRPr>
            </a:lvl3pPr>
            <a:lvl4pPr lvl="3" algn="r">
              <a:buNone/>
              <a:defRPr sz="1000">
                <a:solidFill>
                  <a:schemeClr val="dk2"/>
                </a:solidFill>
                <a:latin typeface="Proxima Nova"/>
                <a:ea typeface="Proxima Nova"/>
                <a:cs typeface="Proxima Nova"/>
                <a:sym typeface="Proxima Nova"/>
              </a:defRPr>
            </a:lvl4pPr>
            <a:lvl5pPr lvl="4" algn="r">
              <a:buNone/>
              <a:defRPr sz="1000">
                <a:solidFill>
                  <a:schemeClr val="dk2"/>
                </a:solidFill>
                <a:latin typeface="Proxima Nova"/>
                <a:ea typeface="Proxima Nova"/>
                <a:cs typeface="Proxima Nova"/>
                <a:sym typeface="Proxima Nova"/>
              </a:defRPr>
            </a:lvl5pPr>
            <a:lvl6pPr lvl="5" algn="r">
              <a:buNone/>
              <a:defRPr sz="1000">
                <a:solidFill>
                  <a:schemeClr val="dk2"/>
                </a:solidFill>
                <a:latin typeface="Proxima Nova"/>
                <a:ea typeface="Proxima Nova"/>
                <a:cs typeface="Proxima Nova"/>
                <a:sym typeface="Proxima Nova"/>
              </a:defRPr>
            </a:lvl6pPr>
            <a:lvl7pPr lvl="6" algn="r">
              <a:buNone/>
              <a:defRPr sz="1000">
                <a:solidFill>
                  <a:schemeClr val="dk2"/>
                </a:solidFill>
                <a:latin typeface="Proxima Nova"/>
                <a:ea typeface="Proxima Nova"/>
                <a:cs typeface="Proxima Nova"/>
                <a:sym typeface="Proxima Nova"/>
              </a:defRPr>
            </a:lvl7pPr>
            <a:lvl8pPr lvl="7" algn="r">
              <a:buNone/>
              <a:defRPr sz="1000">
                <a:solidFill>
                  <a:schemeClr val="dk2"/>
                </a:solidFill>
                <a:latin typeface="Proxima Nova"/>
                <a:ea typeface="Proxima Nova"/>
                <a:cs typeface="Proxima Nova"/>
                <a:sym typeface="Proxima Nova"/>
              </a:defRPr>
            </a:lvl8pPr>
            <a:lvl9pPr lvl="8" algn="r">
              <a:buNone/>
              <a:defRPr sz="1000">
                <a:solidFill>
                  <a:schemeClr val="dk2"/>
                </a:solidFill>
                <a:latin typeface="Proxima Nova"/>
                <a:ea typeface="Proxima Nova"/>
                <a:cs typeface="Proxima Nova"/>
                <a:sym typeface="Proxima Nova"/>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7" r:id="rId6"/>
    <p:sldLayoutId id="2147483659" r:id="rId7"/>
    <p:sldLayoutId id="2147483660" r:id="rId8"/>
    <p:sldLayoutId id="2147483661"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0.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0.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2.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hyperlink" Target="https://edubuas.sharepoint.com/:p:/t/Generalstudyinformation-ADSAI/ERiYYoxNX-BKsOj2_KXbAMgBIAfpxKrSoA3D47Vyn14vOg?e=qQDTHp" TargetMode="External"/><Relationship Id="rId2" Type="http://schemas.openxmlformats.org/officeDocument/2006/relationships/notesSlide" Target="../notesSlides/notesSlide24.xml"/><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5.svg"/></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1.xml"/><Relationship Id="rId1" Type="http://schemas.openxmlformats.org/officeDocument/2006/relationships/slideLayout" Target="../slideLayouts/slideLayout5.xml"/><Relationship Id="rId4" Type="http://schemas.openxmlformats.org/officeDocument/2006/relationships/image" Target="../media/image5.sv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2"/>
          <p:cNvSpPr txBox="1">
            <a:spLocks noGrp="1"/>
          </p:cNvSpPr>
          <p:nvPr>
            <p:ph type="ctrTitle"/>
          </p:nvPr>
        </p:nvSpPr>
        <p:spPr>
          <a:xfrm>
            <a:off x="3657600" y="548650"/>
            <a:ext cx="4937700" cy="3264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pl-PL" dirty="0">
                <a:latin typeface="Roboto"/>
                <a:ea typeface="Roboto"/>
                <a:cs typeface="Roboto"/>
                <a:sym typeface="Roboto"/>
              </a:rPr>
              <a:t>Maks Burchard</a:t>
            </a:r>
            <a:endParaRPr dirty="0">
              <a:solidFill>
                <a:srgbClr val="FFFFFF"/>
              </a:solidFill>
              <a:latin typeface="Roboto"/>
              <a:ea typeface="Roboto"/>
              <a:cs typeface="Roboto"/>
              <a:sym typeface="Roboto"/>
            </a:endParaRPr>
          </a:p>
          <a:p>
            <a:pPr marL="0" lvl="0" indent="0" algn="l" rtl="0">
              <a:spcBef>
                <a:spcPts val="0"/>
              </a:spcBef>
              <a:spcAft>
                <a:spcPts val="0"/>
              </a:spcAft>
              <a:buNone/>
            </a:pPr>
            <a:r>
              <a:rPr lang="pl-PL" dirty="0">
                <a:solidFill>
                  <a:srgbClr val="FFFFFF"/>
                </a:solidFill>
                <a:latin typeface="Roboto"/>
                <a:ea typeface="Roboto"/>
                <a:cs typeface="Roboto"/>
                <a:sym typeface="Roboto"/>
              </a:rPr>
              <a:t>240894</a:t>
            </a:r>
            <a:endParaRPr dirty="0">
              <a:solidFill>
                <a:srgbClr val="FFFFFF"/>
              </a:solidFill>
              <a:latin typeface="Roboto"/>
              <a:ea typeface="Roboto"/>
              <a:cs typeface="Roboto"/>
              <a:sym typeface="Roboto"/>
            </a:endParaRPr>
          </a:p>
          <a:p>
            <a:pPr algn="l"/>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Data Understanding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and</a:t>
            </a:r>
            <a:r>
              <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rPr>
              <a:t> </a:t>
            </a:r>
            <a:r>
              <a:rPr lang="nl-NL" b="0" i="0" dirty="0" err="1">
                <a:solidFill>
                  <a:schemeClr val="bg1"/>
                </a:solidFill>
                <a:effectLst/>
                <a:latin typeface="Roboto" panose="02000000000000000000" pitchFamily="2" charset="0"/>
                <a:ea typeface="Roboto" panose="02000000000000000000" pitchFamily="2" charset="0"/>
                <a:cs typeface="Roboto" panose="02000000000000000000" pitchFamily="2" charset="0"/>
              </a:rPr>
              <a:t>Preparation</a:t>
            </a:r>
            <a:endParaRPr lang="nl-NL" b="0" i="0" dirty="0">
              <a:solidFill>
                <a:schemeClr val="bg1"/>
              </a:solidFill>
              <a:effectLst/>
              <a:latin typeface="Roboto" panose="02000000000000000000" pitchFamily="2" charset="0"/>
              <a:ea typeface="Roboto" panose="02000000000000000000" pitchFamily="2" charset="0"/>
              <a:cs typeface="Roboto" panose="02000000000000000000" pitchFamily="2" charset="0"/>
            </a:endParaRPr>
          </a:p>
        </p:txBody>
      </p:sp>
      <p:sp>
        <p:nvSpPr>
          <p:cNvPr id="95" name="Google Shape;95;p12"/>
          <p:cNvSpPr txBox="1">
            <a:spLocks noGrp="1"/>
          </p:cNvSpPr>
          <p:nvPr>
            <p:ph type="subTitle" idx="1"/>
          </p:nvPr>
        </p:nvSpPr>
        <p:spPr>
          <a:xfrm>
            <a:off x="548650" y="2571750"/>
            <a:ext cx="2011800" cy="1406525"/>
          </a:xfrm>
          <a:prstGeom prst="rect">
            <a:avLst/>
          </a:prstGeom>
        </p:spPr>
        <p:txBody>
          <a:bodyPr spcFirstLastPara="1" wrap="square" lIns="91425" tIns="91425" rIns="91425" bIns="91425" anchor="b" anchorCtr="0">
            <a:noAutofit/>
          </a:bodyPr>
          <a:lstStyle/>
          <a:p>
            <a:pPr marL="0" indent="0">
              <a:lnSpc>
                <a:spcPct val="104000"/>
              </a:lnSpc>
            </a:pPr>
            <a:r>
              <a:rPr lang="en" sz="1800">
                <a:solidFill>
                  <a:srgbClr val="434343"/>
                </a:solidFill>
              </a:rPr>
              <a:t>Learning Log</a:t>
            </a:r>
            <a:r>
              <a:rPr lang="en">
                <a:solidFill>
                  <a:srgbClr val="434343"/>
                </a:solidFill>
              </a:rPr>
              <a:t> </a:t>
            </a:r>
            <a:endParaRPr sz="1800">
              <a:solidFill>
                <a:srgbClr val="434343"/>
              </a:solidFill>
            </a:endParaRPr>
          </a:p>
          <a:p>
            <a:pPr marL="0" indent="0">
              <a:lnSpc>
                <a:spcPct val="104000"/>
              </a:lnSpc>
              <a:spcBef>
                <a:spcPts val="800"/>
              </a:spcBef>
              <a:spcAft>
                <a:spcPts val="800"/>
              </a:spcAft>
            </a:pPr>
            <a:r>
              <a:rPr lang="en">
                <a:solidFill>
                  <a:srgbClr val="434343"/>
                </a:solidFill>
              </a:rPr>
              <a:t>Year  1</a:t>
            </a:r>
            <a:endParaRPr lang="en-US">
              <a:solidFill>
                <a:srgbClr val="434343"/>
              </a:solidFill>
            </a:endParaRPr>
          </a:p>
          <a:p>
            <a:pPr marL="0" indent="0">
              <a:lnSpc>
                <a:spcPct val="104000"/>
              </a:lnSpc>
              <a:spcBef>
                <a:spcPts val="800"/>
              </a:spcBef>
              <a:spcAft>
                <a:spcPts val="800"/>
              </a:spcAft>
            </a:pPr>
            <a:r>
              <a:rPr lang="en">
                <a:solidFill>
                  <a:srgbClr val="434343"/>
                </a:solidFill>
              </a:rPr>
              <a:t>Block  B</a:t>
            </a:r>
            <a:endParaRPr lang="en-US" sz="1800">
              <a:solidFill>
                <a:srgbClr val="434343"/>
              </a:solidFill>
            </a:endParaRPr>
          </a:p>
        </p:txBody>
      </p:sp>
      <p:sp>
        <p:nvSpPr>
          <p:cNvPr id="4" name="Google Shape;16;p2">
            <a:extLst>
              <a:ext uri="{FF2B5EF4-FFF2-40B4-BE49-F238E27FC236}">
                <a16:creationId xmlns:a16="http://schemas.microsoft.com/office/drawing/2014/main" id="{8758BBB5-F7B4-27C5-E103-E7FBDED4DBC2}"/>
              </a:ext>
            </a:extLst>
          </p:cNvPr>
          <p:cNvSpPr txBox="1"/>
          <p:nvPr/>
        </p:nvSpPr>
        <p:spPr>
          <a:xfrm>
            <a:off x="3036677" y="440831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5" name="Google Shape;16;p2">
            <a:extLst>
              <a:ext uri="{FF2B5EF4-FFF2-40B4-BE49-F238E27FC236}">
                <a16:creationId xmlns:a16="http://schemas.microsoft.com/office/drawing/2014/main" id="{91019EC5-1870-195F-7F9F-5AA97F189468}"/>
              </a:ext>
            </a:extLst>
          </p:cNvPr>
          <p:cNvSpPr txBox="1"/>
          <p:nvPr/>
        </p:nvSpPr>
        <p:spPr>
          <a:xfrm>
            <a:off x="3036676" y="4625059"/>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NL" sz="700" b="1">
                <a:solidFill>
                  <a:srgbClr val="999999"/>
                </a:solidFill>
                <a:latin typeface="Helvetica Neue"/>
                <a:ea typeface="Roboto"/>
                <a:cs typeface="Roboto"/>
                <a:sym typeface="Helvetica Neue"/>
              </a:rPr>
              <a:t>Hyperlink</a:t>
            </a:r>
            <a:endParaRPr>
              <a:latin typeface="Roboto"/>
              <a:ea typeface="Roboto"/>
              <a:cs typeface="Roboto"/>
              <a:sym typeface="Roboto"/>
            </a:endParaRPr>
          </a:p>
        </p:txBody>
      </p:sp>
      <p:sp>
        <p:nvSpPr>
          <p:cNvPr id="6" name="Google Shape;16;p2">
            <a:extLst>
              <a:ext uri="{FF2B5EF4-FFF2-40B4-BE49-F238E27FC236}">
                <a16:creationId xmlns:a16="http://schemas.microsoft.com/office/drawing/2014/main" id="{71C20FEA-7051-AFFA-02AF-093F08979088}"/>
              </a:ext>
            </a:extLst>
          </p:cNvPr>
          <p:cNvSpPr txBox="1"/>
          <p:nvPr/>
        </p:nvSpPr>
        <p:spPr>
          <a:xfrm>
            <a:off x="3036676" y="4798480"/>
            <a:ext cx="5944414" cy="232252"/>
          </a:xfrm>
          <a:prstGeom prst="rect">
            <a:avLst/>
          </a:prstGeom>
          <a:noFill/>
          <a:ln>
            <a:noFill/>
          </a:ln>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nl-NL" sz="700" b="1" dirty="0">
                <a:solidFill>
                  <a:srgbClr val="999999"/>
                </a:solidFill>
                <a:latin typeface="Helvetica Neue"/>
                <a:ea typeface="Roboto"/>
                <a:cs typeface="Roboto"/>
                <a:sym typeface="Helvetica Neue"/>
              </a:rPr>
              <a:t>https://github.com/BredaUniversityADSAI/2024-25b-fai1-adsai-MaksBurchard240894</a:t>
            </a:r>
            <a:endParaRPr dirty="0">
              <a:latin typeface="Roboto"/>
              <a:ea typeface="Roboto"/>
              <a:cs typeface="Roboto"/>
              <a:sym typeface="Roboto"/>
            </a:endParaRPr>
          </a:p>
        </p:txBody>
      </p:sp>
      <p:pic>
        <p:nvPicPr>
          <p:cNvPr id="3" name="Picture 2" descr="A person wearing glasses and orange shirt&#10;&#10;Description automatically generated">
            <a:extLst>
              <a:ext uri="{FF2B5EF4-FFF2-40B4-BE49-F238E27FC236}">
                <a16:creationId xmlns:a16="http://schemas.microsoft.com/office/drawing/2014/main" id="{8C46D32E-F107-82E8-393F-C8DA652DA8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46500" y="365125"/>
            <a:ext cx="1374775" cy="1831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3"/>
          <p:cNvSpPr txBox="1">
            <a:spLocks noGrp="1"/>
          </p:cNvSpPr>
          <p:nvPr>
            <p:ph type="title"/>
          </p:nvPr>
        </p:nvSpPr>
        <p:spPr>
          <a:xfrm>
            <a:off x="182880" y="2926080"/>
            <a:ext cx="2743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How To Use</a:t>
            </a:r>
            <a:endParaRPr/>
          </a:p>
          <a:p>
            <a:pPr marL="0" lvl="0" indent="0" algn="ctr" rtl="0">
              <a:spcBef>
                <a:spcPts val="0"/>
              </a:spcBef>
              <a:spcAft>
                <a:spcPts val="0"/>
              </a:spcAft>
              <a:buNone/>
            </a:pPr>
            <a:r>
              <a:rPr lang="en"/>
              <a:t>This Template</a:t>
            </a:r>
            <a:endParaRPr/>
          </a:p>
        </p:txBody>
      </p:sp>
      <p:sp>
        <p:nvSpPr>
          <p:cNvPr id="102" name="Google Shape;102;p13"/>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As a student at Breda University of Applied Sciences studying to become a professional, you are required to provide evidence that demonstrates your professional learning and growth during the block. This template is intended to provide you with a well-structured and </a:t>
            </a:r>
            <a:r>
              <a:rPr lang="en" err="1"/>
              <a:t>organised</a:t>
            </a:r>
            <a:r>
              <a:rPr lang="en"/>
              <a:t> format for doing this effectively. Keep in mind that certain competencies may require you to update your evidence every week, and others may have only be relevant during a particular week or two.</a:t>
            </a:r>
            <a:endParaRPr/>
          </a:p>
          <a:p>
            <a:pPr marL="0" lvl="0" indent="0" algn="l" rtl="0">
              <a:spcBef>
                <a:spcPts val="800"/>
              </a:spcBef>
              <a:spcAft>
                <a:spcPts val="0"/>
              </a:spcAft>
              <a:buNone/>
            </a:pPr>
            <a:endParaRPr/>
          </a:p>
          <a:p>
            <a:pPr marL="0" lvl="0" indent="0" algn="l" rtl="0">
              <a:spcBef>
                <a:spcPts val="800"/>
              </a:spcBef>
              <a:spcAft>
                <a:spcPts val="0"/>
              </a:spcAft>
              <a:buNone/>
            </a:pPr>
            <a:r>
              <a:rPr lang="en"/>
              <a:t>With the evidence you present here teachers should get a clear and comprehensive overview of your progress, how you’ve engaged with feedback, as well as your general attitude and performance as a student and as an aspiring professional developer.</a:t>
            </a:r>
            <a:endParaRPr/>
          </a:p>
          <a:p>
            <a:pPr marL="0" lvl="0" indent="0" algn="l" rtl="0">
              <a:spcBef>
                <a:spcPts val="800"/>
              </a:spcBef>
              <a:spcAft>
                <a:spcPts val="0"/>
              </a:spcAft>
              <a:buNone/>
            </a:pPr>
            <a:endParaRPr/>
          </a:p>
          <a:p>
            <a:pPr marL="0" lvl="0" indent="0" algn="l" rtl="0">
              <a:spcBef>
                <a:spcPts val="800"/>
              </a:spcBef>
              <a:spcAft>
                <a:spcPts val="0"/>
              </a:spcAft>
              <a:buNone/>
            </a:pPr>
            <a:r>
              <a:rPr lang="en"/>
              <a:t>Note that number and size of text boxes and how they are organized on each slide may be modified as needed. It is up to you to decide what layout is most effective for the content you are providing. You may also add slides if needed, but try to be as economical as possible, i.e. quality over quantity. Focus on the things that are the most significant and meaningful.</a:t>
            </a:r>
            <a:endParaRPr/>
          </a:p>
          <a:p>
            <a:pPr marL="0" lvl="0" indent="0" algn="l" rtl="0">
              <a:spcBef>
                <a:spcPts val="800"/>
              </a:spcBef>
              <a:spcAft>
                <a:spcPts val="0"/>
              </a:spcAft>
              <a:buNone/>
            </a:pPr>
            <a:endParaRPr/>
          </a:p>
          <a:p>
            <a:pPr marL="0" lvl="0" indent="0" algn="l" rtl="0">
              <a:spcBef>
                <a:spcPts val="800"/>
              </a:spcBef>
              <a:spcAft>
                <a:spcPts val="800"/>
              </a:spcAft>
              <a:buNone/>
            </a:pPr>
            <a:r>
              <a:rPr lang="en"/>
              <a:t>You are also free to stylise this template to improve the graphic design and visual appeal, but please remember its purpose: to provide evidence of your progress towards becoming a professional developer. Changes should only enhance and extend the information, and may never subtract. I.e. do not delete anything or change the order of things. If in doubt, seek approval from your teachers!</a:t>
            </a:r>
            <a:endParaRPr/>
          </a:p>
        </p:txBody>
      </p:sp>
      <p:pic>
        <p:nvPicPr>
          <p:cNvPr id="1026" name="Picture 2" descr="Artificial intelligence brain">
            <a:extLst>
              <a:ext uri="{FF2B5EF4-FFF2-40B4-BE49-F238E27FC236}">
                <a16:creationId xmlns:a16="http://schemas.microsoft.com/office/drawing/2014/main" id="{31E76062-B307-B28D-6D09-6AB7455F1C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74" y="453863"/>
            <a:ext cx="3102126" cy="161521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4"/>
          <p:cNvSpPr txBox="1">
            <a:spLocks noGrp="1"/>
          </p:cNvSpPr>
          <p:nvPr>
            <p:ph type="title"/>
          </p:nvPr>
        </p:nvSpPr>
        <p:spPr>
          <a:xfrm>
            <a:off x="274320" y="308799"/>
            <a:ext cx="2560200" cy="15519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Learning Log</a:t>
            </a:r>
            <a:endParaRPr/>
          </a:p>
          <a:p>
            <a:pPr marL="0" lvl="0" indent="0" algn="ctr" rtl="0">
              <a:spcBef>
                <a:spcPts val="0"/>
              </a:spcBef>
              <a:spcAft>
                <a:spcPts val="0"/>
              </a:spcAft>
              <a:buNone/>
            </a:pPr>
            <a:r>
              <a:rPr lang="en"/>
              <a:t>Structure</a:t>
            </a:r>
            <a:endParaRPr/>
          </a:p>
        </p:txBody>
      </p:sp>
      <p:sp>
        <p:nvSpPr>
          <p:cNvPr id="109" name="Google Shape;109;p14"/>
          <p:cNvSpPr txBox="1">
            <a:spLocks noGrp="1"/>
          </p:cNvSpPr>
          <p:nvPr>
            <p:ph type="subTitle" idx="1"/>
          </p:nvPr>
        </p:nvSpPr>
        <p:spPr>
          <a:xfrm>
            <a:off x="274320" y="1860700"/>
            <a:ext cx="2560200" cy="3012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400"/>
              <a:t>Section A</a:t>
            </a:r>
            <a:endParaRPr sz="1400"/>
          </a:p>
          <a:p>
            <a:pPr marL="182880" lvl="0" indent="-180340" algn="l" rtl="0">
              <a:spcBef>
                <a:spcPts val="0"/>
              </a:spcBef>
              <a:spcAft>
                <a:spcPts val="0"/>
              </a:spcAft>
              <a:buSzPts val="1400"/>
              <a:buChar char="●"/>
            </a:pPr>
            <a:r>
              <a:rPr lang="en" sz="1400"/>
              <a:t>Starting this block</a:t>
            </a:r>
            <a:endParaRPr sz="1400"/>
          </a:p>
          <a:p>
            <a:pPr marL="182880" lvl="0" indent="-180340" algn="l" rtl="0">
              <a:spcBef>
                <a:spcPts val="0"/>
              </a:spcBef>
              <a:spcAft>
                <a:spcPts val="0"/>
              </a:spcAft>
              <a:buSzPts val="1400"/>
              <a:buChar char="●"/>
            </a:pPr>
            <a:r>
              <a:rPr lang="en" sz="1400"/>
              <a:t>Goals</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B </a:t>
            </a:r>
            <a:endParaRPr sz="1400"/>
          </a:p>
          <a:p>
            <a:pPr marL="182880" lvl="0" indent="-180340" algn="l" rtl="0">
              <a:spcBef>
                <a:spcPts val="0"/>
              </a:spcBef>
              <a:spcAft>
                <a:spcPts val="0"/>
              </a:spcAft>
              <a:buSzPts val="1400"/>
              <a:buChar char="●"/>
            </a:pPr>
            <a:r>
              <a:rPr lang="en" sz="1400"/>
              <a:t>ILO section</a:t>
            </a:r>
            <a:endParaRPr sz="1400"/>
          </a:p>
          <a:p>
            <a:pPr marL="182880" lvl="0" indent="-180340" algn="l" rtl="0">
              <a:spcBef>
                <a:spcPts val="0"/>
              </a:spcBef>
              <a:spcAft>
                <a:spcPts val="0"/>
              </a:spcAft>
              <a:buSzPts val="1400"/>
              <a:buChar char="●"/>
            </a:pPr>
            <a:r>
              <a:rPr lang="en" sz="1400"/>
              <a:t>Week log section</a:t>
            </a:r>
            <a:endParaRPr sz="1400"/>
          </a:p>
          <a:p>
            <a:pPr marL="0" lvl="0" indent="0" algn="l" rtl="0">
              <a:spcBef>
                <a:spcPts val="0"/>
              </a:spcBef>
              <a:spcAft>
                <a:spcPts val="0"/>
              </a:spcAft>
              <a:buNone/>
            </a:pPr>
            <a:endParaRPr sz="1400"/>
          </a:p>
          <a:p>
            <a:pPr marL="0" lvl="0" indent="0" algn="l" rtl="0">
              <a:spcBef>
                <a:spcPts val="0"/>
              </a:spcBef>
              <a:spcAft>
                <a:spcPts val="0"/>
              </a:spcAft>
              <a:buNone/>
            </a:pPr>
            <a:r>
              <a:rPr lang="en" sz="1400"/>
              <a:t>Section C</a:t>
            </a:r>
            <a:endParaRPr sz="1400"/>
          </a:p>
          <a:p>
            <a:pPr marL="182880" lvl="0" indent="-180340" algn="l" rtl="0">
              <a:spcBef>
                <a:spcPts val="0"/>
              </a:spcBef>
              <a:spcAft>
                <a:spcPts val="0"/>
              </a:spcAft>
              <a:buSzPts val="1400"/>
              <a:buChar char="●"/>
            </a:pPr>
            <a:r>
              <a:rPr lang="en" sz="1400"/>
              <a:t>Block reflection</a:t>
            </a:r>
            <a:endParaRPr sz="1400"/>
          </a:p>
        </p:txBody>
      </p:sp>
      <p:sp>
        <p:nvSpPr>
          <p:cNvPr id="110" name="Google Shape;110;p14"/>
          <p:cNvSpPr txBox="1">
            <a:spLocks noGrp="1"/>
          </p:cNvSpPr>
          <p:nvPr>
            <p:ph type="body" idx="2"/>
          </p:nvPr>
        </p:nvSpPr>
        <p:spPr>
          <a:xfrm>
            <a:off x="3383280" y="274320"/>
            <a:ext cx="5486400" cy="45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1200" b="1" u="sng"/>
              <a:t>Section A - My Plan		</a:t>
            </a:r>
            <a:r>
              <a:rPr lang="en" i="1"/>
              <a:t>Must be completed in </a:t>
            </a:r>
            <a:r>
              <a:rPr lang="en" i="1" u="sng"/>
              <a:t>week 1</a:t>
            </a:r>
            <a:endParaRPr i="1" u="sng"/>
          </a:p>
          <a:p>
            <a:pPr marL="0" lvl="0" indent="0" algn="l" rtl="0">
              <a:spcBef>
                <a:spcPts val="800"/>
              </a:spcBef>
              <a:spcAft>
                <a:spcPts val="0"/>
              </a:spcAft>
              <a:buNone/>
            </a:pPr>
            <a:r>
              <a:rPr lang="en"/>
              <a:t>Your plan describes your goals for the block. Starting with where you are right now, where do you want to be at the end of the block? I.e. what role(s) will you take responsibility for, and how will you demonstrate progress relevant to the ILOs for this block? What tasks and deliverables are best aligned with your role and the project brief?</a:t>
            </a:r>
            <a:endParaRPr/>
          </a:p>
          <a:p>
            <a:pPr marL="0" lvl="0" indent="0" algn="l" rtl="0">
              <a:spcBef>
                <a:spcPts val="800"/>
              </a:spcBef>
              <a:spcAft>
                <a:spcPts val="0"/>
              </a:spcAft>
              <a:buNone/>
            </a:pPr>
            <a:r>
              <a:rPr lang="en" sz="1200" b="1" u="sng"/>
              <a:t>Section B - ILO’s		</a:t>
            </a:r>
            <a:r>
              <a:rPr lang="en" i="1"/>
              <a:t>Must be completed in </a:t>
            </a:r>
            <a:r>
              <a:rPr lang="en" i="1" u="sng"/>
              <a:t>week 8</a:t>
            </a:r>
            <a:r>
              <a:rPr lang="en" i="1"/>
              <a:t>, but should be updated </a:t>
            </a:r>
            <a:r>
              <a:rPr lang="en" i="1" u="sng"/>
              <a:t>regularly</a:t>
            </a:r>
            <a:endParaRPr i="1" u="sng"/>
          </a:p>
          <a:p>
            <a:pPr marL="0" lvl="0" indent="0" algn="l" rtl="0">
              <a:spcBef>
                <a:spcPts val="800"/>
              </a:spcBef>
              <a:spcAft>
                <a:spcPts val="0"/>
              </a:spcAft>
              <a:buNone/>
            </a:pPr>
            <a:r>
              <a:rPr lang="en"/>
              <a:t>This is where you link your evidence to each of the Intended Learning Outcomes of this block.</a:t>
            </a:r>
            <a:endParaRPr/>
          </a:p>
          <a:p>
            <a:pPr marL="0" lvl="0" indent="0" algn="l" rtl="0">
              <a:spcBef>
                <a:spcPts val="800"/>
              </a:spcBef>
              <a:spcAft>
                <a:spcPts val="0"/>
              </a:spcAft>
              <a:buNone/>
            </a:pPr>
            <a:r>
              <a:rPr lang="en" sz="1200" b="1" u="sng"/>
              <a:t>Section C - Weekly Log	</a:t>
            </a:r>
            <a:r>
              <a:rPr lang="en" i="1"/>
              <a:t>Must be updated </a:t>
            </a:r>
            <a:r>
              <a:rPr lang="en" i="1" u="sng"/>
              <a:t>every week</a:t>
            </a:r>
            <a:endParaRPr i="1" u="sng"/>
          </a:p>
          <a:p>
            <a:pPr marL="0" lvl="0" indent="0" algn="l" rtl="0">
              <a:spcBef>
                <a:spcPts val="800"/>
              </a:spcBef>
              <a:spcAft>
                <a:spcPts val="0"/>
              </a:spcAft>
              <a:buNone/>
            </a:pPr>
            <a:r>
              <a:rPr lang="en"/>
              <a:t>This is simply a log (journal) of what you do each day, and what you learn from it. It is your responsibility to update this regularly and frequently. Be sure to include working links to any specific evidence you are referencing (and make sure that you share your docs with the teaching team). Note: some of the required information may be captured in production documents such as your work log or peer reviews. </a:t>
            </a:r>
            <a:endParaRPr/>
          </a:p>
          <a:p>
            <a:pPr marL="0" lvl="0" indent="0" algn="l" rtl="0">
              <a:spcBef>
                <a:spcPts val="800"/>
              </a:spcBef>
              <a:spcAft>
                <a:spcPts val="0"/>
              </a:spcAft>
              <a:buNone/>
            </a:pPr>
            <a:r>
              <a:rPr lang="en"/>
              <a:t>In such cases, you simply need to provide links to those artifacts and may include any explanatory comment or reflection you feel is appropriate. </a:t>
            </a:r>
            <a:endParaRPr/>
          </a:p>
          <a:p>
            <a:pPr marL="0" lvl="0" indent="0" algn="l" rtl="0">
              <a:spcBef>
                <a:spcPts val="800"/>
              </a:spcBef>
              <a:spcAft>
                <a:spcPts val="0"/>
              </a:spcAft>
              <a:buNone/>
            </a:pPr>
            <a:r>
              <a:rPr lang="en"/>
              <a:t>(Some reflection is almost always a good idea as it provides the foundation for Section C.)</a:t>
            </a:r>
            <a:endParaRPr/>
          </a:p>
          <a:p>
            <a:pPr marL="0" lvl="0" indent="0" algn="l" rtl="0">
              <a:spcBef>
                <a:spcPts val="800"/>
              </a:spcBef>
              <a:spcAft>
                <a:spcPts val="0"/>
              </a:spcAft>
              <a:buNone/>
            </a:pPr>
            <a:r>
              <a:rPr lang="en" sz="1200" b="1" u="sng"/>
              <a:t>Section D - Reflection	</a:t>
            </a:r>
            <a:r>
              <a:rPr lang="en" i="1"/>
              <a:t>Must be completed in </a:t>
            </a:r>
            <a:r>
              <a:rPr lang="en" i="1" u="sng"/>
              <a:t>week 8</a:t>
            </a:r>
            <a:endParaRPr i="1" u="sng"/>
          </a:p>
          <a:p>
            <a:pPr marL="0" lvl="0" indent="0" algn="l" rtl="0">
              <a:spcBef>
                <a:spcPts val="800"/>
              </a:spcBef>
              <a:spcAft>
                <a:spcPts val="800"/>
              </a:spcAft>
              <a:buNone/>
            </a:pPr>
            <a:r>
              <a:rPr lang="en"/>
              <a:t>Summative reflection on your progress during the block including a critical assessment of everything you did and learned during the block. This is a comprehensive review of everything recorded in Section B, evaluated against the goals and planning laid out in Section 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Goal Setting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A</a:t>
            </a:r>
            <a:endParaRPr sz="40000">
              <a:solidFill>
                <a:srgbClr val="999999"/>
              </a:solidFill>
              <a:latin typeface="Roboto"/>
              <a:ea typeface="Roboto"/>
              <a:cs typeface="Roboto"/>
              <a:sym typeface="Roboto"/>
            </a:endParaRPr>
          </a:p>
        </p:txBody>
      </p:sp>
      <p:sp>
        <p:nvSpPr>
          <p:cNvPr id="2" name="Rectangle: Rounded Corners 1">
            <a:extLst>
              <a:ext uri="{FF2B5EF4-FFF2-40B4-BE49-F238E27FC236}">
                <a16:creationId xmlns:a16="http://schemas.microsoft.com/office/drawing/2014/main" id="{4E84F48E-9152-454D-9754-FA0D0AD81F68}"/>
              </a:ext>
            </a:extLst>
          </p:cNvPr>
          <p:cNvSpPr/>
          <p:nvPr/>
        </p:nvSpPr>
        <p:spPr>
          <a:xfrm>
            <a:off x="2033752" y="404648"/>
            <a:ext cx="6232634" cy="730469"/>
          </a:xfrm>
          <a:prstGeom prst="round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r>
              <a:rPr lang="en-NL" b="1">
                <a:latin typeface="Open Sans" panose="020B0606030504020204" pitchFamily="34" charset="0"/>
                <a:ea typeface="Open Sans" panose="020B0606030504020204" pitchFamily="34" charset="0"/>
                <a:cs typeface="Times New Roman" panose="02020603050405020304" pitchFamily="18" charset="0"/>
              </a:rPr>
              <a:t>In the first week</a:t>
            </a:r>
            <a:r>
              <a:rPr lang="en-NL">
                <a:latin typeface="Open Sans" panose="020B0606030504020204" pitchFamily="34" charset="0"/>
                <a:ea typeface="Open Sans" panose="020B0606030504020204" pitchFamily="34" charset="0"/>
                <a:cs typeface="Times New Roman" panose="02020603050405020304" pitchFamily="18" charset="0"/>
              </a:rPr>
              <a:t>, t</a:t>
            </a:r>
            <a:r>
              <a:rPr lang="en-GB">
                <a:effectLst/>
                <a:latin typeface="Open Sans" panose="020B0606030504020204" pitchFamily="34" charset="0"/>
                <a:ea typeface="Open Sans" panose="020B0606030504020204" pitchFamily="34" charset="0"/>
                <a:cs typeface="Times New Roman" panose="02020603050405020304" pitchFamily="18" charset="0"/>
              </a:rPr>
              <a:t>he student sets ambitious, S.M.A.R.T.</a:t>
            </a:r>
            <a:r>
              <a:rPr lang="en-NL">
                <a:effectLst/>
                <a:latin typeface="Open Sans" panose="020B0606030504020204" pitchFamily="34" charset="0"/>
                <a:ea typeface="Open Sans" panose="020B0606030504020204" pitchFamily="34" charset="0"/>
                <a:cs typeface="Times New Roman" panose="02020603050405020304" pitchFamily="18" charset="0"/>
              </a:rPr>
              <a:t> </a:t>
            </a:r>
            <a:r>
              <a:rPr lang="en-GB">
                <a:effectLst/>
                <a:latin typeface="Open Sans" panose="020B0606030504020204" pitchFamily="34" charset="0"/>
                <a:ea typeface="Open Sans" panose="020B0606030504020204" pitchFamily="34" charset="0"/>
                <a:cs typeface="Times New Roman" panose="02020603050405020304" pitchFamily="18" charset="0"/>
              </a:rPr>
              <a:t>goals in alignment with the project brief, their chosen role(s), content of the assessment rubric and their personal long-term goals</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1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Where am I starting?</a:t>
            </a:r>
            <a:endParaRPr/>
          </a:p>
        </p:txBody>
      </p:sp>
      <p:sp>
        <p:nvSpPr>
          <p:cNvPr id="123" name="Google Shape;123;p16"/>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1400"/>
              <a:t>1/</a:t>
            </a:r>
            <a:r>
              <a:rPr lang="en"/>
              <a:t>2</a:t>
            </a:r>
            <a:endParaRPr sz="1400"/>
          </a:p>
        </p:txBody>
      </p:sp>
      <p:sp>
        <p:nvSpPr>
          <p:cNvPr id="124" name="Google Shape;124;p16"/>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25" name="Google Shape;125;p16"/>
          <p:cNvSpPr txBox="1">
            <a:spLocks noGrp="1"/>
          </p:cNvSpPr>
          <p:nvPr>
            <p:ph type="subTitle" idx="1"/>
          </p:nvPr>
        </p:nvSpPr>
        <p:spPr>
          <a:xfrm>
            <a:off x="182880" y="68238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Feedback from previous assessment -							</a:t>
            </a:r>
            <a:endParaRPr b="0" i="1"/>
          </a:p>
        </p:txBody>
      </p:sp>
      <p:sp>
        <p:nvSpPr>
          <p:cNvPr id="126" name="Google Shape;126;p16"/>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US" dirty="0"/>
              <a:t>Dear Maks, congratulations on your hard work and passing this block! You completed your assignments with care and showed a solid understanding of the course material. Python exam was missed, but I am fairly certain you can improve your grade if you retake it during the next block. You are a good student, and I'm sure you will be able to do a great job in the near future. In order to achieve even better results,  give yourself more time to revise assignments, begin assignments earlier and</a:t>
            </a:r>
            <a:r>
              <a:rPr lang="pl-PL" dirty="0"/>
              <a:t> </a:t>
            </a:r>
            <a:r>
              <a:rPr lang="en-US" dirty="0"/>
              <a:t>discuss complex topics for more clarification, also additional support is available during </a:t>
            </a:r>
            <a:r>
              <a:rPr lang="en-US" dirty="0" err="1"/>
              <a:t>DataLab</a:t>
            </a:r>
            <a:r>
              <a:rPr lang="en-US" dirty="0"/>
              <a:t> sessions. Best of luck to you, </a:t>
            </a:r>
            <a:r>
              <a:rPr lang="en-US" dirty="0" err="1"/>
              <a:t>Peiman</a:t>
            </a:r>
            <a:r>
              <a:rPr lang="en-US" dirty="0"/>
              <a:t>.</a:t>
            </a:r>
            <a:endParaRPr dirty="0"/>
          </a:p>
          <a:p>
            <a:pPr marL="0" lvl="0" indent="0" algn="just" rtl="0">
              <a:spcBef>
                <a:spcPts val="800"/>
              </a:spcBef>
              <a:spcAft>
                <a:spcPts val="0"/>
              </a:spcAft>
              <a:buNone/>
            </a:pPr>
            <a:r>
              <a:rPr lang="en" sz="1400" b="1" dirty="0"/>
              <a:t>My interpretation / key takeaways</a:t>
            </a:r>
            <a:endParaRPr sz="1400" b="1" dirty="0"/>
          </a:p>
          <a:p>
            <a:pPr marL="0" lvl="0" indent="0" algn="just" rtl="0">
              <a:spcBef>
                <a:spcPts val="800"/>
              </a:spcBef>
              <a:spcAft>
                <a:spcPts val="800"/>
              </a:spcAft>
              <a:buNone/>
            </a:pPr>
            <a:r>
              <a:rPr lang="pl-PL" dirty="0"/>
              <a:t>I have done what was expected of me, but I can work on the progress of achieving those results. I need to begin the „reflection” part of my work earlier and can have more time to complete them. I can also ask fo assistance if I don’t know how to do something. I also need to do the python exam which I missed due to sickness.</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1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is my plan?</a:t>
            </a:r>
            <a:endParaRPr/>
          </a:p>
        </p:txBody>
      </p:sp>
      <p:sp>
        <p:nvSpPr>
          <p:cNvPr id="133" name="Google Shape;133;p17"/>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34" name="Google Shape;134;p17"/>
          <p:cNvSpPr txBox="1">
            <a:spLocks noGrp="1"/>
          </p:cNvSpPr>
          <p:nvPr>
            <p:ph type="subTitle" idx="1"/>
          </p:nvPr>
        </p:nvSpPr>
        <p:spPr>
          <a:xfrm>
            <a:off x="182873" y="667500"/>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dirty="0"/>
              <a:t>What I learned last block -													     Previous block’s grade</a:t>
            </a:r>
            <a:endParaRPr dirty="0"/>
          </a:p>
        </p:txBody>
      </p:sp>
      <p:sp>
        <p:nvSpPr>
          <p:cNvPr id="135" name="Google Shape;135;p17"/>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pl-PL" dirty="0"/>
              <a:t>Last block I learned the foundations of Data Science. I also learned the foundations of math and Python skills required for the study. I was also taught how to use and create reports and dashboard in PowerBI.</a:t>
            </a:r>
            <a:endParaRPr dirty="0"/>
          </a:p>
          <a:p>
            <a:pPr marL="0" lvl="0" indent="0" algn="just" rtl="0">
              <a:spcBef>
                <a:spcPts val="800"/>
              </a:spcBef>
              <a:spcAft>
                <a:spcPts val="0"/>
              </a:spcAft>
              <a:buNone/>
            </a:pPr>
            <a:endParaRPr dirty="0"/>
          </a:p>
          <a:p>
            <a:pPr marL="0" lvl="0" indent="0" algn="just" rtl="0">
              <a:spcBef>
                <a:spcPts val="800"/>
              </a:spcBef>
              <a:spcAft>
                <a:spcPts val="0"/>
              </a:spcAft>
              <a:buNone/>
            </a:pPr>
            <a:r>
              <a:rPr lang="en" sz="1400" b="1" dirty="0"/>
              <a:t>My current level of progress</a:t>
            </a:r>
            <a:endParaRPr sz="1400" b="1" dirty="0"/>
          </a:p>
          <a:p>
            <a:pPr marL="0" lvl="0" indent="0" algn="l" rtl="0">
              <a:spcBef>
                <a:spcPts val="800"/>
              </a:spcBef>
              <a:spcAft>
                <a:spcPts val="800"/>
              </a:spcAft>
              <a:buNone/>
            </a:pPr>
            <a:r>
              <a:rPr lang="pl-PL" dirty="0"/>
              <a:t>I gave myself a 6.1 last block in the reflection and got a 6.91 at the end. Both of these are still without the Python exam which can give up to 2.0 points higher. I of course don’t expect to get a perfect grade on the test but I believe I can get 1.0-1.5 based on how much time I spend on preparation for the test,</a:t>
            </a:r>
            <a:endParaRPr dirty="0"/>
          </a:p>
        </p:txBody>
      </p:sp>
      <p:sp>
        <p:nvSpPr>
          <p:cNvPr id="136" name="Google Shape;136;p17"/>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sp>
        <p:nvSpPr>
          <p:cNvPr id="137" name="Google Shape;137;p17"/>
          <p:cNvSpPr txBox="1"/>
          <p:nvPr/>
        </p:nvSpPr>
        <p:spPr>
          <a:xfrm>
            <a:off x="6217920" y="3593592"/>
            <a:ext cx="2743200" cy="1371000"/>
          </a:xfrm>
          <a:prstGeom prst="rect">
            <a:avLst/>
          </a:prstGeom>
          <a:solidFill>
            <a:srgbClr val="FFFFFF"/>
          </a:solidFill>
          <a:ln>
            <a:noFill/>
          </a:ln>
        </p:spPr>
        <p:txBody>
          <a:bodyPr spcFirstLastPara="1" wrap="square" lIns="91425" tIns="91425" rIns="91425" bIns="91425" anchor="t" anchorCtr="0">
            <a:noAutofit/>
          </a:bodyPr>
          <a:lstStyle/>
          <a:p>
            <a:pPr marL="0" lvl="0" indent="0" algn="l" rtl="0">
              <a:lnSpc>
                <a:spcPct val="104000"/>
              </a:lnSpc>
              <a:spcBef>
                <a:spcPts val="0"/>
              </a:spcBef>
              <a:spcAft>
                <a:spcPts val="0"/>
              </a:spcAft>
              <a:buNone/>
            </a:pPr>
            <a:r>
              <a:rPr lang="en" b="1">
                <a:solidFill>
                  <a:srgbClr val="434343"/>
                </a:solidFill>
                <a:latin typeface="Roboto"/>
                <a:ea typeface="Roboto"/>
                <a:cs typeface="Roboto"/>
                <a:sym typeface="Roboto"/>
              </a:rPr>
              <a:t>Links</a:t>
            </a:r>
            <a:endParaRPr>
              <a:solidFill>
                <a:srgbClr val="434343"/>
              </a:solidFill>
              <a:latin typeface="Roboto"/>
              <a:ea typeface="Roboto"/>
              <a:cs typeface="Roboto"/>
              <a:sym typeface="Roboto"/>
            </a:endParaRPr>
          </a:p>
          <a:p>
            <a:pPr marL="0" lvl="0" indent="0" algn="l" rtl="0">
              <a:lnSpc>
                <a:spcPct val="104000"/>
              </a:lnSpc>
              <a:spcBef>
                <a:spcPts val="800"/>
              </a:spcBef>
              <a:spcAft>
                <a:spcPts val="800"/>
              </a:spcAft>
              <a:buNone/>
            </a:pPr>
            <a:r>
              <a:rPr lang="en" sz="1000">
                <a:solidFill>
                  <a:srgbClr val="434343"/>
                </a:solidFill>
                <a:latin typeface="Roboto"/>
                <a:ea typeface="Roboto"/>
                <a:cs typeface="Roboto"/>
                <a:sym typeface="Roboto"/>
              </a:rPr>
              <a:t>...</a:t>
            </a:r>
            <a:endParaRPr sz="1000">
              <a:solidFill>
                <a:srgbClr val="434343"/>
              </a:solidFill>
              <a:latin typeface="Roboto"/>
              <a:ea typeface="Roboto"/>
              <a:cs typeface="Roboto"/>
              <a:sym typeface="Roboto"/>
            </a:endParaRPr>
          </a:p>
        </p:txBody>
      </p:sp>
      <p:sp>
        <p:nvSpPr>
          <p:cNvPr id="138" name="Google Shape;138;p17"/>
          <p:cNvSpPr txBox="1"/>
          <p:nvPr/>
        </p:nvSpPr>
        <p:spPr>
          <a:xfrm>
            <a:off x="7918704" y="667500"/>
            <a:ext cx="1133796"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pl-PL" sz="3600" b="1" dirty="0">
                <a:solidFill>
                  <a:srgbClr val="434343"/>
                </a:solidFill>
                <a:latin typeface="Roboto"/>
                <a:ea typeface="Roboto"/>
                <a:cs typeface="Roboto"/>
                <a:sym typeface="Roboto"/>
              </a:rPr>
              <a:t>6</a:t>
            </a:r>
            <a:r>
              <a:rPr lang="en" sz="3600" b="1" dirty="0">
                <a:solidFill>
                  <a:srgbClr val="434343"/>
                </a:solidFill>
                <a:latin typeface="Roboto"/>
                <a:ea typeface="Roboto"/>
                <a:cs typeface="Roboto"/>
                <a:sym typeface="Roboto"/>
              </a:rPr>
              <a:t>.</a:t>
            </a:r>
            <a:r>
              <a:rPr lang="pl-PL" sz="3600" b="1" dirty="0">
                <a:solidFill>
                  <a:srgbClr val="434343"/>
                </a:solidFill>
                <a:latin typeface="Roboto"/>
                <a:ea typeface="Roboto"/>
                <a:cs typeface="Roboto"/>
                <a:sym typeface="Roboto"/>
              </a:rPr>
              <a:t>91</a:t>
            </a:r>
            <a:endParaRPr sz="3600" b="1" dirty="0">
              <a:solidFill>
                <a:srgbClr val="434343"/>
              </a:solidFill>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18"/>
          <p:cNvSpPr txBox="1">
            <a:spLocks noGrp="1"/>
          </p:cNvSpPr>
          <p:nvPr>
            <p:ph type="body" idx="3"/>
          </p:nvPr>
        </p:nvSpPr>
        <p:spPr>
          <a:xfrm>
            <a:off x="3108950" y="1069812"/>
            <a:ext cx="5852100" cy="3886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pl-PL" dirty="0"/>
              <a:t>Making sure I get the 320 hours of work expected of me this block.</a:t>
            </a:r>
            <a:endParaRPr dirty="0"/>
          </a:p>
          <a:p>
            <a:pPr marL="0" lvl="0" indent="0" algn="l" rtl="0">
              <a:spcBef>
                <a:spcPts val="800"/>
              </a:spcBef>
              <a:spcAft>
                <a:spcPts val="0"/>
              </a:spcAft>
              <a:buNone/>
            </a:pPr>
            <a:endParaRPr dirty="0"/>
          </a:p>
          <a:p>
            <a:pPr marL="0" lvl="0" indent="0" algn="l" rtl="0">
              <a:spcBef>
                <a:spcPts val="800"/>
              </a:spcBef>
              <a:spcAft>
                <a:spcPts val="0"/>
              </a:spcAft>
              <a:buNone/>
            </a:pPr>
            <a:r>
              <a:rPr lang="en" sz="1400" b="1" dirty="0"/>
              <a:t>Personal and professional development goals</a:t>
            </a:r>
            <a:endParaRPr sz="1400" b="1" dirty="0"/>
          </a:p>
          <a:p>
            <a:pPr marL="0" lvl="0" indent="0" algn="just" rtl="0">
              <a:spcBef>
                <a:spcPts val="800"/>
              </a:spcBef>
              <a:spcAft>
                <a:spcPts val="800"/>
              </a:spcAft>
              <a:buNone/>
            </a:pPr>
            <a:r>
              <a:rPr lang="pl-PL" dirty="0"/>
              <a:t>First goal is to reach the 320 hours. I should aim for getting 40 hours of work each week and if I don’t reach it, I need to compensate for that by doing more work next week.</a:t>
            </a:r>
          </a:p>
          <a:p>
            <a:pPr marL="0" lvl="0" indent="0" algn="just" rtl="0">
              <a:spcBef>
                <a:spcPts val="800"/>
              </a:spcBef>
              <a:spcAft>
                <a:spcPts val="800"/>
              </a:spcAft>
              <a:buNone/>
            </a:pPr>
            <a:endParaRPr dirty="0"/>
          </a:p>
        </p:txBody>
      </p:sp>
      <p:sp>
        <p:nvSpPr>
          <p:cNvPr id="144" name="Google Shape;144;p18"/>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are my goals?</a:t>
            </a:r>
            <a:endParaRPr/>
          </a:p>
        </p:txBody>
      </p:sp>
      <p:sp>
        <p:nvSpPr>
          <p:cNvPr id="145" name="Google Shape;145;p18"/>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146" name="Google Shape;146;p18"/>
          <p:cNvSpPr txBox="1">
            <a:spLocks noGrp="1"/>
          </p:cNvSpPr>
          <p:nvPr>
            <p:ph type="subTitle" idx="1"/>
          </p:nvPr>
        </p:nvSpPr>
        <p:spPr>
          <a:xfrm>
            <a:off x="3108960" y="667512"/>
            <a:ext cx="58521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I am taking responsibility for</a:t>
            </a:r>
            <a:r>
              <a:rPr lang="en" b="0" i="1"/>
              <a:t> (if multiple add in percentages)</a:t>
            </a:r>
            <a:endParaRPr b="0" i="1"/>
          </a:p>
        </p:txBody>
      </p:sp>
      <p:sp>
        <p:nvSpPr>
          <p:cNvPr id="147" name="Google Shape;147;p18"/>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a:t>
            </a:r>
            <a:endParaRPr/>
          </a:p>
        </p:txBody>
      </p:sp>
      <p:graphicFrame>
        <p:nvGraphicFramePr>
          <p:cNvPr id="148" name="Google Shape;148;p18"/>
          <p:cNvGraphicFramePr/>
          <p:nvPr>
            <p:extLst>
              <p:ext uri="{D42A27DB-BD31-4B8C-83A1-F6EECF244321}">
                <p14:modId xmlns:p14="http://schemas.microsoft.com/office/powerpoint/2010/main" val="2727034024"/>
              </p:ext>
            </p:extLst>
          </p:nvPr>
        </p:nvGraphicFramePr>
        <p:xfrm>
          <a:off x="182880" y="658368"/>
          <a:ext cx="2740000" cy="4297700"/>
        </p:xfrm>
        <a:graphic>
          <a:graphicData uri="http://schemas.openxmlformats.org/drawingml/2006/table">
            <a:tbl>
              <a:tblPr>
                <a:noFill/>
                <a:tableStyleId>{764D4AE7-FFBC-431D-9275-528F30A785D3}</a:tableStyleId>
              </a:tblPr>
              <a:tblGrid>
                <a:gridCol w="587150">
                  <a:extLst>
                    <a:ext uri="{9D8B030D-6E8A-4147-A177-3AD203B41FA5}">
                      <a16:colId xmlns:a16="http://schemas.microsoft.com/office/drawing/2014/main" val="20000"/>
                    </a:ext>
                  </a:extLst>
                </a:gridCol>
                <a:gridCol w="2152850">
                  <a:extLst>
                    <a:ext uri="{9D8B030D-6E8A-4147-A177-3AD203B41FA5}">
                      <a16:colId xmlns:a16="http://schemas.microsoft.com/office/drawing/2014/main" val="20001"/>
                    </a:ext>
                  </a:extLst>
                </a:gridCol>
              </a:tblGrid>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S</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C4125"/>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Specific:</a:t>
                      </a:r>
                      <a:r>
                        <a:rPr lang="en" sz="600">
                          <a:latin typeface="Roboto"/>
                          <a:ea typeface="Roboto"/>
                          <a:cs typeface="Roboto"/>
                          <a:sym typeface="Roboto"/>
                        </a:rPr>
                        <a:t> Be specific when determining your goal. The more specific the better. Putting a real figure to your goal helps make it measurable. When specific and measurable your subconscious mind cannot override your goals, they become achievable.</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0"/>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M</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E066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Measurable:</a:t>
                      </a:r>
                      <a:r>
                        <a:rPr lang="en" sz="600">
                          <a:latin typeface="Roboto"/>
                          <a:ea typeface="Roboto"/>
                          <a:cs typeface="Roboto"/>
                          <a:sym typeface="Roboto"/>
                        </a:rPr>
                        <a:t> This where you define a measurable and meaningful goal. It’s important to be able to track your progress. Without meaningful and measurable goals which you can track it’s easy to lose heart and focus.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1"/>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A</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6B26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Achievable:</a:t>
                      </a:r>
                      <a:r>
                        <a:rPr lang="en" sz="600">
                          <a:latin typeface="Roboto"/>
                          <a:ea typeface="Roboto"/>
                          <a:cs typeface="Roboto"/>
                          <a:sym typeface="Roboto"/>
                        </a:rPr>
                        <a:t> Choosing realistic and short-term goals helps them be more achievable. Long-term goals can be larger and take more time to achieve. Planning smaller short-term goals as steps to larger long-term goals assists in achieving them.</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2"/>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FD966"/>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Relevant:</a:t>
                      </a:r>
                      <a:r>
                        <a:rPr lang="en" sz="600">
                          <a:latin typeface="Roboto"/>
                          <a:ea typeface="Roboto"/>
                          <a:cs typeface="Roboto"/>
                          <a:sym typeface="Roboto"/>
                        </a:rPr>
                        <a:t> Each goal you set must be in line with your core values and in harmony with what YOU want out of life. Contradictions in values and goals leads to frustration and loss of motivation. Designing your goals with the expectation of your personal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3"/>
                  </a:ext>
                </a:extLst>
              </a:tr>
              <a:tr h="586050">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T</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93C47D"/>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Time-Bound:</a:t>
                      </a:r>
                      <a:r>
                        <a:rPr lang="en" sz="600">
                          <a:latin typeface="Roboto"/>
                          <a:ea typeface="Roboto"/>
                          <a:cs typeface="Roboto"/>
                          <a:sym typeface="Roboto"/>
                        </a:rPr>
                        <a:t> Setting a time limit on achieving a goal makes it measurable. When a goal is measurable you can SEE your progress and support your motivation and commitment. Giving your goal a time limit assists you in holding yourself accountable to its completion.</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4"/>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E</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76A5AF"/>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Evaluate:</a:t>
                      </a:r>
                      <a:r>
                        <a:rPr lang="en" sz="600">
                          <a:latin typeface="Roboto"/>
                          <a:ea typeface="Roboto"/>
                          <a:cs typeface="Roboto"/>
                          <a:sym typeface="Roboto"/>
                        </a:rPr>
                        <a:t> By evaluating your goals on a regular basis you will be much more likely to achieve them. It is easy to forget about long-term goals if they are not revisited from time to time. This also helps you assess if the goal you are working on remains in line with your core values and helps you measure your progress.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5"/>
                  </a:ext>
                </a:extLst>
              </a:tr>
              <a:tr h="683725">
                <a:tc>
                  <a:txBody>
                    <a:bodyPr/>
                    <a:lstStyle/>
                    <a:p>
                      <a:pPr marL="0" lvl="0" indent="0" algn="ctr" rtl="0">
                        <a:lnSpc>
                          <a:spcPct val="115000"/>
                        </a:lnSpc>
                        <a:spcBef>
                          <a:spcPts val="0"/>
                        </a:spcBef>
                        <a:spcAft>
                          <a:spcPts val="0"/>
                        </a:spcAft>
                        <a:buNone/>
                      </a:pPr>
                      <a:r>
                        <a:rPr lang="en" sz="2400" b="1">
                          <a:solidFill>
                            <a:srgbClr val="FFFFFF"/>
                          </a:solidFill>
                          <a:latin typeface="Roboto"/>
                          <a:ea typeface="Roboto"/>
                          <a:cs typeface="Roboto"/>
                          <a:sym typeface="Roboto"/>
                        </a:rPr>
                        <a:t>R</a:t>
                      </a:r>
                      <a:endParaRPr sz="2400" b="1">
                        <a:solidFill>
                          <a:srgbClr val="FFFFFF"/>
                        </a:solidFill>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6D9EEB"/>
                    </a:solidFill>
                  </a:tcPr>
                </a:tc>
                <a:tc>
                  <a:txBody>
                    <a:bodyPr/>
                    <a:lstStyle/>
                    <a:p>
                      <a:pPr marL="0" lvl="0" indent="0" algn="l" rtl="0">
                        <a:lnSpc>
                          <a:spcPct val="115000"/>
                        </a:lnSpc>
                        <a:spcBef>
                          <a:spcPts val="0"/>
                        </a:spcBef>
                        <a:spcAft>
                          <a:spcPts val="0"/>
                        </a:spcAft>
                        <a:buNone/>
                      </a:pPr>
                      <a:r>
                        <a:rPr lang="en" sz="600" b="1">
                          <a:latin typeface="Roboto"/>
                          <a:ea typeface="Roboto"/>
                          <a:cs typeface="Roboto"/>
                          <a:sym typeface="Roboto"/>
                        </a:rPr>
                        <a:t>Readjust:</a:t>
                      </a:r>
                      <a:r>
                        <a:rPr lang="en" sz="600">
                          <a:latin typeface="Roboto"/>
                          <a:ea typeface="Roboto"/>
                          <a:cs typeface="Roboto"/>
                          <a:sym typeface="Roboto"/>
                        </a:rPr>
                        <a:t> Readjustments occur when goals are determined, through re-evaluation, to be misaligned with your values or long-term goals. This is especially helpful when you have been unable to achieve a goal in the time limits you set. This gives you the opportunity to modify your approach and increase your chances of success.</a:t>
                      </a:r>
                      <a:endParaRPr sz="600">
                        <a:latin typeface="Roboto"/>
                        <a:ea typeface="Roboto"/>
                        <a:cs typeface="Roboto"/>
                        <a:sym typeface="Roboto"/>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F3F3F3"/>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9"/>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
              <a:t>B</a:t>
            </a:r>
            <a:endParaRPr sz="6000"/>
          </a:p>
        </p:txBody>
      </p:sp>
      <p:sp>
        <p:nvSpPr>
          <p:cNvPr id="154" name="Google Shape;154;p19"/>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 Log</a:t>
            </a:r>
            <a:endParaRPr lang="en-US" sz="3000"/>
          </a:p>
        </p:txBody>
      </p:sp>
      <p:sp>
        <p:nvSpPr>
          <p:cNvPr id="155" name="Google Shape;155;p1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 sz="40000">
                <a:solidFill>
                  <a:srgbClr val="999999"/>
                </a:solidFill>
                <a:latin typeface="Roboto"/>
                <a:ea typeface="Roboto"/>
                <a:cs typeface="Roboto"/>
                <a:sym typeface="Roboto"/>
              </a:rPr>
              <a:t>B</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530721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20"/>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r>
              <a:rPr lang="en"/>
              <a:t>Week 1 - Log</a:t>
            </a:r>
            <a:endParaRPr lang="en-US"/>
          </a:p>
        </p:txBody>
      </p:sp>
      <p:sp>
        <p:nvSpPr>
          <p:cNvPr id="161" name="Google Shape;161;p20"/>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162" name="Google Shape;162;p20"/>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163" name="Google Shape;163;p20"/>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pl-PL" dirty="0"/>
              <a:t>My goal this week is to just find my footing with this block and know and figure what this block is about.</a:t>
            </a:r>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r>
              <a:rPr lang="pl-PL" dirty="0"/>
              <a:t>I have done what I believe to be expected of me. I have followed all required lessons and am planning to follow some optional material as well.</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164" name="Google Shape;164;p20"/>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p>
          <a:p>
            <a:pPr marL="182880" lvl="0" indent="-154940" algn="l" rtl="0">
              <a:spcBef>
                <a:spcPts val="0"/>
              </a:spcBef>
              <a:spcAft>
                <a:spcPts val="0"/>
              </a:spcAft>
              <a:buSzPts val="1000"/>
              <a:buChar char="●"/>
            </a:pPr>
            <a:r>
              <a:rPr lang="en" dirty="0"/>
              <a:t>I had some problems with certain tasks, but in general did do </a:t>
            </a:r>
            <a:r>
              <a:rPr lang="pl-PL" dirty="0"/>
              <a:t>a lot of work.</a:t>
            </a:r>
            <a:endParaRPr b="1"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r>
              <a:rPr lang="en-GB" dirty="0"/>
              <a:t>Finding solutions to unexpected problems</a:t>
            </a:r>
            <a:r>
              <a:rPr lang="pl-PL" dirty="0"/>
              <a:t>, such as figuring out the password to Postgresql or downloading the „credit.csv” file</a:t>
            </a: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r>
              <a:rPr lang="en" dirty="0"/>
              <a:t>Filling in</a:t>
            </a:r>
            <a:r>
              <a:rPr lang="pl-PL" dirty="0"/>
              <a:t> and evidencing in</a:t>
            </a:r>
            <a:r>
              <a:rPr lang="en" dirty="0"/>
              <a:t> the WorkLog</a:t>
            </a:r>
            <a:r>
              <a:rPr lang="pl-PL" dirty="0"/>
              <a:t>, </a:t>
            </a:r>
            <a:r>
              <a:rPr lang="en" dirty="0"/>
              <a:t>especially towards the end of the week</a:t>
            </a:r>
            <a:r>
              <a:rPr lang="pl-PL" dirty="0"/>
              <a:t>.</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This week learned the basics of SQL and machine learning.</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The WorkLog needs to be filled in correctly</a:t>
            </a:r>
            <a:r>
              <a:rPr lang="pl-PL" dirty="0"/>
              <a:t> with regards to the tasks, evidence and reflection.</a:t>
            </a:r>
            <a:endParaRPr dirty="0"/>
          </a:p>
        </p:txBody>
      </p:sp>
      <p:sp>
        <p:nvSpPr>
          <p:cNvPr id="165" name="Google Shape;165;p20"/>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166" name="Google Shape;166;p20"/>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167" name="Google Shape;167;p20"/>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sp>
        <p:nvSpPr>
          <p:cNvPr id="172" name="Google Shape;172;p21"/>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1 - Feedback</a:t>
            </a:r>
            <a:endParaRPr/>
          </a:p>
        </p:txBody>
      </p:sp>
      <p:sp>
        <p:nvSpPr>
          <p:cNvPr id="173" name="Google Shape;173;p21"/>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174" name="Google Shape;174;p21"/>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indent="0">
              <a:spcBef>
                <a:spcPts val="800"/>
              </a:spcBef>
              <a:spcAft>
                <a:spcPts val="800"/>
              </a:spcAft>
              <a:buNone/>
            </a:pPr>
            <a:r>
              <a:rPr lang="en"/>
              <a:t>Response</a:t>
            </a:r>
            <a:r>
              <a:rPr lang="en-US"/>
              <a:t> to Feedback</a:t>
            </a:r>
          </a:p>
        </p:txBody>
      </p:sp>
      <p:sp>
        <p:nvSpPr>
          <p:cNvPr id="175" name="Google Shape;175;p21"/>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176" name="Google Shape;176;p21"/>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1</a:t>
            </a:r>
            <a:endParaRPr/>
          </a:p>
        </p:txBody>
      </p:sp>
      <p:sp>
        <p:nvSpPr>
          <p:cNvPr id="2" name="TextBox 1">
            <a:extLst>
              <a:ext uri="{FF2B5EF4-FFF2-40B4-BE49-F238E27FC236}">
                <a16:creationId xmlns:a16="http://schemas.microsoft.com/office/drawing/2014/main" id="{7D431F1F-F634-7FA5-06F3-E9A2BA1F45DE}"/>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Log</a:t>
            </a:r>
            <a:endParaRPr/>
          </a:p>
        </p:txBody>
      </p:sp>
      <p:sp>
        <p:nvSpPr>
          <p:cNvPr id="203" name="Google Shape;203;p24"/>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04" name="Google Shape;204;p24"/>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05" name="Google Shape;205;p24"/>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 dirty="0"/>
              <a:t>My goal for this week is to make sure I fill in the WorkLog correctly.</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pl-PL" dirty="0"/>
              <a:t>I have filled in my Worklog better this week except for Friday where I forgot to fill it in after I returned home.</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b="1" dirty="0"/>
          </a:p>
        </p:txBody>
      </p:sp>
      <p:sp>
        <p:nvSpPr>
          <p:cNvPr id="206" name="Google Shape;206;p24"/>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endParaRPr lang="pl-PL" b="1" dirty="0"/>
          </a:p>
          <a:p>
            <a:pPr marL="182880" lvl="0" indent="-154940" algn="l" rtl="0">
              <a:spcBef>
                <a:spcPts val="0"/>
              </a:spcBef>
              <a:spcAft>
                <a:spcPts val="0"/>
              </a:spcAft>
              <a:buSzPts val="1000"/>
              <a:buChar char="●"/>
            </a:pPr>
            <a:r>
              <a:rPr lang="pl-PL" dirty="0"/>
              <a:t>There were ups and downs during this week but on average I would say it went quite well.</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pl-PL" dirty="0"/>
              <a:t>Following the content.</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pl-PL" dirty="0"/>
              <a:t>Finishing up my work.</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pl-PL" dirty="0"/>
              <a:t>I learned some new concepts in the field of machine learning and EDA concepts.</a:t>
            </a:r>
            <a:endParaRPr dirty="0"/>
          </a:p>
          <a:p>
            <a:pPr marL="182880" lvl="0" indent="-154940" algn="l" rtl="0">
              <a:spcBef>
                <a:spcPts val="0"/>
              </a:spcBef>
              <a:spcAft>
                <a:spcPts val="0"/>
              </a:spcAft>
              <a:buSzPts val="1000"/>
              <a:buChar char="●"/>
            </a:pPr>
            <a:r>
              <a:rPr lang="en" b="1" dirty="0"/>
              <a:t>What could be added as an Action point looking forward to next week?</a:t>
            </a:r>
            <a:endParaRPr lang="pl-PL" b="1" dirty="0"/>
          </a:p>
          <a:p>
            <a:pPr marL="182880" lvl="0" indent="-154940" algn="l" rtl="0">
              <a:spcBef>
                <a:spcPts val="0"/>
              </a:spcBef>
              <a:spcAft>
                <a:spcPts val="0"/>
              </a:spcAft>
              <a:buSzPts val="1000"/>
              <a:buChar char="●"/>
            </a:pPr>
            <a:r>
              <a:rPr lang="pl-PL" dirty="0"/>
              <a:t>Finishing some of my planned tasks that I did not finish during this week and week 1.</a:t>
            </a:r>
            <a:endParaRPr dirty="0"/>
          </a:p>
        </p:txBody>
      </p:sp>
      <p:sp>
        <p:nvSpPr>
          <p:cNvPr id="207" name="Google Shape;207;p24"/>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08" name="Google Shape;208;p24"/>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2</a:t>
            </a:r>
            <a:endParaRPr/>
          </a:p>
        </p:txBody>
      </p:sp>
      <p:sp>
        <p:nvSpPr>
          <p:cNvPr id="209" name="Google Shape;209;p24"/>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5"/>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2</a:t>
            </a:r>
            <a:r>
              <a:rPr lang="en"/>
              <a:t> - Feedback</a:t>
            </a:r>
            <a:endParaRPr/>
          </a:p>
        </p:txBody>
      </p:sp>
      <p:sp>
        <p:nvSpPr>
          <p:cNvPr id="215" name="Google Shape;215;p25"/>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16" name="Google Shape;216;p25"/>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pl-PL" b="1" dirty="0"/>
              <a:t>Mentor </a:t>
            </a:r>
            <a:r>
              <a:rPr lang="pl-PL" dirty="0"/>
              <a:t>I did a nice job of actually following the WorkLog but the evidencing needs to be done and what I wrote in the Learning Log needs to be a bit longer. I also went over what the SMARTER goals were due to me being a bit confused over them.</a:t>
            </a:r>
            <a:endParaRPr dirty="0"/>
          </a:p>
          <a:p>
            <a:pPr marL="0" lvl="0" indent="0" algn="l" rtl="0">
              <a:spcBef>
                <a:spcPts val="800"/>
              </a:spcBef>
              <a:spcAft>
                <a:spcPts val="800"/>
              </a:spcAft>
              <a:buNone/>
            </a:pPr>
            <a:r>
              <a:rPr lang="pl-PL" dirty="0"/>
              <a:t>The WorkLog evidencing was obvious to me aswell. I also recieved the fedback about my texts in the Learning Log being too short last block, meaning it is something I need to be carefull about. </a:t>
            </a:r>
            <a:r>
              <a:rPr lang="pl-PL"/>
              <a:t>I am thankfull for the SMARTER goals explanation.</a:t>
            </a:r>
            <a:endParaRPr dirty="0"/>
          </a:p>
        </p:txBody>
      </p:sp>
      <p:sp>
        <p:nvSpPr>
          <p:cNvPr id="217" name="Google Shape;217;p25"/>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2/2</a:t>
            </a:r>
            <a:endParaRPr/>
          </a:p>
        </p:txBody>
      </p:sp>
      <p:sp>
        <p:nvSpPr>
          <p:cNvPr id="218" name="Google Shape;218;p25"/>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a:t>
            </a:r>
            <a:endParaRPr/>
          </a:p>
        </p:txBody>
      </p:sp>
      <p:sp>
        <p:nvSpPr>
          <p:cNvPr id="3" name="TextBox 2">
            <a:extLst>
              <a:ext uri="{FF2B5EF4-FFF2-40B4-BE49-F238E27FC236}">
                <a16:creationId xmlns:a16="http://schemas.microsoft.com/office/drawing/2014/main" id="{7D5AE459-3211-19C1-863E-F7D4FCF34B4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endParaRPr lang="pl-PL" b="1" dirty="0"/>
          </a:p>
          <a:p>
            <a:pPr marL="182880" lvl="0" indent="-154940" algn="l" rtl="0">
              <a:spcBef>
                <a:spcPts val="0"/>
              </a:spcBef>
              <a:spcAft>
                <a:spcPts val="0"/>
              </a:spcAft>
              <a:buSzPts val="1000"/>
              <a:buChar char="●"/>
            </a:pPr>
            <a:r>
              <a:rPr lang="en-GB" dirty="0"/>
              <a:t>My goal for this week is to continue working with the tasks that have been given to me.</a:t>
            </a:r>
            <a:endParaRPr dirty="0"/>
          </a:p>
          <a:p>
            <a:pPr marL="182880" lvl="0" indent="-154940" algn="l" rtl="0">
              <a:spcBef>
                <a:spcPts val="0"/>
              </a:spcBef>
              <a:spcAft>
                <a:spcPts val="0"/>
              </a:spcAft>
              <a:buSzPts val="1000"/>
              <a:buChar char="●"/>
            </a:pPr>
            <a:r>
              <a:rPr lang="en" b="1" dirty="0"/>
              <a:t>What have you actually been able to do? </a:t>
            </a:r>
            <a:endParaRPr lang="pl-PL" b="1" dirty="0"/>
          </a:p>
          <a:p>
            <a:pPr marL="182880" lvl="0" indent="-154940" algn="l" rtl="0">
              <a:spcBef>
                <a:spcPts val="0"/>
              </a:spcBef>
              <a:spcAft>
                <a:spcPts val="0"/>
              </a:spcAft>
              <a:buSzPts val="1000"/>
              <a:buChar char="●"/>
            </a:pPr>
            <a:r>
              <a:rPr lang="en-GB" dirty="0"/>
              <a:t>I have continued working, just like I had planned.</a:t>
            </a: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endParaRPr lang="pl-PL" b="1" dirty="0"/>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a:t>
            </a:r>
            <a:r>
              <a:rPr lang="en" dirty="0"/>
              <a:t>?</a:t>
            </a:r>
            <a:endParaRPr lang="pl-PL" dirty="0"/>
          </a:p>
          <a:p>
            <a:pPr marL="182880" lvl="0" indent="-154940" algn="l" rtl="0">
              <a:spcBef>
                <a:spcPts val="0"/>
              </a:spcBef>
              <a:spcAft>
                <a:spcPts val="0"/>
              </a:spcAft>
              <a:buSzPts val="1000"/>
              <a:buChar char="●"/>
            </a:pPr>
            <a:r>
              <a:rPr lang="en" dirty="0"/>
              <a:t> The week went well this time.</a:t>
            </a:r>
            <a:endParaRPr dirty="0"/>
          </a:p>
          <a:p>
            <a:pPr marL="182880" lvl="0" indent="-154940" algn="l" rtl="0">
              <a:spcBef>
                <a:spcPts val="0"/>
              </a:spcBef>
              <a:spcAft>
                <a:spcPts val="0"/>
              </a:spcAft>
              <a:buSzPts val="1000"/>
              <a:buChar char="●"/>
            </a:pPr>
            <a:r>
              <a:rPr lang="en" b="1" dirty="0"/>
              <a:t>What went well? </a:t>
            </a:r>
            <a:endParaRPr lang="pl-PL" b="1" dirty="0"/>
          </a:p>
          <a:p>
            <a:pPr marL="182880" lvl="0" indent="-154940" algn="l" rtl="0">
              <a:spcBef>
                <a:spcPts val="0"/>
              </a:spcBef>
              <a:spcAft>
                <a:spcPts val="0"/>
              </a:spcAft>
              <a:buSzPts val="1000"/>
              <a:buChar char="●"/>
            </a:pPr>
            <a:r>
              <a:rPr lang="en-GB" dirty="0"/>
              <a:t>I got a lot of work done.</a:t>
            </a:r>
            <a:endParaRPr dirty="0"/>
          </a:p>
          <a:p>
            <a:pPr marL="182880" lvl="0" indent="-154940" algn="l" rtl="0">
              <a:spcBef>
                <a:spcPts val="0"/>
              </a:spcBef>
              <a:spcAft>
                <a:spcPts val="0"/>
              </a:spcAft>
              <a:buSzPts val="1000"/>
              <a:buChar char="●"/>
            </a:pPr>
            <a:r>
              <a:rPr lang="en" b="1" dirty="0"/>
              <a:t>What didn’t go so well? </a:t>
            </a:r>
            <a:endParaRPr lang="pl-PL" b="1" dirty="0"/>
          </a:p>
          <a:p>
            <a:pPr marL="182880" lvl="0" indent="-154940" algn="l" rtl="0">
              <a:spcBef>
                <a:spcPts val="0"/>
              </a:spcBef>
              <a:spcAft>
                <a:spcPts val="0"/>
              </a:spcAft>
              <a:buSzPts val="1000"/>
              <a:buChar char="●"/>
            </a:pPr>
            <a:r>
              <a:rPr lang="en-GB" dirty="0"/>
              <a:t>I did not get everything done and have fallen behind more. I also did not catch up with the unfinished work from the previous weeks.</a:t>
            </a:r>
            <a:endParaRPr dirty="0"/>
          </a:p>
          <a:p>
            <a:pPr marL="182880" lvl="0" indent="-154940" algn="l" rtl="0">
              <a:spcBef>
                <a:spcPts val="0"/>
              </a:spcBef>
              <a:spcAft>
                <a:spcPts val="0"/>
              </a:spcAft>
              <a:buSzPts val="1000"/>
              <a:buChar char="●"/>
            </a:pPr>
            <a:r>
              <a:rPr lang="en" b="1" dirty="0"/>
              <a:t>What did you learn? </a:t>
            </a:r>
            <a:endParaRPr lang="pl-PL" b="1" dirty="0"/>
          </a:p>
          <a:p>
            <a:pPr marL="182880" lvl="0" indent="-154940" algn="l" rtl="0">
              <a:spcBef>
                <a:spcPts val="0"/>
              </a:spcBef>
              <a:spcAft>
                <a:spcPts val="0"/>
              </a:spcAft>
              <a:buSzPts val="1000"/>
              <a:buChar char="●"/>
            </a:pPr>
            <a:r>
              <a:rPr lang="en-GB" dirty="0"/>
              <a:t>I learned more concepts related to machine learning and re-learned the concept and rules of matrices.</a:t>
            </a: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r>
              <a:rPr lang="en" dirty="0"/>
              <a:t>I need to concentrate a bit better buring datalabs as my focus drifts off sometimes.</a:t>
            </a:r>
            <a:endParaRPr lang="pl-PL"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3</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a:t>
            </a:r>
            <a:endParaRPr/>
          </a:p>
        </p:txBody>
      </p:sp>
      <p:sp>
        <p:nvSpPr>
          <p:cNvPr id="4" name="TextBox 3">
            <a:extLst>
              <a:ext uri="{FF2B5EF4-FFF2-40B4-BE49-F238E27FC236}">
                <a16:creationId xmlns:a16="http://schemas.microsoft.com/office/drawing/2014/main" id="{B57E298E-ACB0-12CF-E259-08EB25F8A491}"/>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What goal(s) did you set for this week?</a:t>
            </a:r>
          </a:p>
          <a:p>
            <a:pPr marL="182880" lvl="0" indent="-154940" algn="l" rtl="0">
              <a:spcBef>
                <a:spcPts val="0"/>
              </a:spcBef>
              <a:spcAft>
                <a:spcPts val="0"/>
              </a:spcAft>
              <a:buSzPts val="1000"/>
              <a:buChar char="●"/>
            </a:pPr>
            <a:r>
              <a:rPr lang="en-GB" dirty="0"/>
              <a:t>My goal this week is to mainly prepare for the Python retake on the 16</a:t>
            </a:r>
            <a:r>
              <a:rPr lang="en-GB" baseline="30000" dirty="0"/>
              <a:t>th</a:t>
            </a:r>
            <a:r>
              <a:rPr lang="en-GB" dirty="0"/>
              <a:t>.</a:t>
            </a:r>
            <a:endParaRPr dirty="0"/>
          </a:p>
          <a:p>
            <a:pPr marL="182880" lvl="0" indent="-154940" algn="l" rtl="0">
              <a:spcBef>
                <a:spcPts val="0"/>
              </a:spcBef>
              <a:spcAft>
                <a:spcPts val="0"/>
              </a:spcAft>
              <a:buSzPts val="1000"/>
              <a:buChar char="●"/>
            </a:pPr>
            <a:r>
              <a:rPr lang="en" b="1" dirty="0"/>
              <a:t>What have you actually been able to do?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Showcase the evidence of your progress (production artifacts, short descriptions-links-pictures animated gifs, etc.)</a:t>
            </a:r>
          </a:p>
          <a:p>
            <a:pPr marL="182880" lvl="0" indent="-154940" algn="l" rtl="0">
              <a:spcBef>
                <a:spcPts val="0"/>
              </a:spcBef>
              <a:spcAft>
                <a:spcPts val="0"/>
              </a:spcAft>
              <a:buSzPts val="1000"/>
              <a:buChar char="●"/>
            </a:pPr>
            <a:endParaRPr dirty="0"/>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dirty="0"/>
              <a:t>How did the week go?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went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didn’t go so well?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did you learn? </a:t>
            </a:r>
          </a:p>
          <a:p>
            <a:pPr marL="182880" lvl="0" indent="-154940" algn="l" rtl="0">
              <a:spcBef>
                <a:spcPts val="0"/>
              </a:spcBef>
              <a:spcAft>
                <a:spcPts val="0"/>
              </a:spcAft>
              <a:buSzPts val="1000"/>
              <a:buChar char="●"/>
            </a:pPr>
            <a:endParaRPr dirty="0"/>
          </a:p>
          <a:p>
            <a:pPr marL="182880" lvl="0" indent="-154940" algn="l" rtl="0">
              <a:spcBef>
                <a:spcPts val="0"/>
              </a:spcBef>
              <a:spcAft>
                <a:spcPts val="0"/>
              </a:spcAft>
              <a:buSzPts val="1000"/>
              <a:buChar char="●"/>
            </a:pPr>
            <a:r>
              <a:rPr lang="en" b="1" dirty="0"/>
              <a:t>What could be added as an Action point looking forward to next week?</a:t>
            </a:r>
          </a:p>
          <a:p>
            <a:pPr marL="182880" lvl="0" indent="-154940" algn="l" rtl="0">
              <a:spcBef>
                <a:spcPts val="0"/>
              </a:spcBef>
              <a:spcAft>
                <a:spcPts val="0"/>
              </a:spcAft>
              <a:buSzPts val="1000"/>
              <a:buChar char="●"/>
            </a:pPr>
            <a:endParaRPr dirty="0"/>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999733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4</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4</a:t>
            </a:r>
            <a:endParaRPr/>
          </a:p>
        </p:txBody>
      </p:sp>
      <p:sp>
        <p:nvSpPr>
          <p:cNvPr id="4" name="TextBox 3">
            <a:extLst>
              <a:ext uri="{FF2B5EF4-FFF2-40B4-BE49-F238E27FC236}">
                <a16:creationId xmlns:a16="http://schemas.microsoft.com/office/drawing/2014/main" id="{341C5D24-F975-BDE2-7D7B-0ECA5573EF8A}"/>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3669520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6831408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5</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5</a:t>
            </a:r>
            <a:endParaRPr/>
          </a:p>
        </p:txBody>
      </p:sp>
      <p:sp>
        <p:nvSpPr>
          <p:cNvPr id="4" name="TextBox 3">
            <a:extLst>
              <a:ext uri="{FF2B5EF4-FFF2-40B4-BE49-F238E27FC236}">
                <a16:creationId xmlns:a16="http://schemas.microsoft.com/office/drawing/2014/main" id="{99718CE5-D4B9-5703-2F5D-70C535C4D7E0}"/>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16006896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231630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6</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6</a:t>
            </a:r>
            <a:endParaRPr/>
          </a:p>
        </p:txBody>
      </p:sp>
      <p:sp>
        <p:nvSpPr>
          <p:cNvPr id="4" name="TextBox 3">
            <a:extLst>
              <a:ext uri="{FF2B5EF4-FFF2-40B4-BE49-F238E27FC236}">
                <a16:creationId xmlns:a16="http://schemas.microsoft.com/office/drawing/2014/main" id="{4AB08CE0-9533-DFE2-D89E-D9E289BD7CD8}"/>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23978758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025466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7</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7</a:t>
            </a:r>
            <a:endParaRPr/>
          </a:p>
        </p:txBody>
      </p:sp>
      <p:sp>
        <p:nvSpPr>
          <p:cNvPr id="4" name="TextBox 3">
            <a:extLst>
              <a:ext uri="{FF2B5EF4-FFF2-40B4-BE49-F238E27FC236}">
                <a16:creationId xmlns:a16="http://schemas.microsoft.com/office/drawing/2014/main" id="{8058A61B-E4F8-64BA-11B4-82E7C0FE3D5C}"/>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628294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2"/>
        <p:cNvGrpSpPr/>
        <p:nvPr/>
      </p:nvGrpSpPr>
      <p:grpSpPr>
        <a:xfrm>
          <a:off x="0" y="0"/>
          <a:ext cx="0" cy="0"/>
          <a:chOff x="0" y="0"/>
          <a:chExt cx="0" cy="0"/>
        </a:xfrm>
      </p:grpSpPr>
      <p:sp>
        <p:nvSpPr>
          <p:cNvPr id="223" name="Google Shape;223;p26"/>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Log</a:t>
            </a:r>
            <a:endParaRPr/>
          </a:p>
        </p:txBody>
      </p:sp>
      <p:sp>
        <p:nvSpPr>
          <p:cNvPr id="224" name="Google Shape;224;p26"/>
          <p:cNvSpPr txBox="1">
            <a:spLocks noGrp="1"/>
          </p:cNvSpPr>
          <p:nvPr>
            <p:ph type="subTitle" idx="4"/>
          </p:nvPr>
        </p:nvSpPr>
        <p:spPr>
          <a:xfrm>
            <a:off x="4663440" y="758952"/>
            <a:ext cx="42978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a:t>
            </a:r>
            <a:endParaRPr/>
          </a:p>
        </p:txBody>
      </p:sp>
      <p:sp>
        <p:nvSpPr>
          <p:cNvPr id="225" name="Google Shape;225;p26"/>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What did you do?</a:t>
            </a:r>
            <a:endParaRPr/>
          </a:p>
        </p:txBody>
      </p:sp>
      <p:sp>
        <p:nvSpPr>
          <p:cNvPr id="226" name="Google Shape;226;p26"/>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What goal(s) did you set for this week?</a:t>
            </a:r>
            <a:endParaRPr/>
          </a:p>
          <a:p>
            <a:pPr marL="182880" lvl="0" indent="-154940" algn="l" rtl="0">
              <a:spcBef>
                <a:spcPts val="0"/>
              </a:spcBef>
              <a:spcAft>
                <a:spcPts val="0"/>
              </a:spcAft>
              <a:buSzPts val="1000"/>
              <a:buChar char="●"/>
            </a:pPr>
            <a:r>
              <a:rPr lang="en"/>
              <a:t>What have you actually been able to do? </a:t>
            </a:r>
            <a:endParaRPr/>
          </a:p>
          <a:p>
            <a:pPr marL="182880" lvl="0" indent="-154940" algn="l" rtl="0">
              <a:spcBef>
                <a:spcPts val="0"/>
              </a:spcBef>
              <a:spcAft>
                <a:spcPts val="0"/>
              </a:spcAft>
              <a:buSzPts val="1000"/>
              <a:buChar char="●"/>
            </a:pPr>
            <a:r>
              <a:rPr lang="en"/>
              <a:t>Showcase the evidence of your progress (production artifacts, short descriptions-links-pictures animated gifs, etc.)</a:t>
            </a:r>
            <a:endParaRPr/>
          </a:p>
        </p:txBody>
      </p:sp>
      <p:sp>
        <p:nvSpPr>
          <p:cNvPr id="227" name="Google Shape;227;p26"/>
          <p:cNvSpPr txBox="1">
            <a:spLocks noGrp="1"/>
          </p:cNvSpPr>
          <p:nvPr>
            <p:ph type="body" idx="3"/>
          </p:nvPr>
        </p:nvSpPr>
        <p:spPr>
          <a:xfrm>
            <a:off x="4663450" y="1152698"/>
            <a:ext cx="4297800" cy="16257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a:t>How did the week go? </a:t>
            </a:r>
            <a:endParaRPr/>
          </a:p>
          <a:p>
            <a:pPr marL="182880" lvl="0" indent="-154940" algn="l" rtl="0">
              <a:spcBef>
                <a:spcPts val="0"/>
              </a:spcBef>
              <a:spcAft>
                <a:spcPts val="0"/>
              </a:spcAft>
              <a:buSzPts val="1000"/>
              <a:buChar char="●"/>
            </a:pPr>
            <a:r>
              <a:rPr lang="en"/>
              <a:t>What went well? </a:t>
            </a:r>
            <a:endParaRPr/>
          </a:p>
          <a:p>
            <a:pPr marL="182880" lvl="0" indent="-154940" algn="l" rtl="0">
              <a:spcBef>
                <a:spcPts val="0"/>
              </a:spcBef>
              <a:spcAft>
                <a:spcPts val="0"/>
              </a:spcAft>
              <a:buSzPts val="1000"/>
              <a:buChar char="●"/>
            </a:pPr>
            <a:r>
              <a:rPr lang="en"/>
              <a:t>What didn’t go so well? </a:t>
            </a:r>
            <a:endParaRPr/>
          </a:p>
          <a:p>
            <a:pPr marL="182880" lvl="0" indent="-154940" algn="l" rtl="0">
              <a:spcBef>
                <a:spcPts val="0"/>
              </a:spcBef>
              <a:spcAft>
                <a:spcPts val="0"/>
              </a:spcAft>
              <a:buSzPts val="1000"/>
              <a:buChar char="●"/>
            </a:pPr>
            <a:r>
              <a:rPr lang="en"/>
              <a:t>What did you learn? </a:t>
            </a:r>
            <a:endParaRPr/>
          </a:p>
          <a:p>
            <a:pPr marL="182880" lvl="0" indent="-154940" algn="l" rtl="0">
              <a:spcBef>
                <a:spcPts val="0"/>
              </a:spcBef>
              <a:spcAft>
                <a:spcPts val="0"/>
              </a:spcAft>
              <a:buSzPts val="1000"/>
              <a:buChar char="●"/>
            </a:pPr>
            <a:r>
              <a:rPr lang="en"/>
              <a:t>What could be added as an Action point looking forward to next week?</a:t>
            </a:r>
            <a:endParaRPr/>
          </a:p>
        </p:txBody>
      </p:sp>
      <p:sp>
        <p:nvSpPr>
          <p:cNvPr id="228" name="Google Shape;228;p26"/>
          <p:cNvSpPr txBox="1">
            <a:spLocks noGrp="1"/>
          </p:cNvSpPr>
          <p:nvPr>
            <p:ph type="title" idx="6"/>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a:t>
            </a:r>
            <a:r>
              <a:rPr lang="en-NL"/>
              <a:t>2</a:t>
            </a:r>
            <a:endParaRPr/>
          </a:p>
        </p:txBody>
      </p:sp>
      <p:sp>
        <p:nvSpPr>
          <p:cNvPr id="229" name="Google Shape;229;p26"/>
          <p:cNvSpPr txBox="1">
            <a:spLocks noGrp="1"/>
          </p:cNvSpPr>
          <p:nvPr>
            <p:ph type="title" idx="5"/>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230" name="Google Shape;230;p26"/>
          <p:cNvSpPr/>
          <p:nvPr/>
        </p:nvSpPr>
        <p:spPr>
          <a:xfrm>
            <a:off x="0" y="576072"/>
            <a:ext cx="9144000" cy="91500"/>
          </a:xfrm>
          <a:prstGeom prst="rect">
            <a:avLst/>
          </a:prstGeom>
          <a:solidFill>
            <a:srgbClr val="66666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682021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6"/>
        <p:cNvGrpSpPr/>
        <p:nvPr/>
      </p:nvGrpSpPr>
      <p:grpSpPr>
        <a:xfrm>
          <a:off x="0" y="0"/>
          <a:ext cx="0" cy="0"/>
          <a:chOff x="0" y="0"/>
          <a:chExt cx="0" cy="0"/>
        </a:xfrm>
      </p:grpSpPr>
      <p:sp>
        <p:nvSpPr>
          <p:cNvPr id="237" name="Google Shape;237;p27"/>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Week </a:t>
            </a:r>
            <a:r>
              <a:rPr lang="en-NL"/>
              <a:t>8</a:t>
            </a:r>
            <a:r>
              <a:rPr lang="en"/>
              <a:t> - Feedback</a:t>
            </a:r>
            <a:endParaRPr/>
          </a:p>
        </p:txBody>
      </p:sp>
      <p:sp>
        <p:nvSpPr>
          <p:cNvPr id="238" name="Google Shape;238;p27"/>
          <p:cNvSpPr txBox="1">
            <a:spLocks noGrp="1"/>
          </p:cNvSpPr>
          <p:nvPr>
            <p:ph type="subTitle" idx="1"/>
          </p:nvPr>
        </p:nvSpPr>
        <p:spPr>
          <a:xfrm>
            <a:off x="186167" y="758952"/>
            <a:ext cx="4294500" cy="3939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Team, individual, peer, workshop feedback</a:t>
            </a:r>
            <a:endParaRPr/>
          </a:p>
        </p:txBody>
      </p:sp>
      <p:sp>
        <p:nvSpPr>
          <p:cNvPr id="239" name="Google Shape;239;p27"/>
          <p:cNvSpPr txBox="1">
            <a:spLocks noGrp="1"/>
          </p:cNvSpPr>
          <p:nvPr>
            <p:ph type="body" idx="2"/>
          </p:nvPr>
        </p:nvSpPr>
        <p:spPr>
          <a:xfrm>
            <a:off x="182875" y="1152697"/>
            <a:ext cx="4294500" cy="3812400"/>
          </a:xfrm>
          <a:prstGeom prst="rect">
            <a:avLst/>
          </a:prstGeom>
        </p:spPr>
        <p:txBody>
          <a:bodyPr spcFirstLastPara="1" wrap="square" lIns="91425" tIns="91425" rIns="91425" bIns="91425" anchor="t" anchorCtr="0">
            <a:noAutofit/>
          </a:bodyPr>
          <a:lstStyle/>
          <a:p>
            <a:pPr marL="182880" lvl="0" indent="-154940" algn="l" rtl="0">
              <a:spcBef>
                <a:spcPts val="0"/>
              </a:spcBef>
              <a:spcAft>
                <a:spcPts val="0"/>
              </a:spcAft>
              <a:buSzPts val="1000"/>
              <a:buChar char="●"/>
            </a:pPr>
            <a:r>
              <a:rPr lang="en" b="1"/>
              <a:t>[Reviewer]</a:t>
            </a:r>
            <a:r>
              <a:rPr lang="en"/>
              <a:t> Feedback</a:t>
            </a:r>
            <a:endParaRPr/>
          </a:p>
          <a:p>
            <a:pPr marL="0" lvl="0" indent="0" algn="l" rtl="0">
              <a:spcBef>
                <a:spcPts val="800"/>
              </a:spcBef>
              <a:spcAft>
                <a:spcPts val="800"/>
              </a:spcAft>
              <a:buNone/>
            </a:pPr>
            <a:r>
              <a:rPr lang="en"/>
              <a:t>Response</a:t>
            </a:r>
            <a:endParaRPr/>
          </a:p>
        </p:txBody>
      </p:sp>
      <p:sp>
        <p:nvSpPr>
          <p:cNvPr id="240" name="Google Shape;240;p27"/>
          <p:cNvSpPr txBox="1">
            <a:spLocks noGrp="1"/>
          </p:cNvSpPr>
          <p:nvPr>
            <p:ph type="title" idx="4"/>
          </p:nvPr>
        </p:nvSpPr>
        <p:spPr>
          <a:xfrm>
            <a:off x="7068300" y="165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NL"/>
              <a:t>2</a:t>
            </a:r>
            <a:endParaRPr/>
          </a:p>
        </p:txBody>
      </p:sp>
      <p:sp>
        <p:nvSpPr>
          <p:cNvPr id="241" name="Google Shape;241;p27"/>
          <p:cNvSpPr txBox="1">
            <a:spLocks noGrp="1"/>
          </p:cNvSpPr>
          <p:nvPr>
            <p:ph type="title" idx="3"/>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8</a:t>
            </a:r>
            <a:endParaRPr/>
          </a:p>
        </p:txBody>
      </p:sp>
      <p:sp>
        <p:nvSpPr>
          <p:cNvPr id="4" name="TextBox 3">
            <a:extLst>
              <a:ext uri="{FF2B5EF4-FFF2-40B4-BE49-F238E27FC236}">
                <a16:creationId xmlns:a16="http://schemas.microsoft.com/office/drawing/2014/main" id="{E4C397CE-AA8E-75FA-B537-08E4745DD9B7}"/>
              </a:ext>
            </a:extLst>
          </p:cNvPr>
          <p:cNvSpPr txBox="1"/>
          <p:nvPr/>
        </p:nvSpPr>
        <p:spPr>
          <a:xfrm>
            <a:off x="6549885" y="4713633"/>
            <a:ext cx="2496587" cy="253916"/>
          </a:xfrm>
          <a:prstGeom prst="rect">
            <a:avLst/>
          </a:prstGeom>
          <a:solidFill>
            <a:schemeClr val="bg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50">
                <a:hlinkClick r:id="rId3"/>
              </a:rPr>
              <a:t>Click for feedback delivery techniques!</a:t>
            </a:r>
          </a:p>
        </p:txBody>
      </p:sp>
    </p:spTree>
    <p:extLst>
      <p:ext uri="{BB962C8B-B14F-4D97-AF65-F5344CB8AC3E}">
        <p14:creationId xmlns:p14="http://schemas.microsoft.com/office/powerpoint/2010/main" val="36579777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38"/>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C</a:t>
            </a:r>
            <a:endParaRPr sz="6000"/>
          </a:p>
        </p:txBody>
      </p:sp>
      <p:sp>
        <p:nvSpPr>
          <p:cNvPr id="357" name="Google Shape;357;p38"/>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Progress</a:t>
            </a:r>
            <a:endParaRPr/>
          </a:p>
          <a:p>
            <a:pPr marL="0" lvl="0" indent="0" algn="ctr" rtl="0">
              <a:spcBef>
                <a:spcPts val="0"/>
              </a:spcBef>
              <a:spcAft>
                <a:spcPts val="0"/>
              </a:spcAft>
              <a:buNone/>
            </a:pPr>
            <a:r>
              <a:rPr lang="en"/>
              <a:t>Intended Learning Outcomes</a:t>
            </a:r>
            <a:endParaRPr sz="3000"/>
          </a:p>
        </p:txBody>
      </p:sp>
      <p:sp>
        <p:nvSpPr>
          <p:cNvPr id="358" name="Google Shape;358;p38"/>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C</a:t>
            </a:r>
            <a:endParaRPr sz="40000">
              <a:solidFill>
                <a:srgbClr val="999999"/>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0.2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Foundational skills</a:t>
            </a:r>
            <a:endParaRP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pPr marL="0" indent="0"/>
            <a:r>
              <a:rPr lang="en-US"/>
              <a:t>The student masters the foundational skills and knowledge that form the basis of Data Science and Artificial Intelligence.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0</a:t>
            </a:r>
            <a:endParaRPr sz="40000">
              <a:solidFill>
                <a:srgbClr val="999999"/>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0</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indent="0"/>
            <a:r>
              <a:rPr lang="en-US" sz="1050"/>
              <a:t>The student masters the foundational skills and knowledge that form the basis of Data Science and Artificial Intelligence.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0.2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demonstrate an advanced understanding of python programming concepts and basics of SQL.</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Foundational skills</a:t>
            </a:r>
            <a:endParaRPr sz="900"/>
          </a:p>
        </p:txBody>
      </p:sp>
      <p:graphicFrame>
        <p:nvGraphicFramePr>
          <p:cNvPr id="4" name="Table 3">
            <a:extLst>
              <a:ext uri="{FF2B5EF4-FFF2-40B4-BE49-F238E27FC236}">
                <a16:creationId xmlns:a16="http://schemas.microsoft.com/office/drawing/2014/main" id="{88237E1D-86A5-F036-5877-8DE06B55CF72}"/>
              </a:ext>
            </a:extLst>
          </p:cNvPr>
          <p:cNvGraphicFramePr>
            <a:graphicFrameLocks noGrp="1"/>
          </p:cNvGraphicFramePr>
          <p:nvPr>
            <p:extLst>
              <p:ext uri="{D42A27DB-BD31-4B8C-83A1-F6EECF244321}">
                <p14:modId xmlns:p14="http://schemas.microsoft.com/office/powerpoint/2010/main" val="4185191198"/>
              </p:ext>
            </p:extLst>
          </p:nvPr>
        </p:nvGraphicFramePr>
        <p:xfrm>
          <a:off x="0" y="1069800"/>
          <a:ext cx="9139639" cy="4872981"/>
        </p:xfrm>
        <a:graphic>
          <a:graphicData uri="http://schemas.openxmlformats.org/drawingml/2006/table">
            <a:tbl>
              <a:tblPr/>
              <a:tblGrid>
                <a:gridCol w="1827039">
                  <a:extLst>
                    <a:ext uri="{9D8B030D-6E8A-4147-A177-3AD203B41FA5}">
                      <a16:colId xmlns:a16="http://schemas.microsoft.com/office/drawing/2014/main" val="155233656"/>
                    </a:ext>
                  </a:extLst>
                </a:gridCol>
                <a:gridCol w="1462520">
                  <a:extLst>
                    <a:ext uri="{9D8B030D-6E8A-4147-A177-3AD203B41FA5}">
                      <a16:colId xmlns:a16="http://schemas.microsoft.com/office/drawing/2014/main" val="2278356070"/>
                    </a:ext>
                  </a:extLst>
                </a:gridCol>
                <a:gridCol w="1462520">
                  <a:extLst>
                    <a:ext uri="{9D8B030D-6E8A-4147-A177-3AD203B41FA5}">
                      <a16:colId xmlns:a16="http://schemas.microsoft.com/office/drawing/2014/main" val="1234828313"/>
                    </a:ext>
                  </a:extLst>
                </a:gridCol>
                <a:gridCol w="1462520">
                  <a:extLst>
                    <a:ext uri="{9D8B030D-6E8A-4147-A177-3AD203B41FA5}">
                      <a16:colId xmlns:a16="http://schemas.microsoft.com/office/drawing/2014/main" val="2890251847"/>
                    </a:ext>
                  </a:extLst>
                </a:gridCol>
                <a:gridCol w="1462520">
                  <a:extLst>
                    <a:ext uri="{9D8B030D-6E8A-4147-A177-3AD203B41FA5}">
                      <a16:colId xmlns:a16="http://schemas.microsoft.com/office/drawing/2014/main" val="2105771382"/>
                    </a:ext>
                  </a:extLst>
                </a:gridCol>
                <a:gridCol w="1462520">
                  <a:extLst>
                    <a:ext uri="{9D8B030D-6E8A-4147-A177-3AD203B41FA5}">
                      <a16:colId xmlns:a16="http://schemas.microsoft.com/office/drawing/2014/main" val="1029514408"/>
                    </a:ext>
                  </a:extLst>
                </a:gridCol>
              </a:tblGrid>
              <a:tr h="407371">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D0D0D0"/>
                    </a:solidFill>
                  </a:tcPr>
                </a:tc>
                <a:extLst>
                  <a:ext uri="{0D108BD9-81ED-4DB2-BD59-A6C34878D82A}">
                    <a16:rowId xmlns:a16="http://schemas.microsoft.com/office/drawing/2014/main" val="537700777"/>
                  </a:ext>
                </a:extLst>
              </a:tr>
              <a:tr h="1101977">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EF2CD"/>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endParaRPr lang="en-US" sz="1000" b="0" i="0" u="none" strike="noStrike">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demonstrate an understanding of the concept of working directory, file types and file structures in Python.</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perform basic data cleansing activities in Python with or without using packages. Additionally, the student is able to demonstrate significant understanding of </a:t>
                      </a:r>
                      <a:r>
                        <a:rPr lang="en-US" sz="1000" b="0" i="0" u="none" strike="noStrike" noProof="0" err="1">
                          <a:solidFill>
                            <a:srgbClr val="000000"/>
                          </a:solidFill>
                          <a:effectLst/>
                          <a:highlight>
                            <a:srgbClr val="FFE1CC"/>
                          </a:highlight>
                          <a:latin typeface="Calibri"/>
                        </a:rPr>
                        <a:t>Numpy</a:t>
                      </a:r>
                      <a:r>
                        <a:rPr lang="en-US" sz="1000" b="0" i="0" u="none" strike="noStrike" noProof="0">
                          <a:solidFill>
                            <a:srgbClr val="000000"/>
                          </a:solidFill>
                          <a:effectLst/>
                          <a:highlight>
                            <a:srgbClr val="FFE1CC"/>
                          </a:highlight>
                          <a:latin typeface="Calibri"/>
                        </a:rPr>
                        <a: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design reports and visuals (e.g., using matplotlib, </a:t>
                      </a:r>
                      <a:r>
                        <a:rPr lang="en-US" sz="1000" b="0" i="0" u="none" strike="noStrike" noProof="0" err="1">
                          <a:solidFill>
                            <a:srgbClr val="000000"/>
                          </a:solidFill>
                          <a:effectLst/>
                          <a:highlight>
                            <a:srgbClr val="FFE1CC"/>
                          </a:highlight>
                          <a:latin typeface="Calibri"/>
                        </a:rPr>
                        <a:t>Streamlit</a:t>
                      </a:r>
                      <a:r>
                        <a:rPr lang="en-US" sz="1000" b="0" i="0" u="none" strike="noStrike" noProof="0">
                          <a:solidFill>
                            <a:srgbClr val="000000"/>
                          </a:solidFill>
                          <a:effectLst/>
                          <a:highlight>
                            <a:srgbClr val="FFE1CC"/>
                          </a:highlight>
                          <a:latin typeface="Calibri"/>
                        </a:rPr>
                        <a:t> ) based on the merged datasets which help providing valuable and actionable insights.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demonstrates the capability to establish a connection between Python and a database,  perform basic ETL operations such as read/write.</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join two different tables using SQL and uses this to fulfill the requirements of creative brief.</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1364420496"/>
                  </a:ext>
                </a:extLst>
              </a:tr>
              <a:tr h="2631687">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r>
                        <a:rPr lang="en-US" sz="1800" b="1" i="0" u="none" strike="noStrike">
                          <a:solidFill>
                            <a:schemeClr val="tx1">
                              <a:lumMod val="75000"/>
                            </a:schemeClr>
                          </a:solidFill>
                          <a:effectLst/>
                          <a:highlight>
                            <a:srgbClr val="FEF2CD"/>
                          </a:highlight>
                          <a:latin typeface="Calibri"/>
                        </a:rPr>
                        <a:t>Justification +Links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977052830"/>
                  </a:ext>
                </a:extLst>
              </a:tr>
            </a:tbl>
          </a:graphicData>
        </a:graphic>
      </p:graphicFrame>
    </p:spTree>
    <p:extLst>
      <p:ext uri="{BB962C8B-B14F-4D97-AF65-F5344CB8AC3E}">
        <p14:creationId xmlns:p14="http://schemas.microsoft.com/office/powerpoint/2010/main" val="3132603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Professional practice</a:t>
            </a:r>
            <a:endParaRPr/>
          </a:p>
        </p:txBody>
      </p:sp>
      <p:sp>
        <p:nvSpPr>
          <p:cNvPr id="365" name="Google Shape;365;p39"/>
          <p:cNvSpPr txBox="1">
            <a:spLocks noGrp="1"/>
          </p:cNvSpPr>
          <p:nvPr>
            <p:ph type="subTitle" idx="2"/>
          </p:nvPr>
        </p:nvSpPr>
        <p:spPr>
          <a:xfrm>
            <a:off x="2735580" y="3353563"/>
            <a:ext cx="5951220" cy="685800"/>
          </a:xfrm>
          <a:prstGeom prst="rect">
            <a:avLst/>
          </a:prstGeom>
        </p:spPr>
        <p:txBody>
          <a:bodyPr spcFirstLastPara="1" wrap="square" lIns="91425" tIns="91425" rIns="91425" bIns="91425" anchor="ctr" anchorCtr="0">
            <a:noAutofit/>
          </a:bodyPr>
          <a:lstStyle/>
          <a:p>
            <a:pPr marL="0" indent="0"/>
            <a:r>
              <a:rPr lang="en-US"/>
              <a:t> 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811038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755326" cy="576000"/>
          </a:xfrm>
          <a:prstGeom prst="rect">
            <a:avLst/>
          </a:prstGeom>
        </p:spPr>
        <p:txBody>
          <a:bodyPr spcFirstLastPara="1" wrap="square" lIns="91425" tIns="91425" rIns="91425" bIns="91425" anchor="ctr" anchorCtr="0">
            <a:noAutofit/>
          </a:bodyPr>
          <a:lstStyle/>
          <a:p>
            <a:pPr marL="0" indent="0"/>
            <a:r>
              <a:rPr lang="en-US"/>
              <a:t>The student can collaborate (internationally) in multidisciplinary teams with different levels of knowledge in the field of data use and applications. They can set up and execute projects in collaboration with stakeholders and team members. They can act as a sounding board in discussions with team members, customers, users and experts. They strive for a good balance between input of their own vision and additional expertise of others. They are able to lead a team. </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1.2</a:t>
            </a: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 accurately tracks time spent on planned and unplanned work, noting reasons for and consequences of deviations from the planned objectives. </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Professional practice</a:t>
            </a:r>
            <a:endParaRPr sz="900"/>
          </a:p>
        </p:txBody>
      </p:sp>
      <p:graphicFrame>
        <p:nvGraphicFramePr>
          <p:cNvPr id="3" name="Table 2">
            <a:extLst>
              <a:ext uri="{FF2B5EF4-FFF2-40B4-BE49-F238E27FC236}">
                <a16:creationId xmlns:a16="http://schemas.microsoft.com/office/drawing/2014/main" id="{5A5D76DD-780A-47E4-7E54-A7A840FD7EAC}"/>
              </a:ext>
            </a:extLst>
          </p:cNvPr>
          <p:cNvGraphicFramePr>
            <a:graphicFrameLocks noGrp="1"/>
          </p:cNvGraphicFramePr>
          <p:nvPr>
            <p:extLst>
              <p:ext uri="{D42A27DB-BD31-4B8C-83A1-F6EECF244321}">
                <p14:modId xmlns:p14="http://schemas.microsoft.com/office/powerpoint/2010/main" val="3440348285"/>
              </p:ext>
            </p:extLst>
          </p:nvPr>
        </p:nvGraphicFramePr>
        <p:xfrm>
          <a:off x="0" y="1069800"/>
          <a:ext cx="9144001" cy="4073700"/>
        </p:xfrm>
        <a:graphic>
          <a:graphicData uri="http://schemas.openxmlformats.org/drawingml/2006/table">
            <a:tbl>
              <a:tblPr/>
              <a:tblGrid>
                <a:gridCol w="1520946">
                  <a:extLst>
                    <a:ext uri="{9D8B030D-6E8A-4147-A177-3AD203B41FA5}">
                      <a16:colId xmlns:a16="http://schemas.microsoft.com/office/drawing/2014/main" val="2828626719"/>
                    </a:ext>
                  </a:extLst>
                </a:gridCol>
                <a:gridCol w="1502622">
                  <a:extLst>
                    <a:ext uri="{9D8B030D-6E8A-4147-A177-3AD203B41FA5}">
                      <a16:colId xmlns:a16="http://schemas.microsoft.com/office/drawing/2014/main" val="2163814410"/>
                    </a:ext>
                  </a:extLst>
                </a:gridCol>
                <a:gridCol w="1557595">
                  <a:extLst>
                    <a:ext uri="{9D8B030D-6E8A-4147-A177-3AD203B41FA5}">
                      <a16:colId xmlns:a16="http://schemas.microsoft.com/office/drawing/2014/main" val="1982883818"/>
                    </a:ext>
                  </a:extLst>
                </a:gridCol>
                <a:gridCol w="1520946">
                  <a:extLst>
                    <a:ext uri="{9D8B030D-6E8A-4147-A177-3AD203B41FA5}">
                      <a16:colId xmlns:a16="http://schemas.microsoft.com/office/drawing/2014/main" val="288988014"/>
                    </a:ext>
                  </a:extLst>
                </a:gridCol>
                <a:gridCol w="1520946">
                  <a:extLst>
                    <a:ext uri="{9D8B030D-6E8A-4147-A177-3AD203B41FA5}">
                      <a16:colId xmlns:a16="http://schemas.microsoft.com/office/drawing/2014/main" val="1128064345"/>
                    </a:ext>
                  </a:extLst>
                </a:gridCol>
                <a:gridCol w="1520946">
                  <a:extLst>
                    <a:ext uri="{9D8B030D-6E8A-4147-A177-3AD203B41FA5}">
                      <a16:colId xmlns:a16="http://schemas.microsoft.com/office/drawing/2014/main" val="1683564814"/>
                    </a:ext>
                  </a:extLst>
                </a:gridCol>
              </a:tblGrid>
              <a:tr h="192777">
                <a:tc>
                  <a:txBody>
                    <a:bodyPr/>
                    <a:lstStyle/>
                    <a:p>
                      <a:pPr algn="ctr" fontAlgn="ctr"/>
                      <a:r>
                        <a:rPr lang="en-US" sz="1000" b="1" i="0" u="none" strike="noStrike">
                          <a:solidFill>
                            <a:srgbClr val="000000"/>
                          </a:solidFill>
                          <a:effectLst/>
                          <a:highlight>
                            <a:srgbClr val="D0D0D0"/>
                          </a:highlight>
                          <a:latin typeface="Calibri"/>
                        </a:rPr>
                        <a:t>pre-requisites</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2)</a:t>
                      </a:r>
                      <a:endParaRPr lang="en-US" sz="1000">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4251399548"/>
                  </a:ext>
                </a:extLst>
              </a:tr>
              <a:tr h="2091709">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noProof="0">
                        <a:latin typeface="Calibri"/>
                      </a:endParaRPr>
                    </a:p>
                    <a:p>
                      <a:pPr lvl="0" algn="l">
                        <a:buNone/>
                      </a:pPr>
                      <a:endParaRPr lang="en-US" sz="1000" b="0" i="0" u="none" strike="noStrike">
                        <a:solidFill>
                          <a:srgbClr val="000000"/>
                        </a:solidFill>
                        <a:effectLst/>
                        <a:highlight>
                          <a:srgbClr val="FEF2CD"/>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outlines the completed tasks in the worklog, with detailed comments provided where necessary.</a:t>
                      </a: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writes professional and critical reflections with time-tracking and identifying key lessons.</a:t>
                      </a:r>
                      <a:endParaRPr lang="en-US" sz="1000" noProof="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fills out the worklog for each of the weeks.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includes all references to important resources in the worklog for the listed tasks. </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student's writing style in worklog is professional and free of spelling and grammar mistakes. The student comprehends what was completed and why individual and project feedback was given. </a:t>
                      </a:r>
                      <a:endParaRPr lang="en-US" sz="1000" noProof="0">
                        <a:latin typeface="Calibri"/>
                      </a:endParaRPr>
                    </a:p>
                    <a:p>
                      <a:pPr lvl="0" algn="l">
                        <a:buNone/>
                      </a:pPr>
                      <a:endParaRPr lang="en-US" sz="1000" b="0" i="0" u="none" strike="noStrike">
                        <a:solidFill>
                          <a:srgbClr val="000000"/>
                        </a:solidFill>
                        <a:effectLst/>
                        <a:highlight>
                          <a:srgbClr val="FFE1CC"/>
                        </a:highlight>
                        <a:latin typeface="Calibri"/>
                      </a:endParaRP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871622024"/>
                  </a:ext>
                </a:extLst>
              </a:tr>
              <a:tr h="1789214">
                <a:tc>
                  <a:txBody>
                    <a:bodyPr/>
                    <a:lstStyle/>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endParaRPr lang="en-US" sz="1800" b="1" i="0" u="none" strike="noStrike">
                        <a:solidFill>
                          <a:schemeClr val="tx1">
                            <a:lumMod val="75000"/>
                          </a:schemeClr>
                        </a:solidFill>
                        <a:effectLst/>
                        <a:highlight>
                          <a:srgbClr val="FEF2CD"/>
                        </a:highlight>
                        <a:latin typeface="Calibri"/>
                      </a:endParaRPr>
                    </a:p>
                    <a:p>
                      <a:pPr lvl="0" algn="ctr" rtl="0">
                        <a:buNone/>
                      </a:pPr>
                      <a:r>
                        <a:rPr lang="en-US" sz="1800" b="1" i="0" u="none" strike="noStrike">
                          <a:solidFill>
                            <a:schemeClr val="tx1">
                              <a:lumMod val="75000"/>
                            </a:schemeClr>
                          </a:solidFill>
                          <a:effectLst/>
                          <a:highlight>
                            <a:srgbClr val="FEF2CD"/>
                          </a:highlight>
                          <a:latin typeface="Calibri"/>
                        </a:rPr>
                        <a:t>Justification +Links</a:t>
                      </a:r>
                      <a:endParaRPr lang="en-US"/>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lnSpc>
                          <a:spcPct val="100000"/>
                        </a:lnSpc>
                        <a:spcBef>
                          <a:spcPts val="0"/>
                        </a:spcBef>
                        <a:spcAft>
                          <a:spcPts val="0"/>
                        </a:spcAft>
                        <a:buNone/>
                      </a:pPr>
                      <a:endParaRPr lang="en-US" sz="1800" b="1" i="0" u="none" strike="noStrike" noProof="0" dirty="0">
                        <a:solidFill>
                          <a:schemeClr val="tx1">
                            <a:lumMod val="75000"/>
                          </a:schemeClr>
                        </a:solidFill>
                        <a:effectLst/>
                        <a:highlight>
                          <a:srgbClr val="FEF2CD"/>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a:solidFill>
                            <a:schemeClr val="tx1">
                              <a:lumMod val="75000"/>
                            </a:schemeClr>
                          </a:solidFill>
                          <a:effectLst/>
                          <a:highlight>
                            <a:srgbClr val="FEF2CD"/>
                          </a:highlight>
                          <a:latin typeface="Calibri"/>
                        </a:rPr>
                        <a:t>Justification +Links</a:t>
                      </a:r>
                      <a:endParaRPr lang="en-US" sz="1800" b="0" i="0" u="none" strike="noStrike" noProof="0">
                        <a:solidFill>
                          <a:srgbClr val="4285F4"/>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tc>
                  <a:txBody>
                    <a:bodyPr/>
                    <a:lstStyle/>
                    <a:p>
                      <a:pPr lvl="0" algn="ctr">
                        <a:lnSpc>
                          <a:spcPct val="100000"/>
                        </a:lnSpc>
                        <a:spcBef>
                          <a:spcPts val="0"/>
                        </a:spcBef>
                        <a:spcAft>
                          <a:spcPts val="0"/>
                        </a:spcAft>
                        <a:buNone/>
                      </a:pPr>
                      <a:r>
                        <a:rPr lang="en-US" sz="1800" b="1" i="0" u="none" strike="noStrike" noProof="0" dirty="0">
                          <a:solidFill>
                            <a:schemeClr val="tx1">
                              <a:lumMod val="75000"/>
                            </a:schemeClr>
                          </a:solidFill>
                          <a:effectLst/>
                          <a:highlight>
                            <a:srgbClr val="FEF2CD"/>
                          </a:highlight>
                          <a:latin typeface="Calibri"/>
                        </a:rPr>
                        <a:t>Justification +Links</a:t>
                      </a:r>
                      <a:endParaRPr lang="en-US" sz="1800" b="0" i="0" u="none" strike="noStrike" noProof="0" dirty="0">
                        <a:solidFill>
                          <a:srgbClr val="4285F4"/>
                        </a:solidFill>
                        <a:effectLst/>
                        <a:highlight>
                          <a:srgbClr val="FFE1CC"/>
                        </a:highlight>
                        <a:latin typeface="Calibri"/>
                      </a:endParaRPr>
                    </a:p>
                    <a:p>
                      <a:pPr lvl="0" algn="ctr">
                        <a:buNone/>
                      </a:pPr>
                      <a:endParaRPr lang="en-US" sz="1800" b="1" i="0" u="none" strike="noStrike" dirty="0">
                        <a:solidFill>
                          <a:schemeClr val="tx1">
                            <a:lumMod val="75000"/>
                          </a:schemeClr>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a:solidFill>
                        <a:srgbClr val="000000"/>
                      </a:solidFill>
                    </a:lnB>
                    <a:solidFill>
                      <a:srgbClr val="FFE1CC"/>
                    </a:solidFill>
                  </a:tcPr>
                </a:tc>
                <a:extLst>
                  <a:ext uri="{0D108BD9-81ED-4DB2-BD59-A6C34878D82A}">
                    <a16:rowId xmlns:a16="http://schemas.microsoft.com/office/drawing/2014/main" val="2843461618"/>
                  </a:ext>
                </a:extLst>
              </a:tr>
            </a:tbl>
          </a:graphicData>
        </a:graphic>
      </p:graphicFrame>
    </p:spTree>
    <p:extLst>
      <p:ext uri="{BB962C8B-B14F-4D97-AF65-F5344CB8AC3E}">
        <p14:creationId xmlns:p14="http://schemas.microsoft.com/office/powerpoint/2010/main" val="28373286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2.2</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Personal development &amp; </a:t>
            </a:r>
            <a:br>
              <a:rPr lang="en-US"/>
            </a:br>
            <a:r>
              <a:rPr lang="en-US"/>
              <a:t>Academic practice</a:t>
            </a:r>
            <a:endParaRPr/>
          </a:p>
        </p:txBody>
      </p:sp>
      <p:sp>
        <p:nvSpPr>
          <p:cNvPr id="365" name="Google Shape;365;p39"/>
          <p:cNvSpPr txBox="1">
            <a:spLocks noGrp="1"/>
          </p:cNvSpPr>
          <p:nvPr>
            <p:ph type="subTitle" idx="2"/>
          </p:nvPr>
        </p:nvSpPr>
        <p:spPr>
          <a:xfrm>
            <a:off x="2827020" y="3353563"/>
            <a:ext cx="5859780" cy="6858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 </a:t>
            </a:r>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2</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39341697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a:t>
            </a:r>
            <a:r>
              <a:rPr lang="en-US"/>
              <a:t>2</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615216" cy="576000"/>
          </a:xfrm>
          <a:prstGeom prst="rect">
            <a:avLst/>
          </a:prstGeom>
        </p:spPr>
        <p:txBody>
          <a:bodyPr spcFirstLastPara="1" wrap="square" lIns="91425" tIns="91425" rIns="91425" bIns="91425" anchor="ctr" anchorCtr="0">
            <a:noAutofit/>
          </a:bodyPr>
          <a:lstStyle/>
          <a:p>
            <a:pPr marL="0" indent="0"/>
            <a:r>
              <a:rPr lang="en-US"/>
              <a:t>The student applies relevant (research) methods and techniques in combination with relevant and adequate argumentation. They can reflect on (business) processes and their role in them, both theoretically and practically, by constantly evaluating their own actions and adapting them with input from others. They can translate the result of the reflection into concrete personal learning objectives.</a:t>
            </a:r>
            <a:endParaRPr lang="en-GB"/>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2.2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a:spcBef>
                <a:spcPts val="0"/>
              </a:spcBef>
              <a:spcAft>
                <a:spcPts val="0"/>
              </a:spcAft>
              <a:buNone/>
            </a:pPr>
            <a:r>
              <a:rPr lang="en-US" i="0"/>
              <a:t>The student shows knowledge of leadership skills by taking on the role of a leader and supporting others in being a leader. </a:t>
            </a:r>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Personal development</a:t>
            </a:r>
            <a:endParaRPr sz="900"/>
          </a:p>
        </p:txBody>
      </p:sp>
      <p:graphicFrame>
        <p:nvGraphicFramePr>
          <p:cNvPr id="2" name="Table 1">
            <a:extLst>
              <a:ext uri="{FF2B5EF4-FFF2-40B4-BE49-F238E27FC236}">
                <a16:creationId xmlns:a16="http://schemas.microsoft.com/office/drawing/2014/main" id="{B094636A-55BA-DD52-9038-48FB62682D6F}"/>
              </a:ext>
            </a:extLst>
          </p:cNvPr>
          <p:cNvGraphicFramePr>
            <a:graphicFrameLocks noGrp="1"/>
          </p:cNvGraphicFramePr>
          <p:nvPr>
            <p:extLst>
              <p:ext uri="{D42A27DB-BD31-4B8C-83A1-F6EECF244321}">
                <p14:modId xmlns:p14="http://schemas.microsoft.com/office/powerpoint/2010/main" val="3214073086"/>
              </p:ext>
            </p:extLst>
          </p:nvPr>
        </p:nvGraphicFramePr>
        <p:xfrm>
          <a:off x="0" y="1069800"/>
          <a:ext cx="9143997" cy="4073700"/>
        </p:xfrm>
        <a:graphic>
          <a:graphicData uri="http://schemas.openxmlformats.org/drawingml/2006/table">
            <a:tbl>
              <a:tblPr/>
              <a:tblGrid>
                <a:gridCol w="1758054">
                  <a:extLst>
                    <a:ext uri="{9D8B030D-6E8A-4147-A177-3AD203B41FA5}">
                      <a16:colId xmlns:a16="http://schemas.microsoft.com/office/drawing/2014/main" val="2101514686"/>
                    </a:ext>
                  </a:extLst>
                </a:gridCol>
                <a:gridCol w="3394880">
                  <a:extLst>
                    <a:ext uri="{9D8B030D-6E8A-4147-A177-3AD203B41FA5}">
                      <a16:colId xmlns:a16="http://schemas.microsoft.com/office/drawing/2014/main" val="3182331326"/>
                    </a:ext>
                  </a:extLst>
                </a:gridCol>
                <a:gridCol w="3991063">
                  <a:extLst>
                    <a:ext uri="{9D8B030D-6E8A-4147-A177-3AD203B41FA5}">
                      <a16:colId xmlns:a16="http://schemas.microsoft.com/office/drawing/2014/main" val="2156090830"/>
                    </a:ext>
                  </a:extLst>
                </a:gridCol>
              </a:tblGrid>
              <a:tr h="251194">
                <a:tc>
                  <a:txBody>
                    <a:bodyPr/>
                    <a:lstStyle/>
                    <a:p>
                      <a:pPr algn="ctr" fontAlgn="ctr"/>
                      <a:r>
                        <a:rPr lang="en-US" sz="1000" b="1" i="0" u="none" strike="noStrike">
                          <a:solidFill>
                            <a:srgbClr val="000000"/>
                          </a:solidFill>
                          <a:effectLst/>
                          <a:highlight>
                            <a:srgbClr val="D0D0D0"/>
                          </a:highlight>
                          <a:latin typeface="Calibri"/>
                        </a:rPr>
                        <a:t>pre-requisites</a:t>
                      </a: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B (Points: 5)</a:t>
                      </a:r>
                      <a:endParaRPr lang="en-US" sz="1000">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290195127"/>
                  </a:ext>
                </a:extLst>
              </a:tr>
              <a:tr h="93133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endParaRPr lang="en-US" sz="1000" b="0" i="0" u="none" strike="noStrike">
                        <a:solidFill>
                          <a:srgbClr val="000000"/>
                        </a:solidFill>
                        <a:effectLst/>
                        <a:highlight>
                          <a:srgbClr val="FEF2CD"/>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written with a </a:t>
                      </a:r>
                      <a:r>
                        <a:rPr lang="en-US" sz="1000" b="1" i="0" u="none" strike="noStrike" noProof="0">
                          <a:solidFill>
                            <a:srgbClr val="000000"/>
                          </a:solidFill>
                          <a:effectLst/>
                          <a:latin typeface="Calibri"/>
                        </a:rPr>
                        <a:t>SMARTER</a:t>
                      </a:r>
                      <a:r>
                        <a:rPr lang="en-US" sz="1000" b="0" i="0" u="none" strike="noStrike" noProof="0">
                          <a:solidFill>
                            <a:srgbClr val="000000"/>
                          </a:solidFill>
                          <a:effectLst/>
                          <a:latin typeface="Calibri"/>
                        </a:rPr>
                        <a:t> method. The goals are shown to be Specific, Measurable, Achievable, Relevant, Time-bound, Evaluated and Readjusted. Project goals and self-development goals detailed.</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latin typeface="Calibri"/>
                        </a:rPr>
                        <a:t>Goals are aligned with project, personal, and professional development objectives. A detailed evaluation of the goals has been conducted throughout the block. The goals may have been re-adjusted as well. </a:t>
                      </a:r>
                      <a:endParaRPr lang="en-US" sz="1000" b="0" i="0" u="none" strike="noStrike">
                        <a:solidFill>
                          <a:srgbClr val="000000"/>
                        </a:solidFill>
                        <a:effectLst/>
                        <a:highlight>
                          <a:srgbClr val="FFE1CC"/>
                        </a:highlight>
                        <a:latin typeface="Calibri"/>
                      </a:endParaRPr>
                    </a:p>
                  </a:txBody>
                  <a:tcPr marL="4198" marR="4198" marT="4198"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06371534"/>
                  </a:ext>
                </a:extLst>
              </a:tr>
              <a:tr h="289117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369291459"/>
                  </a:ext>
                </a:extLst>
              </a:tr>
            </a:tbl>
          </a:graphicData>
        </a:graphic>
      </p:graphicFrame>
    </p:spTree>
    <p:extLst>
      <p:ext uri="{BB962C8B-B14F-4D97-AF65-F5344CB8AC3E}">
        <p14:creationId xmlns:p14="http://schemas.microsoft.com/office/powerpoint/2010/main" val="400747745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6.2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indent="0"/>
            <a:r>
              <a:rPr lang="en-US"/>
              <a:t>Data Collection and Processing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masters (technological) skills to acquire, pre-process, process and manage the necessary data to create value for individuals, organizations and domains. </a:t>
            </a:r>
          </a:p>
          <a:p>
            <a:pPr marL="0" indent="0"/>
            <a:endParaRPr lang="en"/>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6</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625421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6</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1" y="0"/>
            <a:ext cx="6351123" cy="576000"/>
          </a:xfrm>
          <a:prstGeom prst="rect">
            <a:avLst/>
          </a:prstGeom>
        </p:spPr>
        <p:txBody>
          <a:bodyPr spcFirstLastPara="1" wrap="square" lIns="91425" tIns="91425" rIns="91425" bIns="91425" anchor="ctr" anchorCtr="0">
            <a:noAutofit/>
          </a:bodyPr>
          <a:lstStyle/>
          <a:p>
            <a:r>
              <a:rPr lang="en-US" sz="1050"/>
              <a:t>The student masters (technological) skills to acquire, pre-process, process and manage the necessary data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6.2</a:t>
            </a:r>
            <a:endParaRPr/>
          </a:p>
        </p:txBody>
      </p:sp>
      <p:sp>
        <p:nvSpPr>
          <p:cNvPr id="398" name="Google Shape;398;p42"/>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r>
              <a:rPr lang="en-US" i="0"/>
              <a:t>The students is able to perform basic ETL operations such as read/write, clean, and explore data using standard Python libraries.</a:t>
            </a:r>
            <a:endParaRPr lang="en-US"/>
          </a:p>
          <a:p>
            <a:pPr marL="0" lvl="0" indent="0" algn="l">
              <a:spcBef>
                <a:spcPts val="0"/>
              </a:spcBef>
              <a:spcAft>
                <a:spcPts val="0"/>
              </a:spcAft>
              <a:buNone/>
            </a:pPr>
            <a:endParaRPr lang="en-US" i="0"/>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Data Collection and Processing</a:t>
            </a:r>
            <a:endParaRPr lang="en-US"/>
          </a:p>
        </p:txBody>
      </p:sp>
      <p:graphicFrame>
        <p:nvGraphicFramePr>
          <p:cNvPr id="2" name="Table 1">
            <a:extLst>
              <a:ext uri="{FF2B5EF4-FFF2-40B4-BE49-F238E27FC236}">
                <a16:creationId xmlns:a16="http://schemas.microsoft.com/office/drawing/2014/main" id="{1F5721F6-C620-592B-C011-BF4A3BBF31FB}"/>
              </a:ext>
            </a:extLst>
          </p:cNvPr>
          <p:cNvGraphicFramePr>
            <a:graphicFrameLocks noGrp="1"/>
          </p:cNvGraphicFramePr>
          <p:nvPr>
            <p:extLst>
              <p:ext uri="{D42A27DB-BD31-4B8C-83A1-F6EECF244321}">
                <p14:modId xmlns:p14="http://schemas.microsoft.com/office/powerpoint/2010/main" val="3151947256"/>
              </p:ext>
            </p:extLst>
          </p:nvPr>
        </p:nvGraphicFramePr>
        <p:xfrm>
          <a:off x="0" y="1069800"/>
          <a:ext cx="9143993" cy="4130208"/>
        </p:xfrm>
        <a:graphic>
          <a:graphicData uri="http://schemas.openxmlformats.org/drawingml/2006/table">
            <a:tbl>
              <a:tblPr/>
              <a:tblGrid>
                <a:gridCol w="1520944">
                  <a:extLst>
                    <a:ext uri="{9D8B030D-6E8A-4147-A177-3AD203B41FA5}">
                      <a16:colId xmlns:a16="http://schemas.microsoft.com/office/drawing/2014/main" val="2003549626"/>
                    </a:ext>
                  </a:extLst>
                </a:gridCol>
                <a:gridCol w="3060215">
                  <a:extLst>
                    <a:ext uri="{9D8B030D-6E8A-4147-A177-3AD203B41FA5}">
                      <a16:colId xmlns:a16="http://schemas.microsoft.com/office/drawing/2014/main" val="2448315005"/>
                    </a:ext>
                  </a:extLst>
                </a:gridCol>
                <a:gridCol w="4562834">
                  <a:extLst>
                    <a:ext uri="{9D8B030D-6E8A-4147-A177-3AD203B41FA5}">
                      <a16:colId xmlns:a16="http://schemas.microsoft.com/office/drawing/2014/main" val="105465083"/>
                    </a:ext>
                  </a:extLst>
                </a:gridCol>
              </a:tblGrid>
              <a:tr h="443567">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A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cap="none" noProof="0">
                          <a:solidFill>
                            <a:srgbClr val="000000"/>
                          </a:solidFill>
                          <a:effectLst/>
                          <a:highlight>
                            <a:srgbClr val="D0D0D0"/>
                          </a:highlight>
                          <a:latin typeface="Calibri"/>
                          <a:ea typeface="+mn-ea"/>
                          <a:cs typeface="+mn-cs"/>
                          <a:sym typeface="Arial"/>
                        </a:rPr>
                        <a:t>B (Points: 5)</a:t>
                      </a:r>
                      <a:endParaRPr lang="en-US" sz="1000" b="1" i="0" u="none" strike="noStrike" cap="none">
                        <a:solidFill>
                          <a:srgbClr val="000000"/>
                        </a:solidFill>
                        <a:effectLst/>
                        <a:highlight>
                          <a:srgbClr val="D0D0D0"/>
                        </a:highlight>
                        <a:latin typeface="Calibri"/>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3041141703"/>
                  </a:ext>
                </a:extLst>
              </a:tr>
              <a:tr h="1472615">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should submit the relevant Python Notebooks addressing the creative brief. Student submits a complete learning log, work log and self-assessment rubric. The student exhibits professional behavior during the </a:t>
                      </a:r>
                      <a:r>
                        <a:rPr lang="en-US" sz="1000" b="0" i="0" u="none" strike="noStrike" cap="none" noProof="0" err="1">
                          <a:solidFill>
                            <a:srgbClr val="000000"/>
                          </a:solidFill>
                          <a:effectLst/>
                          <a:highlight>
                            <a:srgbClr val="FFE1CC"/>
                          </a:highlight>
                          <a:latin typeface="Calibri"/>
                          <a:ea typeface="+mn-ea"/>
                          <a:cs typeface="+mn-cs"/>
                          <a:sym typeface="Arial"/>
                        </a:rPr>
                        <a:t>DataLab</a:t>
                      </a:r>
                      <a:r>
                        <a:rPr lang="en-US" sz="1000" b="0" i="0" u="none" strike="noStrike" cap="none" noProof="0">
                          <a:solidFill>
                            <a:srgbClr val="000000"/>
                          </a:solidFill>
                          <a:effectLst/>
                          <a:highlight>
                            <a:srgbClr val="FFE1CC"/>
                          </a:highlight>
                          <a:latin typeface="Calibri"/>
                          <a:ea typeface="+mn-ea"/>
                          <a:cs typeface="+mn-cs"/>
                          <a:sym typeface="Arial"/>
                        </a:rPr>
                        <a:t>.</a:t>
                      </a:r>
                    </a:p>
                    <a:p>
                      <a:pPr lvl="0" algn="l">
                        <a:buNone/>
                      </a:pPr>
                      <a:endParaRPr lang="en-US" sz="1000" b="0" i="0" u="none" strike="noStrike">
                        <a:solidFill>
                          <a:srgbClr val="000000"/>
                        </a:solidFill>
                        <a:effectLst/>
                        <a:highlight>
                          <a:srgbClr val="FEF2CD"/>
                        </a:highlight>
                        <a:latin typeface="Calibri"/>
                      </a:endParaRPr>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clean and pre-process and </a:t>
                      </a:r>
                      <a:r>
                        <a:rPr lang="en-US" sz="1000" b="0" i="0" u="none" strike="noStrike" cap="none" noProof="0" err="1">
                          <a:solidFill>
                            <a:srgbClr val="000000"/>
                          </a:solidFill>
                          <a:effectLst/>
                          <a:highlight>
                            <a:srgbClr val="FFE1CC"/>
                          </a:highlight>
                          <a:latin typeface="Calibri"/>
                          <a:ea typeface="+mn-ea"/>
                          <a:cs typeface="+mn-cs"/>
                          <a:sym typeface="Arial"/>
                        </a:rPr>
                        <a:t>visualise</a:t>
                      </a:r>
                      <a:r>
                        <a:rPr lang="en-US" sz="1000" b="0" i="0" u="none" strike="noStrike" cap="none" noProof="0">
                          <a:solidFill>
                            <a:srgbClr val="000000"/>
                          </a:solidFill>
                          <a:effectLst/>
                          <a:highlight>
                            <a:srgbClr val="FFE1CC"/>
                          </a:highlight>
                          <a:latin typeface="Calibri"/>
                          <a:ea typeface="+mn-ea"/>
                          <a:cs typeface="+mn-cs"/>
                          <a:sym typeface="Arial"/>
                        </a:rPr>
                        <a:t> data using Python libraries.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cap="none" noProof="0">
                          <a:solidFill>
                            <a:srgbClr val="000000"/>
                          </a:solidFill>
                          <a:effectLst/>
                          <a:highlight>
                            <a:srgbClr val="FFE1CC"/>
                          </a:highlight>
                          <a:latin typeface="Calibri"/>
                          <a:ea typeface="+mn-ea"/>
                          <a:cs typeface="+mn-cs"/>
                          <a:sym typeface="Arial"/>
                        </a:rPr>
                        <a:t>The student is able to use metadata from the dataset  to </a:t>
                      </a:r>
                      <a:r>
                        <a:rPr lang="en-US" sz="1000" b="0" i="0" u="none" strike="noStrike" cap="none" noProof="0" err="1">
                          <a:solidFill>
                            <a:srgbClr val="000000"/>
                          </a:solidFill>
                          <a:effectLst/>
                          <a:highlight>
                            <a:srgbClr val="FFE1CC"/>
                          </a:highlight>
                          <a:latin typeface="Calibri"/>
                          <a:ea typeface="+mn-ea"/>
                          <a:cs typeface="+mn-cs"/>
                          <a:sym typeface="Arial"/>
                        </a:rPr>
                        <a:t>analyse</a:t>
                      </a:r>
                      <a:r>
                        <a:rPr lang="en-US" sz="1000" b="0" i="0" u="none" strike="noStrike" cap="none" noProof="0">
                          <a:solidFill>
                            <a:srgbClr val="000000"/>
                          </a:solidFill>
                          <a:effectLst/>
                          <a:highlight>
                            <a:srgbClr val="FFE1CC"/>
                          </a:highlight>
                          <a:latin typeface="Calibri"/>
                          <a:ea typeface="+mn-ea"/>
                          <a:cs typeface="+mn-cs"/>
                          <a:sym typeface="Arial"/>
                        </a:rPr>
                        <a:t> the different types of data with describing the role (e.g. id / feature/ target) as well as detecting missed values.</a:t>
                      </a:r>
                      <a:endParaRPr lang="en-US" sz="1000" b="0" i="0" u="none" strike="noStrike" cap="none">
                        <a:solidFill>
                          <a:srgbClr val="000000"/>
                        </a:solidFill>
                        <a:effectLst/>
                        <a:highlight>
                          <a:srgbClr val="FFE1CC"/>
                        </a:highlight>
                        <a:latin typeface="Calibri"/>
                        <a:ea typeface="+mn-ea"/>
                        <a:cs typeface="+mn-cs"/>
                        <a:sym typeface="Arial"/>
                      </a:endParaRPr>
                    </a:p>
                    <a:p>
                      <a:pPr lvl="0" algn="l">
                        <a:buNone/>
                      </a:pPr>
                      <a:endParaRPr lang="en-US" sz="1000" b="0" i="0" u="none" strike="noStrike" cap="none">
                        <a:solidFill>
                          <a:srgbClr val="000000"/>
                        </a:solidFill>
                        <a:effectLst/>
                        <a:highlight>
                          <a:srgbClr val="FFE1CC"/>
                        </a:highlight>
                        <a:latin typeface="Calibri" panose="020F0502020204030204" pitchFamily="34" charset="0"/>
                        <a:ea typeface="+mn-ea"/>
                        <a:cs typeface="+mn-cs"/>
                        <a:sym typeface="Arial"/>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131454656"/>
                  </a:ext>
                </a:extLst>
              </a:tr>
              <a:tr h="2157518">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266779070"/>
                  </a:ext>
                </a:extLst>
              </a:tr>
            </a:tbl>
          </a:graphicData>
        </a:graphic>
      </p:graphicFrame>
    </p:spTree>
    <p:extLst>
      <p:ext uri="{BB962C8B-B14F-4D97-AF65-F5344CB8AC3E}">
        <p14:creationId xmlns:p14="http://schemas.microsoft.com/office/powerpoint/2010/main" val="13079797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8.1</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93390908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8.1</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understand different types of supervised and unsupervised machine learning algorithms for data analysis  and can implement these to solve a business objective using industry standard Python libraries.</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446303457"/>
              </p:ext>
            </p:extLst>
          </p:nvPr>
        </p:nvGraphicFramePr>
        <p:xfrm>
          <a:off x="0" y="1069800"/>
          <a:ext cx="9144001" cy="40737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3">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has a sufficient knowledge about ML algorithms.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 </a:t>
                      </a:r>
                      <a:endParaRPr lang="en-US" sz="1000">
                        <a:latin typeface="Calibri"/>
                      </a:endParaRPr>
                    </a:p>
                    <a:p>
                      <a:pPr lvl="0" algn="l">
                        <a:buNone/>
                      </a:pPr>
                      <a:r>
                        <a:rPr lang="en-US" sz="1000" b="0" i="0" u="none" strike="noStrike">
                          <a:solidFill>
                            <a:srgbClr val="000000"/>
                          </a:solidFill>
                          <a:effectLst/>
                          <a:highlight>
                            <a:srgbClr val="FEF2CD"/>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ctr">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regression concepts and build a regression baseline using dataset. </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understand classification concepts and build a classification baseline using dataset</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understand clustering concepts and build a clustering baseline to segment patients into clusters using dataset.</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is able to do the feature selection and engineering in dataset and is able to improve their model by tuning its hyperparameter(s) using a validation set and justify their model improvement(s) in the context of the business objective.</a:t>
                      </a:r>
                      <a:endParaRPr lang="en-US" sz="1000">
                        <a:latin typeface="Calibri"/>
                      </a:endParaRPr>
                    </a:p>
                    <a:p>
                      <a:pPr lvl="0" algn="l">
                        <a:buNone/>
                      </a:pPr>
                      <a:endParaRPr lang="en-US" sz="1000" b="0" i="0" u="none" strike="noStrike">
                        <a:solidFill>
                          <a:srgbClr val="000000"/>
                        </a:solidFill>
                        <a:effectLst/>
                        <a:highlight>
                          <a:srgbClr val="F7C7A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is able to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and interpret the results obtained from the ML algorithms for model selection based on the solution requirements and dataset features.</a:t>
                      </a:r>
                      <a:endParaRPr lang="en-US" sz="1000">
                        <a:latin typeface="Calibri"/>
                      </a:endParaRPr>
                    </a:p>
                    <a:p>
                      <a:pPr lvl="0" algn="l">
                        <a:buNone/>
                      </a:pPr>
                      <a:endParaRPr lang="en-US" sz="1000" b="0" i="0" u="none" strike="noStrike">
                        <a:solidFill>
                          <a:srgbClr val="000000"/>
                        </a:solidFill>
                        <a:effectLst/>
                        <a:highlight>
                          <a:srgbClr val="FFE1CC"/>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8309315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8.2</a:t>
            </a:r>
            <a:endParaRPr lang="en-US"/>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r>
              <a:rPr lang="en-US"/>
              <a:t>Modelling</a:t>
            </a:r>
          </a:p>
        </p:txBody>
      </p:sp>
      <p:sp>
        <p:nvSpPr>
          <p:cNvPr id="365" name="Google Shape;365;p39"/>
          <p:cNvSpPr txBox="1">
            <a:spLocks noGrp="1"/>
          </p:cNvSpPr>
          <p:nvPr>
            <p:ph type="subTitle" idx="2"/>
          </p:nvPr>
        </p:nvSpPr>
        <p:spPr>
          <a:xfrm>
            <a:off x="3200400" y="3353563"/>
            <a:ext cx="5486400" cy="685800"/>
          </a:xfrm>
          <a:prstGeom prst="rect">
            <a:avLst/>
          </a:prstGeom>
        </p:spPr>
        <p:txBody>
          <a:bodyPr spcFirstLastPara="1" wrap="square" lIns="91425" tIns="91425" rIns="91425" bIns="91425" anchor="ctr" anchorCtr="0">
            <a:noAutofit/>
          </a:bodyPr>
          <a:lstStyle/>
          <a:p>
            <a:r>
              <a:rPr lang="en-US"/>
              <a:t>The student can apply modelling techniques including Machine Learning and AI to create value for individuals, organizations and domains. </a:t>
            </a:r>
          </a:p>
        </p:txBody>
      </p:sp>
      <p:sp>
        <p:nvSpPr>
          <p:cNvPr id="366" name="Google Shape;366;p39"/>
          <p:cNvSpPr txBox="1"/>
          <p:nvPr/>
        </p:nvSpPr>
        <p:spPr>
          <a:xfrm>
            <a:off x="-420624" y="754575"/>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rPr>
              <a:t>8</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396431931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777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8</a:t>
            </a:r>
            <a:endParaRPr lang="en-US"/>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380860" cy="576000"/>
          </a:xfrm>
          <a:prstGeom prst="rect">
            <a:avLst/>
          </a:prstGeom>
        </p:spPr>
        <p:txBody>
          <a:bodyPr spcFirstLastPara="1" wrap="square" lIns="91425" tIns="91425" rIns="91425" bIns="91425" anchor="ctr" anchorCtr="0">
            <a:noAutofit/>
          </a:bodyPr>
          <a:lstStyle/>
          <a:p>
            <a:r>
              <a:rPr lang="en-US" sz="1050"/>
              <a:t>The student can apply modelling techniques including Machine Learning and AI to create value for individuals, organizations and domains. </a:t>
            </a:r>
          </a:p>
        </p:txBody>
      </p:sp>
      <p:sp>
        <p:nvSpPr>
          <p:cNvPr id="397" name="Google Shape;397;p42"/>
          <p:cNvSpPr txBox="1">
            <a:spLocks noGrp="1"/>
          </p:cNvSpPr>
          <p:nvPr>
            <p:ph type="title" idx="4"/>
          </p:nvPr>
        </p:nvSpPr>
        <p:spPr>
          <a:xfrm>
            <a:off x="0" y="576000"/>
            <a:ext cx="90795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8.2</a:t>
            </a:r>
            <a:endParaRPr/>
          </a:p>
        </p:txBody>
      </p:sp>
      <p:sp>
        <p:nvSpPr>
          <p:cNvPr id="398" name="Google Shape;398;p42"/>
          <p:cNvSpPr txBox="1">
            <a:spLocks noGrp="1"/>
          </p:cNvSpPr>
          <p:nvPr>
            <p:ph type="title" idx="5"/>
          </p:nvPr>
        </p:nvSpPr>
        <p:spPr>
          <a:xfrm>
            <a:off x="845550" y="576000"/>
            <a:ext cx="8298450" cy="493800"/>
          </a:xfrm>
          <a:prstGeom prst="rect">
            <a:avLst/>
          </a:prstGeom>
        </p:spPr>
        <p:txBody>
          <a:bodyPr spcFirstLastPara="1" wrap="square" lIns="91425" tIns="91425" rIns="91425" bIns="91425" anchor="ctr" anchorCtr="0">
            <a:noAutofit/>
          </a:bodyPr>
          <a:lstStyle/>
          <a:p>
            <a:r>
              <a:rPr lang="en-US" i="0"/>
              <a:t>The student is able to perform elementary operations on matrices and understand the concepts of derivatives, gradients, optimization algorithms, and can implement a simple machine learning model from scratch.</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r>
              <a:rPr lang="en-US" sz="900"/>
              <a:t>Modelling</a:t>
            </a:r>
            <a:endParaRPr lang="en-US"/>
          </a:p>
        </p:txBody>
      </p:sp>
      <p:graphicFrame>
        <p:nvGraphicFramePr>
          <p:cNvPr id="2" name="Table 1">
            <a:extLst>
              <a:ext uri="{FF2B5EF4-FFF2-40B4-BE49-F238E27FC236}">
                <a16:creationId xmlns:a16="http://schemas.microsoft.com/office/drawing/2014/main" id="{57E3E280-FB5F-EC44-E126-2CCC797691FD}"/>
              </a:ext>
            </a:extLst>
          </p:cNvPr>
          <p:cNvGraphicFramePr>
            <a:graphicFrameLocks noGrp="1"/>
          </p:cNvGraphicFramePr>
          <p:nvPr>
            <p:extLst>
              <p:ext uri="{D42A27DB-BD31-4B8C-83A1-F6EECF244321}">
                <p14:modId xmlns:p14="http://schemas.microsoft.com/office/powerpoint/2010/main" val="830487356"/>
              </p:ext>
            </p:extLst>
          </p:nvPr>
        </p:nvGraphicFramePr>
        <p:xfrm>
          <a:off x="0" y="1069800"/>
          <a:ext cx="9144001" cy="5022301"/>
        </p:xfrm>
        <a:graphic>
          <a:graphicData uri="http://schemas.openxmlformats.org/drawingml/2006/table">
            <a:tbl>
              <a:tblPr/>
              <a:tblGrid>
                <a:gridCol w="1520946">
                  <a:extLst>
                    <a:ext uri="{9D8B030D-6E8A-4147-A177-3AD203B41FA5}">
                      <a16:colId xmlns:a16="http://schemas.microsoft.com/office/drawing/2014/main" val="2171384223"/>
                    </a:ext>
                  </a:extLst>
                </a:gridCol>
                <a:gridCol w="1502622">
                  <a:extLst>
                    <a:ext uri="{9D8B030D-6E8A-4147-A177-3AD203B41FA5}">
                      <a16:colId xmlns:a16="http://schemas.microsoft.com/office/drawing/2014/main" val="1315127927"/>
                    </a:ext>
                  </a:extLst>
                </a:gridCol>
                <a:gridCol w="1557595">
                  <a:extLst>
                    <a:ext uri="{9D8B030D-6E8A-4147-A177-3AD203B41FA5}">
                      <a16:colId xmlns:a16="http://schemas.microsoft.com/office/drawing/2014/main" val="2516077077"/>
                    </a:ext>
                  </a:extLst>
                </a:gridCol>
                <a:gridCol w="1520946">
                  <a:extLst>
                    <a:ext uri="{9D8B030D-6E8A-4147-A177-3AD203B41FA5}">
                      <a16:colId xmlns:a16="http://schemas.microsoft.com/office/drawing/2014/main" val="2417746137"/>
                    </a:ext>
                  </a:extLst>
                </a:gridCol>
                <a:gridCol w="1520946">
                  <a:extLst>
                    <a:ext uri="{9D8B030D-6E8A-4147-A177-3AD203B41FA5}">
                      <a16:colId xmlns:a16="http://schemas.microsoft.com/office/drawing/2014/main" val="2357257076"/>
                    </a:ext>
                  </a:extLst>
                </a:gridCol>
                <a:gridCol w="1520946">
                  <a:extLst>
                    <a:ext uri="{9D8B030D-6E8A-4147-A177-3AD203B41FA5}">
                      <a16:colId xmlns:a16="http://schemas.microsoft.com/office/drawing/2014/main" val="1775122286"/>
                    </a:ext>
                  </a:extLst>
                </a:gridCol>
              </a:tblGrid>
              <a:tr h="169455">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lnSpc>
                          <a:spcPct val="100000"/>
                        </a:lnSpc>
                        <a:spcBef>
                          <a:spcPts val="0"/>
                        </a:spcBef>
                        <a:spcAft>
                          <a:spcPts val="0"/>
                        </a:spcAft>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1" i="0" u="none" strike="noStrike" noProof="0">
                          <a:solidFill>
                            <a:srgbClr val="000000"/>
                          </a:solidFill>
                          <a:effectLst/>
                          <a:highlight>
                            <a:srgbClr val="D0D0D0"/>
                          </a:highlight>
                          <a:latin typeface="Calibri"/>
                        </a:rPr>
                        <a:t>A (Points: 4)</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2505160243"/>
                  </a:ext>
                </a:extLst>
              </a:tr>
              <a:tr h="1952122">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EF2CD"/>
                          </a:highlight>
                          <a:latin typeface="Calibri"/>
                        </a:rPr>
                        <a:t>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endParaRPr lang="en-US" sz="1000">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EF2CD"/>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demonstrate a comprehensive understanding of key optimization algorithms, critically </a:t>
                      </a:r>
                      <a:r>
                        <a:rPr lang="en-US" sz="1000" b="0" i="0" u="none" strike="noStrike" noProof="0" err="1">
                          <a:solidFill>
                            <a:srgbClr val="000000"/>
                          </a:solidFill>
                          <a:effectLst/>
                          <a:highlight>
                            <a:srgbClr val="FFE1CC"/>
                          </a:highlight>
                          <a:latin typeface="Calibri"/>
                        </a:rPr>
                        <a:t>analyse</a:t>
                      </a:r>
                      <a:r>
                        <a:rPr lang="en-US" sz="1000" b="0" i="0" u="none" strike="noStrike" noProof="0">
                          <a:solidFill>
                            <a:srgbClr val="000000"/>
                          </a:solidFill>
                          <a:effectLst/>
                          <a:highlight>
                            <a:srgbClr val="FFE1CC"/>
                          </a:highlight>
                          <a:latin typeface="Calibri"/>
                        </a:rPr>
                        <a:t> their performance, and apply them to solve complex minimization and maximization problems. Furthermore, the student will have the capability to assess the impact of algorithm parameters on performance and convergence in mathematical optimization.</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regression model from scratch for their project, including implementing the cost function and finding its derivative, training the model using an optimization algorithm, evaluating the model's performance using appropriate regression metrics, and performing accurate predictions based on the trained model. </a:t>
                      </a:r>
                      <a:endParaRPr lang="en-US" sz="1000">
                        <a:latin typeface="Calibri"/>
                      </a:endParaRPr>
                    </a:p>
                    <a:p>
                      <a:pPr lvl="0" algn="l">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conduct fine-tuning of hyperparameters for regression models implemented from scratch, which includes implementing the regularized form of the cost function, testing different optimization algorithms (modifying them as necessary when incorporating regularization), studying the impact of learning rates on training performance, and examining how scaling features influences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7C7AC"/>
                          </a:highlight>
                          <a:latin typeface="Calibri"/>
                        </a:rPr>
                        <a:t>The student implement all steps of training a classification model from scratch for their project, including defining the cost function and calculating its derivative, training the model using an optimization algorithm, evaluating the model's performance with relevant classification metrics, and making accurate predictions based on the trained model.</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7C7A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7C7AC"/>
                    </a:solidFill>
                  </a:tcPr>
                </a:tc>
                <a:tc>
                  <a:txBody>
                    <a:bodyPr/>
                    <a:lstStyle/>
                    <a:p>
                      <a:pPr lvl="0" algn="l">
                        <a:lnSpc>
                          <a:spcPct val="100000"/>
                        </a:lnSpc>
                        <a:spcBef>
                          <a:spcPts val="0"/>
                        </a:spcBef>
                        <a:spcAft>
                          <a:spcPts val="0"/>
                        </a:spcAft>
                        <a:buNone/>
                      </a:pPr>
                      <a:r>
                        <a:rPr lang="en-US" sz="1000" b="0" i="0" u="none" strike="noStrike" noProof="0">
                          <a:solidFill>
                            <a:srgbClr val="000000"/>
                          </a:solidFill>
                          <a:effectLst/>
                          <a:highlight>
                            <a:srgbClr val="FFE1CC"/>
                          </a:highlight>
                          <a:latin typeface="Calibri"/>
                        </a:rPr>
                        <a:t>The student carry out hyperparameter fine-tuning for classification models developed from scratch, focusing on testing various optimization algorithms (modifying them as necessary to integrate regularization), implementing the regularized form of the cost function, analyzing the effects of learning rates on training performance, and assessing how scaling features affects model performance and generalization. </a:t>
                      </a:r>
                      <a:endParaRPr lang="en-US" sz="1000">
                        <a:latin typeface="Calibri"/>
                      </a:endParaRPr>
                    </a:p>
                    <a:p>
                      <a:pPr lvl="0" algn="l">
                        <a:lnSpc>
                          <a:spcPct val="100000"/>
                        </a:lnSpc>
                        <a:spcBef>
                          <a:spcPts val="0"/>
                        </a:spcBef>
                        <a:spcAft>
                          <a:spcPts val="0"/>
                        </a:spcAft>
                        <a:buNone/>
                      </a:pPr>
                      <a:endParaRPr lang="en-US" sz="1000" b="0" i="0" u="none" strike="noStrike" noProof="0">
                        <a:solidFill>
                          <a:srgbClr val="000000"/>
                        </a:solidFill>
                        <a:effectLst/>
                        <a:highlight>
                          <a:srgbClr val="FFE1CC"/>
                        </a:highlight>
                        <a:latin typeface="Calibri"/>
                      </a:endParaRPr>
                    </a:p>
                  </a:txBody>
                  <a:tcPr marL="5123" marR="5123" marT="5123" marB="0" anchor="ctr">
                    <a:lnL w="6350">
                      <a:solidFill>
                        <a:srgbClr val="000000"/>
                      </a:solidFill>
                    </a:lnL>
                    <a:lnR w="6350">
                      <a:solidFill>
                        <a:srgbClr val="000000"/>
                      </a:solidFill>
                    </a:lnR>
                    <a:lnT w="6350">
                      <a:solidFill>
                        <a:srgbClr val="000000"/>
                      </a:solidFill>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3510942754"/>
                  </a:ext>
                </a:extLst>
              </a:tr>
              <a:tr h="1952123">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825924416"/>
                  </a:ext>
                </a:extLst>
              </a:tr>
            </a:tbl>
          </a:graphicData>
        </a:graphic>
      </p:graphicFrame>
    </p:spTree>
    <p:extLst>
      <p:ext uri="{BB962C8B-B14F-4D97-AF65-F5344CB8AC3E}">
        <p14:creationId xmlns:p14="http://schemas.microsoft.com/office/powerpoint/2010/main" val="428015726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3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ILO </a:t>
            </a:r>
            <a:r>
              <a:rPr lang="en-US"/>
              <a:t>11.1</a:t>
            </a:r>
            <a:endParaRPr/>
          </a:p>
        </p:txBody>
      </p:sp>
      <p:sp>
        <p:nvSpPr>
          <p:cNvPr id="364" name="Google Shape;364;p3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US"/>
              <a:t>Reporting and Advising</a:t>
            </a:r>
            <a:endParaRPr/>
          </a:p>
        </p:txBody>
      </p:sp>
      <p:sp>
        <p:nvSpPr>
          <p:cNvPr id="365" name="Google Shape;365;p39"/>
          <p:cNvSpPr txBox="1">
            <a:spLocks noGrp="1"/>
          </p:cNvSpPr>
          <p:nvPr>
            <p:ph type="subTitle" idx="2"/>
          </p:nvPr>
        </p:nvSpPr>
        <p:spPr>
          <a:xfrm>
            <a:off x="4572000" y="3353563"/>
            <a:ext cx="4114800" cy="685800"/>
          </a:xfrm>
          <a:prstGeom prst="rect">
            <a:avLst/>
          </a:prstGeom>
        </p:spPr>
        <p:txBody>
          <a:bodyPr spcFirstLastPara="1" wrap="square" lIns="91425" tIns="91425" rIns="91425" bIns="91425" anchor="ctr" anchorCtr="0">
            <a:noAutofit/>
          </a:bodyPr>
          <a:lstStyle/>
          <a:p>
            <a:pPr marL="0" indent="0"/>
            <a:r>
              <a:rPr lang="en-US"/>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
          </a:p>
        </p:txBody>
      </p:sp>
      <p:sp>
        <p:nvSpPr>
          <p:cNvPr id="366" name="Google Shape;366;p39"/>
          <p:cNvSpPr txBox="1"/>
          <p:nvPr/>
        </p:nvSpPr>
        <p:spPr>
          <a:xfrm>
            <a:off x="-1152144" y="1013655"/>
            <a:ext cx="5823204"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US" sz="40000">
                <a:solidFill>
                  <a:srgbClr val="999999"/>
                </a:solidFill>
                <a:latin typeface="Roboto"/>
                <a:ea typeface="Roboto"/>
                <a:cs typeface="Roboto"/>
                <a:sym typeface="Roboto"/>
              </a:rPr>
              <a:t>11</a:t>
            </a:r>
            <a:endParaRPr sz="40000">
              <a:solidFill>
                <a:srgbClr val="999999"/>
              </a:solidFill>
              <a:latin typeface="Roboto"/>
              <a:ea typeface="Roboto"/>
              <a:cs typeface="Roboto"/>
              <a:sym typeface="Roboto"/>
            </a:endParaRPr>
          </a:p>
        </p:txBody>
      </p:sp>
    </p:spTree>
    <p:extLst>
      <p:ext uri="{BB962C8B-B14F-4D97-AF65-F5344CB8AC3E}">
        <p14:creationId xmlns:p14="http://schemas.microsoft.com/office/powerpoint/2010/main" val="265586119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3" name="Google Shape;393;p42"/>
          <p:cNvSpPr txBox="1">
            <a:spLocks noGrp="1"/>
          </p:cNvSpPr>
          <p:nvPr>
            <p:ph type="title"/>
          </p:nvPr>
        </p:nvSpPr>
        <p:spPr>
          <a:xfrm>
            <a:off x="68250" y="0"/>
            <a:ext cx="90795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ILO 11</a:t>
            </a:r>
            <a:endParaRPr/>
          </a:p>
        </p:txBody>
      </p:sp>
      <p:sp>
        <p:nvSpPr>
          <p:cNvPr id="394" name="Google Shape;394;p42"/>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NL"/>
              <a:t>1</a:t>
            </a:r>
            <a:r>
              <a:rPr lang="en"/>
              <a:t>/</a:t>
            </a:r>
            <a:r>
              <a:rPr lang="en-NL"/>
              <a:t>1</a:t>
            </a:r>
            <a:endParaRPr/>
          </a:p>
        </p:txBody>
      </p:sp>
      <p:sp>
        <p:nvSpPr>
          <p:cNvPr id="395" name="Google Shape;395;p42"/>
          <p:cNvSpPr txBox="1">
            <a:spLocks noGrp="1"/>
          </p:cNvSpPr>
          <p:nvPr>
            <p:ph type="body" idx="4294967295"/>
          </p:nvPr>
        </p:nvSpPr>
        <p:spPr>
          <a:xfrm>
            <a:off x="2674350" y="3037484"/>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396" name="Google Shape;396;p42"/>
          <p:cNvSpPr txBox="1">
            <a:spLocks noGrp="1"/>
          </p:cNvSpPr>
          <p:nvPr>
            <p:ph type="title" idx="3"/>
          </p:nvPr>
        </p:nvSpPr>
        <p:spPr>
          <a:xfrm>
            <a:off x="2049462" y="0"/>
            <a:ext cx="6509088" cy="576000"/>
          </a:xfrm>
          <a:prstGeom prst="rect">
            <a:avLst/>
          </a:prstGeom>
        </p:spPr>
        <p:txBody>
          <a:bodyPr spcFirstLastPara="1" wrap="square" lIns="91425" tIns="91425" rIns="91425" bIns="91425" anchor="ctr" anchorCtr="0">
            <a:noAutofit/>
          </a:bodyPr>
          <a:lstStyle/>
          <a:p>
            <a:pPr marL="0" indent="0"/>
            <a:r>
              <a:rPr lang="en-US" sz="1050"/>
              <a:t>The student can translate (interim) results into effective reporting. They see opportunities and possibilities and can translate these from a market-oriented vision into new concepts, products or services, while keeping the business side of the organization in mind. </a:t>
            </a:r>
            <a:endParaRPr lang="en-GB"/>
          </a:p>
        </p:txBody>
      </p:sp>
      <p:sp>
        <p:nvSpPr>
          <p:cNvPr id="397" name="Google Shape;397;p42"/>
          <p:cNvSpPr txBox="1">
            <a:spLocks noGrp="1"/>
          </p:cNvSpPr>
          <p:nvPr>
            <p:ph type="title" idx="4"/>
          </p:nvPr>
        </p:nvSpPr>
        <p:spPr>
          <a:xfrm>
            <a:off x="0" y="576000"/>
            <a:ext cx="1157712"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a:t>11.1</a:t>
            </a:r>
            <a:endParaRPr/>
          </a:p>
        </p:txBody>
      </p:sp>
      <p:sp>
        <p:nvSpPr>
          <p:cNvPr id="398" name="Google Shape;398;p42"/>
          <p:cNvSpPr txBox="1">
            <a:spLocks noGrp="1"/>
          </p:cNvSpPr>
          <p:nvPr>
            <p:ph type="title" idx="5"/>
          </p:nvPr>
        </p:nvSpPr>
        <p:spPr>
          <a:xfrm>
            <a:off x="1044450" y="576000"/>
            <a:ext cx="7315200" cy="493800"/>
          </a:xfrm>
          <a:prstGeom prst="rect">
            <a:avLst/>
          </a:prstGeom>
        </p:spPr>
        <p:txBody>
          <a:bodyPr spcFirstLastPara="1" wrap="square" lIns="91425" tIns="91425" rIns="91425" bIns="91425" anchor="ctr" anchorCtr="0">
            <a:noAutofit/>
          </a:bodyPr>
          <a:lstStyle/>
          <a:p>
            <a:r>
              <a:rPr lang="en-US" i="0"/>
              <a:t>The student is able to communicate technical concepts by means of a structured, coherent, and well-formatted professional report.</a:t>
            </a:r>
            <a:endParaRPr lang="en-US"/>
          </a:p>
        </p:txBody>
      </p:sp>
      <p:sp>
        <p:nvSpPr>
          <p:cNvPr id="399" name="Google Shape;399;p42"/>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US" sz="900"/>
              <a:t>Reporting and Advising</a:t>
            </a:r>
            <a:endParaRPr sz="900"/>
          </a:p>
        </p:txBody>
      </p:sp>
      <p:graphicFrame>
        <p:nvGraphicFramePr>
          <p:cNvPr id="2" name="Table 1">
            <a:extLst>
              <a:ext uri="{FF2B5EF4-FFF2-40B4-BE49-F238E27FC236}">
                <a16:creationId xmlns:a16="http://schemas.microsoft.com/office/drawing/2014/main" id="{AA669EC2-980A-B4FE-9112-D450A8EFD54D}"/>
              </a:ext>
            </a:extLst>
          </p:cNvPr>
          <p:cNvGraphicFramePr>
            <a:graphicFrameLocks noGrp="1"/>
          </p:cNvGraphicFramePr>
          <p:nvPr>
            <p:extLst>
              <p:ext uri="{D42A27DB-BD31-4B8C-83A1-F6EECF244321}">
                <p14:modId xmlns:p14="http://schemas.microsoft.com/office/powerpoint/2010/main" val="533302219"/>
              </p:ext>
            </p:extLst>
          </p:nvPr>
        </p:nvGraphicFramePr>
        <p:xfrm>
          <a:off x="0" y="1053422"/>
          <a:ext cx="9144001" cy="4090078"/>
        </p:xfrm>
        <a:graphic>
          <a:graphicData uri="http://schemas.openxmlformats.org/drawingml/2006/table">
            <a:tbl>
              <a:tblPr/>
              <a:tblGrid>
                <a:gridCol w="1520946">
                  <a:extLst>
                    <a:ext uri="{9D8B030D-6E8A-4147-A177-3AD203B41FA5}">
                      <a16:colId xmlns:a16="http://schemas.microsoft.com/office/drawing/2014/main" val="2968662855"/>
                    </a:ext>
                  </a:extLst>
                </a:gridCol>
                <a:gridCol w="1502622">
                  <a:extLst>
                    <a:ext uri="{9D8B030D-6E8A-4147-A177-3AD203B41FA5}">
                      <a16:colId xmlns:a16="http://schemas.microsoft.com/office/drawing/2014/main" val="2533108805"/>
                    </a:ext>
                  </a:extLst>
                </a:gridCol>
                <a:gridCol w="1557595">
                  <a:extLst>
                    <a:ext uri="{9D8B030D-6E8A-4147-A177-3AD203B41FA5}">
                      <a16:colId xmlns:a16="http://schemas.microsoft.com/office/drawing/2014/main" val="78944563"/>
                    </a:ext>
                  </a:extLst>
                </a:gridCol>
                <a:gridCol w="1520946">
                  <a:extLst>
                    <a:ext uri="{9D8B030D-6E8A-4147-A177-3AD203B41FA5}">
                      <a16:colId xmlns:a16="http://schemas.microsoft.com/office/drawing/2014/main" val="3620540080"/>
                    </a:ext>
                  </a:extLst>
                </a:gridCol>
                <a:gridCol w="1520946">
                  <a:extLst>
                    <a:ext uri="{9D8B030D-6E8A-4147-A177-3AD203B41FA5}">
                      <a16:colId xmlns:a16="http://schemas.microsoft.com/office/drawing/2014/main" val="930998757"/>
                    </a:ext>
                  </a:extLst>
                </a:gridCol>
                <a:gridCol w="1520946">
                  <a:extLst>
                    <a:ext uri="{9D8B030D-6E8A-4147-A177-3AD203B41FA5}">
                      <a16:colId xmlns:a16="http://schemas.microsoft.com/office/drawing/2014/main" val="1851329009"/>
                    </a:ext>
                  </a:extLst>
                </a:gridCol>
              </a:tblGrid>
              <a:tr h="343684">
                <a:tc>
                  <a:txBody>
                    <a:bodyPr/>
                    <a:lstStyle/>
                    <a:p>
                      <a:pPr algn="ctr" fontAlgn="ctr"/>
                      <a:r>
                        <a:rPr lang="en-US" sz="1000" b="1" i="0" u="none" strike="noStrike">
                          <a:solidFill>
                            <a:srgbClr val="000000"/>
                          </a:solidFill>
                          <a:effectLst/>
                          <a:highlight>
                            <a:srgbClr val="D0D0D0"/>
                          </a:highlight>
                          <a:latin typeface="Calibri"/>
                        </a:rPr>
                        <a:t>pre-requisites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A (Points: 3)</a:t>
                      </a:r>
                      <a:endParaRPr lang="en-US" sz="1000" b="1" i="0" u="none" strike="noStrike">
                        <a:solidFill>
                          <a:srgbClr val="000000"/>
                        </a:solidFill>
                        <a:effectLst/>
                        <a:highlight>
                          <a:srgbClr val="D0D0D0"/>
                        </a:highlight>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B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C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D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tc>
                  <a:txBody>
                    <a:bodyPr/>
                    <a:lstStyle/>
                    <a:p>
                      <a:pPr lvl="0" algn="ctr">
                        <a:buNone/>
                      </a:pPr>
                      <a:r>
                        <a:rPr lang="en-US" sz="1000" b="0" i="0" u="none" strike="noStrike" noProof="0">
                          <a:solidFill>
                            <a:srgbClr val="000000"/>
                          </a:solidFill>
                          <a:effectLst/>
                          <a:highlight>
                            <a:srgbClr val="D0D0D0"/>
                          </a:highlight>
                          <a:latin typeface="Calibri"/>
                        </a:rPr>
                        <a:t>E (Points: 3)</a:t>
                      </a:r>
                      <a:endParaRPr lang="en-US" sz="1000">
                        <a:latin typeface="Calibri"/>
                      </a:endParaRP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D0D0"/>
                    </a:solidFill>
                  </a:tcPr>
                </a:tc>
                <a:extLst>
                  <a:ext uri="{0D108BD9-81ED-4DB2-BD59-A6C34878D82A}">
                    <a16:rowId xmlns:a16="http://schemas.microsoft.com/office/drawing/2014/main" val="136059547"/>
                  </a:ext>
                </a:extLst>
              </a:tr>
              <a:tr h="1546814">
                <a:tc>
                  <a:txBody>
                    <a:bodyPr/>
                    <a:lstStyle/>
                    <a:p>
                      <a:pPr lvl="0" algn="l">
                        <a:buNone/>
                      </a:pPr>
                      <a:r>
                        <a:rPr lang="en-US" sz="1000" b="0" i="0" u="none" strike="noStrike" noProof="0">
                          <a:solidFill>
                            <a:srgbClr val="000000"/>
                          </a:solidFill>
                          <a:effectLst/>
                          <a:highlight>
                            <a:srgbClr val="FEF2CD"/>
                          </a:highlight>
                          <a:latin typeface="Calibri"/>
                        </a:rPr>
                        <a:t>The student should present final project and be able to answer the questions related to it during the presentation. The student submits a complete learning log, work log and self-assessment rubric. The student exhibits professional behavior during the </a:t>
                      </a:r>
                      <a:r>
                        <a:rPr lang="en-US" sz="1000" b="0" i="0" u="none" strike="noStrike" noProof="0" err="1">
                          <a:solidFill>
                            <a:srgbClr val="000000"/>
                          </a:solidFill>
                          <a:effectLst/>
                          <a:highlight>
                            <a:srgbClr val="FEF2CD"/>
                          </a:highlight>
                          <a:latin typeface="Calibri"/>
                        </a:rPr>
                        <a:t>DataLab</a:t>
                      </a:r>
                      <a:r>
                        <a:rPr lang="en-US" sz="1000" b="0" i="0" u="none" strike="noStrike" noProof="0">
                          <a:solidFill>
                            <a:srgbClr val="000000"/>
                          </a:solidFill>
                          <a:effectLst/>
                          <a:highlight>
                            <a:srgbClr val="FEF2CD"/>
                          </a:highlight>
                          <a:latin typeface="Calibri"/>
                        </a:rPr>
                        <a: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define the sections (EDA, Regression, Classification, Clustering, Evaluation, Improvement) clearly based on implementations.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students is able to demonstrate an advanced understanding of machine learning concepts.</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is able to demonstrate understanding of different types of machine learning algorithms for data analysis and have implementation of baselines based on the defined project and dataset.</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l">
                        <a:buNone/>
                      </a:pPr>
                      <a:r>
                        <a:rPr lang="en-US" sz="1000" b="0" i="0" u="none" strike="noStrike" noProof="0">
                          <a:solidFill>
                            <a:srgbClr val="000000"/>
                          </a:solidFill>
                          <a:effectLst/>
                          <a:highlight>
                            <a:srgbClr val="F7C7AC"/>
                          </a:highlight>
                          <a:latin typeface="Calibri"/>
                        </a:rPr>
                        <a:t>The student is able to critically </a:t>
                      </a:r>
                      <a:r>
                        <a:rPr lang="en-US" sz="1000" b="0" i="0" u="none" strike="noStrike" noProof="0" err="1">
                          <a:solidFill>
                            <a:srgbClr val="000000"/>
                          </a:solidFill>
                          <a:effectLst/>
                          <a:highlight>
                            <a:srgbClr val="F7C7AC"/>
                          </a:highlight>
                          <a:latin typeface="Calibri"/>
                        </a:rPr>
                        <a:t>analyse</a:t>
                      </a:r>
                      <a:r>
                        <a:rPr lang="en-US" sz="1000" b="0" i="0" u="none" strike="noStrike" noProof="0">
                          <a:solidFill>
                            <a:srgbClr val="000000"/>
                          </a:solidFill>
                          <a:effectLst/>
                          <a:highlight>
                            <a:srgbClr val="F7C7AC"/>
                          </a:highlight>
                          <a:latin typeface="Calibri"/>
                        </a:rPr>
                        <a:t> and evaluate their proposed solutions based on its relevance for the business objectives. </a:t>
                      </a:r>
                      <a:r>
                        <a:rPr lang="en-US" sz="1000" b="0" i="0" u="none" strike="noStrike">
                          <a:solidFill>
                            <a:srgbClr val="000000"/>
                          </a:solidFill>
                          <a:effectLst/>
                          <a:highlight>
                            <a:srgbClr val="F7C7AC"/>
                          </a:highlight>
                          <a:latin typeface="Calibri"/>
                        </a:rPr>
                        <a:t>. </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l">
                        <a:buNone/>
                      </a:pPr>
                      <a:r>
                        <a:rPr lang="en-US" sz="1000" b="0" i="0" u="none" strike="noStrike" noProof="0">
                          <a:solidFill>
                            <a:srgbClr val="000000"/>
                          </a:solidFill>
                          <a:effectLst/>
                          <a:highlight>
                            <a:srgbClr val="FFE1CC"/>
                          </a:highlight>
                          <a:latin typeface="Calibri"/>
                        </a:rPr>
                        <a:t>The student has a clean and commented code and is able to identify the shortcomings of the current implementation and propose next steps for improving the quality of implementation.</a:t>
                      </a:r>
                    </a:p>
                  </a:txBody>
                  <a:tcPr marL="5123" marR="5123" marT="512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4009708987"/>
                  </a:ext>
                </a:extLst>
              </a:tr>
              <a:tr h="2199580">
                <a:tc>
                  <a:txBody>
                    <a:bodyPr/>
                    <a:lstStyle/>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algn="ctr" rtl="0" fontAlgn="t"/>
                      <a:endParaRPr lang="en-US" sz="1800" b="1" i="0" u="none" strike="noStrike">
                        <a:solidFill>
                          <a:schemeClr val="tx1">
                            <a:lumMod val="75000"/>
                          </a:schemeClr>
                        </a:solidFill>
                        <a:effectLst/>
                        <a:highlight>
                          <a:srgbClr val="FEF2CD"/>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EF2CD"/>
                    </a:solidFill>
                  </a:tcPr>
                </a:tc>
                <a:tc>
                  <a:txBody>
                    <a:bodyPr/>
                    <a:lstStyle/>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algn="ctr" fontAlgn="t"/>
                      <a:endParaRPr lang="en-US" sz="1800" b="1" i="0" u="none" strike="noStrike">
                        <a:solidFill>
                          <a:schemeClr val="tx1">
                            <a:lumMod val="75000"/>
                          </a:schemeClr>
                        </a:solidFill>
                        <a:effectLst/>
                        <a:highlight>
                          <a:srgbClr val="FFE1CC"/>
                        </a:highlight>
                        <a:latin typeface="Calibri" panose="020F0502020204030204" pitchFamily="34" charset="0"/>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7C7AC"/>
                    </a:solidFill>
                  </a:tcPr>
                </a:tc>
                <a:tc>
                  <a:txBody>
                    <a:bodyPr/>
                    <a:lstStyle/>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endParaRPr lang="en-US" sz="1800" b="1" i="0" u="none" strike="noStrike">
                        <a:solidFill>
                          <a:schemeClr val="tx1">
                            <a:lumMod val="75000"/>
                          </a:schemeClr>
                        </a:solidFill>
                        <a:effectLst/>
                        <a:highlight>
                          <a:srgbClr val="FFE1CC"/>
                        </a:highlight>
                        <a:latin typeface="Calibri"/>
                      </a:endParaRPr>
                    </a:p>
                    <a:p>
                      <a:pPr lvl="0" algn="ctr">
                        <a:buNone/>
                      </a:pPr>
                      <a:r>
                        <a:rPr lang="en-US" sz="1800" b="1" i="0" u="none" strike="noStrike" noProof="0">
                          <a:solidFill>
                            <a:schemeClr val="tx1">
                              <a:lumMod val="75000"/>
                            </a:schemeClr>
                          </a:solidFill>
                          <a:effectLst/>
                          <a:highlight>
                            <a:srgbClr val="FEF2CD"/>
                          </a:highlight>
                          <a:latin typeface="Calibri"/>
                        </a:rPr>
                        <a:t>Justification +Links</a:t>
                      </a:r>
                      <a:endParaRPr lang="en-US"/>
                    </a:p>
                  </a:txBody>
                  <a:tcPr marL="5123" marR="5123" marT="5123"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E1CC"/>
                    </a:solidFill>
                  </a:tcPr>
                </a:tc>
                <a:extLst>
                  <a:ext uri="{0D108BD9-81ED-4DB2-BD59-A6C34878D82A}">
                    <a16:rowId xmlns:a16="http://schemas.microsoft.com/office/drawing/2014/main" val="1169269582"/>
                  </a:ext>
                </a:extLst>
              </a:tr>
            </a:tbl>
          </a:graphicData>
        </a:graphic>
      </p:graphicFrame>
    </p:spTree>
    <p:extLst>
      <p:ext uri="{BB962C8B-B14F-4D97-AF65-F5344CB8AC3E}">
        <p14:creationId xmlns:p14="http://schemas.microsoft.com/office/powerpoint/2010/main" val="33010341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49"/>
          <p:cNvSpPr txBox="1">
            <a:spLocks noGrp="1"/>
          </p:cNvSpPr>
          <p:nvPr>
            <p:ph type="ctrTitle"/>
          </p:nvPr>
        </p:nvSpPr>
        <p:spPr>
          <a:xfrm>
            <a:off x="2286000" y="1104139"/>
            <a:ext cx="64008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M</a:t>
            </a:r>
            <a:r>
              <a:rPr lang="en-NL" err="1"/>
              <a:t>edal</a:t>
            </a:r>
            <a:r>
              <a:rPr lang="en-NL"/>
              <a:t> Challenges</a:t>
            </a:r>
            <a:endParaRPr/>
          </a:p>
        </p:txBody>
      </p:sp>
      <p:sp>
        <p:nvSpPr>
          <p:cNvPr id="468" name="Google Shape;468;p49"/>
          <p:cNvSpPr txBox="1">
            <a:spLocks noGrp="1"/>
          </p:cNvSpPr>
          <p:nvPr>
            <p:ph type="subTitle" idx="1"/>
          </p:nvPr>
        </p:nvSpPr>
        <p:spPr>
          <a:xfrm>
            <a:off x="2286000" y="2503171"/>
            <a:ext cx="64008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NL"/>
              <a:t>Going the extra mile!</a:t>
            </a:r>
            <a:endParaRPr/>
          </a:p>
        </p:txBody>
      </p:sp>
      <p:pic>
        <p:nvPicPr>
          <p:cNvPr id="7" name="Graphic 6" descr="Medal">
            <a:extLst>
              <a:ext uri="{FF2B5EF4-FFF2-40B4-BE49-F238E27FC236}">
                <a16:creationId xmlns:a16="http://schemas.microsoft.com/office/drawing/2014/main" id="{2C2C6876-7040-0594-5C65-F9EFF1B3B31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61666" y="1379845"/>
            <a:ext cx="3492405" cy="3492405"/>
          </a:xfrm>
          <a:prstGeom prst="rect">
            <a:avLst/>
          </a:prstGeom>
        </p:spPr>
      </p:pic>
    </p:spTree>
    <p:extLst>
      <p:ext uri="{BB962C8B-B14F-4D97-AF65-F5344CB8AC3E}">
        <p14:creationId xmlns:p14="http://schemas.microsoft.com/office/powerpoint/2010/main" val="28329518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474"/>
        <p:cNvGrpSpPr/>
        <p:nvPr/>
      </p:nvGrpSpPr>
      <p:grpSpPr>
        <a:xfrm>
          <a:off x="0" y="0"/>
          <a:ext cx="0" cy="0"/>
          <a:chOff x="0" y="0"/>
          <a:chExt cx="0" cy="0"/>
        </a:xfrm>
      </p:grpSpPr>
      <p:sp>
        <p:nvSpPr>
          <p:cNvPr id="476" name="Google Shape;476;p50"/>
          <p:cNvSpPr txBox="1">
            <a:spLocks noGrp="1"/>
          </p:cNvSpPr>
          <p:nvPr>
            <p:ph type="title" idx="2"/>
          </p:nvPr>
        </p:nvSpPr>
        <p:spPr>
          <a:xfrm>
            <a:off x="7068300" y="0"/>
            <a:ext cx="1984200" cy="5760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1/1</a:t>
            </a:r>
            <a:endParaRPr/>
          </a:p>
        </p:txBody>
      </p:sp>
      <p:sp>
        <p:nvSpPr>
          <p:cNvPr id="477" name="Google Shape;477;p50"/>
          <p:cNvSpPr txBox="1">
            <a:spLocks noGrp="1"/>
          </p:cNvSpPr>
          <p:nvPr>
            <p:ph type="body" idx="4294967295"/>
          </p:nvPr>
        </p:nvSpPr>
        <p:spPr>
          <a:xfrm>
            <a:off x="63194" y="1152000"/>
            <a:ext cx="5486400" cy="38952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i="1">
                <a:solidFill>
                  <a:schemeClr val="lt1"/>
                </a:solidFill>
                <a:latin typeface="Helvetica Neue"/>
                <a:ea typeface="Helvetica Neue"/>
                <a:cs typeface="Helvetica Neue"/>
                <a:sym typeface="Helvetica Neue"/>
              </a:rPr>
              <a:t>Show your best examples, do not go overboard, add in short description, you are free to alter this layout (or add slides per evidence) to suit your needs. Just be sure that it is clear.</a:t>
            </a:r>
            <a:endParaRPr sz="900">
              <a:solidFill>
                <a:schemeClr val="lt1"/>
              </a:solidFill>
            </a:endParaRPr>
          </a:p>
          <a:p>
            <a:pPr marL="0" lvl="0" indent="0" algn="l" rtl="0">
              <a:lnSpc>
                <a:spcPct val="115000"/>
              </a:lnSpc>
              <a:spcBef>
                <a:spcPts val="0"/>
              </a:spcBef>
              <a:spcAft>
                <a:spcPts val="0"/>
              </a:spcAft>
              <a:buNone/>
            </a:pPr>
            <a:endParaRPr sz="700" i="1">
              <a:solidFill>
                <a:schemeClr val="lt1"/>
              </a:solidFill>
              <a:latin typeface="Helvetica Neue"/>
              <a:ea typeface="Helvetica Neue"/>
              <a:cs typeface="Helvetica Neue"/>
              <a:sym typeface="Helvetica Neue"/>
            </a:endParaRPr>
          </a:p>
        </p:txBody>
      </p:sp>
      <p:sp>
        <p:nvSpPr>
          <p:cNvPr id="480" name="Google Shape;480;p50"/>
          <p:cNvSpPr txBox="1">
            <a:spLocks noGrp="1"/>
          </p:cNvSpPr>
          <p:nvPr>
            <p:ph type="title" idx="5"/>
          </p:nvPr>
        </p:nvSpPr>
        <p:spPr>
          <a:xfrm>
            <a:off x="845550" y="576000"/>
            <a:ext cx="7315200" cy="493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GB"/>
              <a:t>P</a:t>
            </a:r>
            <a:r>
              <a:rPr lang="en-NL" err="1"/>
              <a:t>ut</a:t>
            </a:r>
            <a:r>
              <a:rPr lang="en-NL"/>
              <a:t> your evidence down here to receive a medal!</a:t>
            </a:r>
            <a:endParaRPr lang="en-GB"/>
          </a:p>
        </p:txBody>
      </p:sp>
      <p:sp>
        <p:nvSpPr>
          <p:cNvPr id="7" name="Google Shape;459;p48">
            <a:extLst>
              <a:ext uri="{FF2B5EF4-FFF2-40B4-BE49-F238E27FC236}">
                <a16:creationId xmlns:a16="http://schemas.microsoft.com/office/drawing/2014/main" id="{5161B9CD-FD90-1846-8EE0-48554F0A839A}"/>
              </a:ext>
            </a:extLst>
          </p:cNvPr>
          <p:cNvSpPr txBox="1">
            <a:spLocks noGrp="1"/>
          </p:cNvSpPr>
          <p:nvPr>
            <p:ph type="title" idx="3"/>
          </p:nvPr>
        </p:nvSpPr>
        <p:spPr>
          <a:xfrm>
            <a:off x="2049462" y="0"/>
            <a:ext cx="42063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Going the extra mile!</a:t>
            </a:r>
            <a:endParaRPr lang="en-GB"/>
          </a:p>
        </p:txBody>
      </p:sp>
      <p:sp>
        <p:nvSpPr>
          <p:cNvPr id="2" name="Google Shape;462;p48">
            <a:extLst>
              <a:ext uri="{FF2B5EF4-FFF2-40B4-BE49-F238E27FC236}">
                <a16:creationId xmlns:a16="http://schemas.microsoft.com/office/drawing/2014/main" id="{504CBF35-FBEA-FA87-F016-E6278C3C94BB}"/>
              </a:ext>
            </a:extLst>
          </p:cNvPr>
          <p:cNvSpPr txBox="1">
            <a:spLocks noGrp="1"/>
          </p:cNvSpPr>
          <p:nvPr>
            <p:ph type="title" idx="6"/>
          </p:nvPr>
        </p:nvSpPr>
        <p:spPr>
          <a:xfrm>
            <a:off x="845550" y="0"/>
            <a:ext cx="1368600" cy="5760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NL"/>
              <a:t>Medal Challenges</a:t>
            </a:r>
            <a:endParaRPr lang="en-US"/>
          </a:p>
        </p:txBody>
      </p:sp>
      <p:pic>
        <p:nvPicPr>
          <p:cNvPr id="12" name="Graphic 11" descr="Medal">
            <a:extLst>
              <a:ext uri="{FF2B5EF4-FFF2-40B4-BE49-F238E27FC236}">
                <a16:creationId xmlns:a16="http://schemas.microsoft.com/office/drawing/2014/main" id="{DAEAD1FE-ADA8-7092-2C63-52D1D8722E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5771" y="58096"/>
            <a:ext cx="459808" cy="459808"/>
          </a:xfrm>
          <a:prstGeom prst="rect">
            <a:avLst/>
          </a:prstGeom>
        </p:spPr>
      </p:pic>
    </p:spTree>
    <p:extLst>
      <p:ext uri="{BB962C8B-B14F-4D97-AF65-F5344CB8AC3E}">
        <p14:creationId xmlns:p14="http://schemas.microsoft.com/office/powerpoint/2010/main" val="33184646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52"/>
          <p:cNvSpPr txBox="1">
            <a:spLocks noGrp="1"/>
          </p:cNvSpPr>
          <p:nvPr>
            <p:ph type="ctrTitle"/>
          </p:nvPr>
        </p:nvSpPr>
        <p:spPr>
          <a:xfrm>
            <a:off x="1828800" y="1453896"/>
            <a:ext cx="7315200" cy="150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6000"/>
              <a:t>Section </a:t>
            </a:r>
            <a:r>
              <a:rPr lang="en-NL" sz="6000"/>
              <a:t>D</a:t>
            </a:r>
            <a:endParaRPr sz="6000"/>
          </a:p>
        </p:txBody>
      </p:sp>
      <p:sp>
        <p:nvSpPr>
          <p:cNvPr id="498" name="Google Shape;498;p52"/>
          <p:cNvSpPr txBox="1">
            <a:spLocks noGrp="1"/>
          </p:cNvSpPr>
          <p:nvPr>
            <p:ph type="subTitle" idx="1"/>
          </p:nvPr>
        </p:nvSpPr>
        <p:spPr>
          <a:xfrm>
            <a:off x="1828800" y="2953512"/>
            <a:ext cx="7315200" cy="685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Reflection</a:t>
            </a:r>
            <a:endParaRPr sz="3000"/>
          </a:p>
        </p:txBody>
      </p:sp>
      <p:sp>
        <p:nvSpPr>
          <p:cNvPr id="499" name="Google Shape;499;p52"/>
          <p:cNvSpPr txBox="1"/>
          <p:nvPr/>
        </p:nvSpPr>
        <p:spPr>
          <a:xfrm>
            <a:off x="-420624" y="749808"/>
            <a:ext cx="3383400" cy="5120700"/>
          </a:xfrm>
          <a:prstGeom prst="rect">
            <a:avLst/>
          </a:prstGeom>
          <a:noFill/>
          <a:ln>
            <a:noFill/>
          </a:ln>
        </p:spPr>
        <p:txBody>
          <a:bodyPr spcFirstLastPara="1" wrap="square" lIns="0" tIns="0" rIns="0" bIns="0" anchor="ctr" anchorCtr="0">
            <a:noAutofit/>
          </a:bodyPr>
          <a:lstStyle/>
          <a:p>
            <a:pPr marL="0" lvl="0" indent="0" algn="l" rtl="0">
              <a:spcBef>
                <a:spcPts val="0"/>
              </a:spcBef>
              <a:spcAft>
                <a:spcPts val="0"/>
              </a:spcAft>
              <a:buNone/>
            </a:pPr>
            <a:r>
              <a:rPr lang="en-NL" sz="40000">
                <a:solidFill>
                  <a:srgbClr val="999999"/>
                </a:solidFill>
                <a:latin typeface="Roboto"/>
                <a:ea typeface="Roboto"/>
                <a:cs typeface="Roboto"/>
                <a:sym typeface="Roboto"/>
              </a:rPr>
              <a:t>D</a:t>
            </a:r>
            <a:endParaRPr sz="40000">
              <a:solidFill>
                <a:srgbClr val="999999"/>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3"/>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What did I achieve this block?</a:t>
            </a:r>
            <a:endParaRPr/>
          </a:p>
        </p:txBody>
      </p:sp>
      <p:sp>
        <p:nvSpPr>
          <p:cNvPr id="505" name="Google Shape;505;p53"/>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1/2</a:t>
            </a:r>
            <a:endParaRPr/>
          </a:p>
        </p:txBody>
      </p:sp>
      <p:sp>
        <p:nvSpPr>
          <p:cNvPr id="506" name="Google Shape;506;p53"/>
          <p:cNvSpPr txBox="1">
            <a:spLocks noGrp="1"/>
          </p:cNvSpPr>
          <p:nvPr>
            <p:ph type="subTitle" idx="1"/>
          </p:nvPr>
        </p:nvSpPr>
        <p:spPr>
          <a:xfrm>
            <a:off x="182880" y="667512"/>
            <a:ext cx="54864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My most significant achievements this block</a:t>
            </a:r>
            <a:endParaRPr/>
          </a:p>
        </p:txBody>
      </p:sp>
      <p:sp>
        <p:nvSpPr>
          <p:cNvPr id="507" name="Google Shape;507;p53"/>
          <p:cNvSpPr txBox="1">
            <a:spLocks noGrp="1"/>
          </p:cNvSpPr>
          <p:nvPr>
            <p:ph type="body" idx="3"/>
          </p:nvPr>
        </p:nvSpPr>
        <p:spPr>
          <a:xfrm>
            <a:off x="182880" y="1069848"/>
            <a:ext cx="87783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My most difficult challenges this block</a:t>
            </a:r>
            <a:endParaRPr sz="1400" b="1"/>
          </a:p>
          <a:p>
            <a:pPr marL="0" lvl="0" indent="0" algn="just" rtl="0">
              <a:spcBef>
                <a:spcPts val="80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The most important lessons I learned</a:t>
            </a:r>
            <a:endParaRPr sz="1400" b="1"/>
          </a:p>
          <a:p>
            <a:pPr marL="0" lvl="0" indent="0" algn="just" rtl="0">
              <a:spcBef>
                <a:spcPts val="800"/>
              </a:spcBef>
              <a:spcAft>
                <a:spcPts val="800"/>
              </a:spcAft>
              <a:buNone/>
            </a:pPr>
            <a:r>
              <a:rPr lang="en"/>
              <a:t>...</a:t>
            </a:r>
            <a:endParaRPr/>
          </a:p>
        </p:txBody>
      </p:sp>
      <p:sp>
        <p:nvSpPr>
          <p:cNvPr id="508" name="Google Shape;508;p53"/>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Google Shape;513;p54"/>
          <p:cNvSpPr txBox="1">
            <a:spLocks noGrp="1"/>
          </p:cNvSpPr>
          <p:nvPr>
            <p:ph type="title"/>
          </p:nvPr>
        </p:nvSpPr>
        <p:spPr>
          <a:xfrm>
            <a:off x="667512" y="0"/>
            <a:ext cx="5486400" cy="5727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How well am I progressing?</a:t>
            </a:r>
            <a:endParaRPr/>
          </a:p>
        </p:txBody>
      </p:sp>
      <p:sp>
        <p:nvSpPr>
          <p:cNvPr id="514" name="Google Shape;514;p54"/>
          <p:cNvSpPr txBox="1">
            <a:spLocks noGrp="1"/>
          </p:cNvSpPr>
          <p:nvPr>
            <p:ph type="title" idx="2"/>
          </p:nvPr>
        </p:nvSpPr>
        <p:spPr>
          <a:xfrm>
            <a:off x="7068300" y="0"/>
            <a:ext cx="1984200" cy="5727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2</a:t>
            </a:r>
            <a:r>
              <a:rPr lang="en" sz="1400"/>
              <a:t>/</a:t>
            </a:r>
            <a:r>
              <a:rPr lang="en"/>
              <a:t>2</a:t>
            </a:r>
            <a:endParaRPr sz="1400"/>
          </a:p>
        </p:txBody>
      </p:sp>
      <p:sp>
        <p:nvSpPr>
          <p:cNvPr id="515" name="Google Shape;515;p54"/>
          <p:cNvSpPr txBox="1">
            <a:spLocks noGrp="1"/>
          </p:cNvSpPr>
          <p:nvPr>
            <p:ph type="title" idx="4"/>
          </p:nvPr>
        </p:nvSpPr>
        <p:spPr>
          <a:xfrm>
            <a:off x="0" y="0"/>
            <a:ext cx="5760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a:t>
            </a:r>
            <a:endParaRPr/>
          </a:p>
        </p:txBody>
      </p:sp>
      <p:sp>
        <p:nvSpPr>
          <p:cNvPr id="516" name="Google Shape;516;p54"/>
          <p:cNvSpPr txBox="1">
            <a:spLocks noGrp="1"/>
          </p:cNvSpPr>
          <p:nvPr>
            <p:ph type="subTitle" idx="1"/>
          </p:nvPr>
        </p:nvSpPr>
        <p:spPr>
          <a:xfrm>
            <a:off x="182880" y="667512"/>
            <a:ext cx="8778300" cy="402300"/>
          </a:xfrm>
          <a:prstGeom prst="rect">
            <a:avLst/>
          </a:prstGeom>
        </p:spPr>
        <p:txBody>
          <a:bodyPr spcFirstLastPara="1" wrap="square" lIns="91425" tIns="91425" rIns="91425" bIns="91425" anchor="t" anchorCtr="0">
            <a:noAutofit/>
          </a:bodyPr>
          <a:lstStyle/>
          <a:p>
            <a:pPr marL="0" lvl="0" indent="0" algn="l" rtl="0">
              <a:spcBef>
                <a:spcPts val="0"/>
              </a:spcBef>
              <a:spcAft>
                <a:spcPts val="800"/>
              </a:spcAft>
              <a:buNone/>
            </a:pPr>
            <a:r>
              <a:rPr lang="en"/>
              <a:t>Reflection on my self assessment				My self assessment grade is a</a:t>
            </a:r>
            <a:endParaRPr b="0" i="1"/>
          </a:p>
        </p:txBody>
      </p:sp>
      <p:sp>
        <p:nvSpPr>
          <p:cNvPr id="517" name="Google Shape;517;p54"/>
          <p:cNvSpPr txBox="1">
            <a:spLocks noGrp="1"/>
          </p:cNvSpPr>
          <p:nvPr>
            <p:ph type="body" idx="3"/>
          </p:nvPr>
        </p:nvSpPr>
        <p:spPr>
          <a:xfrm>
            <a:off x="182880" y="1069848"/>
            <a:ext cx="5852100" cy="3895200"/>
          </a:xfrm>
          <a:prstGeom prst="rect">
            <a:avLst/>
          </a:prstGeom>
        </p:spPr>
        <p:txBody>
          <a:bodyPr spcFirstLastPara="1" wrap="square" lIns="91425" tIns="91425" rIns="91425" bIns="91425" anchor="t" anchorCtr="0">
            <a:noAutofit/>
          </a:bodyPr>
          <a:lstStyle/>
          <a:p>
            <a:pPr marL="0" lvl="0" indent="0" algn="just" rtl="0">
              <a:spcBef>
                <a:spcPts val="0"/>
              </a:spcBef>
              <a:spcAft>
                <a:spcPts val="0"/>
              </a:spcAft>
              <a:buNone/>
            </a:pPr>
            <a:r>
              <a:rPr lang="en"/>
              <a:t>...</a:t>
            </a:r>
            <a:endParaRPr/>
          </a:p>
          <a:p>
            <a:pPr marL="0" lvl="0" indent="0" algn="just" rtl="0">
              <a:spcBef>
                <a:spcPts val="800"/>
              </a:spcBef>
              <a:spcAft>
                <a:spcPts val="0"/>
              </a:spcAft>
              <a:buNone/>
            </a:pPr>
            <a:endParaRPr/>
          </a:p>
          <a:p>
            <a:pPr marL="0" lvl="0" indent="0" algn="just" rtl="0">
              <a:spcBef>
                <a:spcPts val="800"/>
              </a:spcBef>
              <a:spcAft>
                <a:spcPts val="0"/>
              </a:spcAft>
              <a:buNone/>
            </a:pPr>
            <a:r>
              <a:rPr lang="en" sz="1400" b="1"/>
              <a:t>How I plan to improve next block</a:t>
            </a:r>
            <a:endParaRPr sz="1400" b="1"/>
          </a:p>
          <a:p>
            <a:pPr marL="0" lvl="0" indent="0" algn="just" rtl="0">
              <a:spcBef>
                <a:spcPts val="800"/>
              </a:spcBef>
              <a:spcAft>
                <a:spcPts val="800"/>
              </a:spcAft>
              <a:buNone/>
            </a:pPr>
            <a:r>
              <a:rPr lang="en"/>
              <a:t>...</a:t>
            </a:r>
            <a:endParaRPr/>
          </a:p>
        </p:txBody>
      </p:sp>
      <p:sp>
        <p:nvSpPr>
          <p:cNvPr id="518" name="Google Shape;518;p54"/>
          <p:cNvSpPr txBox="1"/>
          <p:nvPr/>
        </p:nvSpPr>
        <p:spPr>
          <a:xfrm>
            <a:off x="7933066" y="749712"/>
            <a:ext cx="914400" cy="64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b="1">
                <a:solidFill>
                  <a:srgbClr val="434343"/>
                </a:solidFill>
                <a:latin typeface="Roboto"/>
                <a:ea typeface="Roboto"/>
                <a:cs typeface="Roboto"/>
                <a:sym typeface="Roboto"/>
              </a:rPr>
              <a:t>x.x</a:t>
            </a:r>
            <a:endParaRPr sz="3600" b="1">
              <a:solidFill>
                <a:srgbClr val="434343"/>
              </a:solidFill>
              <a:latin typeface="Roboto"/>
              <a:ea typeface="Roboto"/>
              <a:cs typeface="Roboto"/>
              <a:sym typeface="Roboto"/>
            </a:endParaRPr>
          </a:p>
        </p:txBody>
      </p:sp>
    </p:spTree>
  </p:cSld>
  <p:clrMapOvr>
    <a:masterClrMapping/>
  </p:clrMapOvr>
</p:sld>
</file>

<file path=ppt/theme/theme1.xml><?xml version="1.0" encoding="utf-8"?>
<a:theme xmlns:a="http://schemas.openxmlformats.org/drawingml/2006/main" name="BUAS Gameday">
  <a:themeElements>
    <a:clrScheme name="Gameday">
      <a:dk1>
        <a:srgbClr val="4285F4"/>
      </a:dk1>
      <a:lt1>
        <a:srgbClr val="FFFFFF"/>
      </a:lt1>
      <a:dk2>
        <a:srgbClr val="666666"/>
      </a:dk2>
      <a:lt2>
        <a:srgbClr val="D9D9D9"/>
      </a:lt2>
      <a:accent1>
        <a:srgbClr val="455A64"/>
      </a:accent1>
      <a:accent2>
        <a:srgbClr val="607D8B"/>
      </a:accent2>
      <a:accent3>
        <a:srgbClr val="FF5722"/>
      </a:accent3>
      <a:accent4>
        <a:srgbClr val="D84315"/>
      </a:accent4>
      <a:accent5>
        <a:srgbClr val="1C3AA9"/>
      </a:accent5>
      <a:accent6>
        <a:srgbClr val="FFAB40"/>
      </a:accent6>
      <a:hlink>
        <a:srgbClr val="3C78D8"/>
      </a:hlink>
      <a:folHlink>
        <a:srgbClr val="1C3AA9"/>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BADAD4AA324BF48804EF76FD903323C" ma:contentTypeVersion="15" ma:contentTypeDescription="Create a new document." ma:contentTypeScope="" ma:versionID="4ea0feda506421460444ca95554a0aab">
  <xsd:schema xmlns:xsd="http://www.w3.org/2001/XMLSchema" xmlns:xs="http://www.w3.org/2001/XMLSchema" xmlns:p="http://schemas.microsoft.com/office/2006/metadata/properties" xmlns:ns2="5ff92c65-ed86-4457-baee-ccd535c9ea21" xmlns:ns3="6c8d291c-a5bf-4049-930d-38db8e991d8e" targetNamespace="http://schemas.microsoft.com/office/2006/metadata/properties" ma:root="true" ma:fieldsID="0fc8cf7d0f5ee312899395875a30595e" ns2:_="" ns3:_="">
    <xsd:import namespace="5ff92c65-ed86-4457-baee-ccd535c9ea21"/>
    <xsd:import namespace="6c8d291c-a5bf-4049-930d-38db8e991d8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ff92c65-ed86-4457-baee-ccd535c9ea2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65a90ea-d0e7-4aae-8ef9-9f5dd1eb65e3"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c8d291c-a5bf-4049-930d-38db8e991d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ad53588-c864-4711-ad43-fad96b40598a}" ma:internalName="TaxCatchAll" ma:showField="CatchAllData" ma:web="6c8d291c-a5bf-4049-930d-38db8e991d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haredWithUsers xmlns="6c8d291c-a5bf-4049-930d-38db8e991d8e">
      <UserInfo>
        <DisplayName/>
        <AccountId xsi:nil="true"/>
        <AccountType/>
      </UserInfo>
    </SharedWithUsers>
    <TaxCatchAll xmlns="6c8d291c-a5bf-4049-930d-38db8e991d8e" xsi:nil="true"/>
    <lcf76f155ced4ddcb4097134ff3c332f xmlns="5ff92c65-ed86-4457-baee-ccd535c9ea21">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A562638-1947-4789-9FBF-F833DB2C18A8}">
  <ds:schemaRefs>
    <ds:schemaRef ds:uri="5ff92c65-ed86-4457-baee-ccd535c9ea21"/>
    <ds:schemaRef ds:uri="6c8d291c-a5bf-4049-930d-38db8e991d8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3067B86F-F5BB-4BE6-9A37-0E19E53CB68B}">
  <ds:schemaRefs>
    <ds:schemaRef ds:uri="5ff92c65-ed86-4457-baee-ccd535c9ea21"/>
    <ds:schemaRef ds:uri="6c8d291c-a5bf-4049-930d-38db8e991d8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98D9791E-52D0-4ABB-925A-4EAECF798D9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441</TotalTime>
  <Words>6110</Words>
  <Application>Microsoft Office PowerPoint</Application>
  <PresentationFormat>On-screen Show (16:9)</PresentationFormat>
  <Paragraphs>574</Paragraphs>
  <Slides>44</Slides>
  <Notes>44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44</vt:i4>
      </vt:variant>
    </vt:vector>
  </HeadingPairs>
  <TitlesOfParts>
    <vt:vector size="53" baseType="lpstr">
      <vt:lpstr>Roboto Light</vt:lpstr>
      <vt:lpstr>Arial</vt:lpstr>
      <vt:lpstr>Roboto Thin</vt:lpstr>
      <vt:lpstr>Calibri</vt:lpstr>
      <vt:lpstr>Proxima Nova</vt:lpstr>
      <vt:lpstr>Open Sans</vt:lpstr>
      <vt:lpstr>Helvetica Neue</vt:lpstr>
      <vt:lpstr>Roboto</vt:lpstr>
      <vt:lpstr>BUAS Gameday</vt:lpstr>
      <vt:lpstr>Maks Burchard 240894 Data Understanding and Preparation</vt:lpstr>
      <vt:lpstr>How To Use This Template</vt:lpstr>
      <vt:lpstr>Learning Log Structure</vt:lpstr>
      <vt:lpstr>Section A</vt:lpstr>
      <vt:lpstr>Where am I starting?</vt:lpstr>
      <vt:lpstr>What is my plan?</vt:lpstr>
      <vt:lpstr>What are my goals?</vt:lpstr>
      <vt:lpstr>Section B</vt:lpstr>
      <vt:lpstr>Week 1 - Log</vt:lpstr>
      <vt:lpstr>Week 1 - Feedback</vt:lpstr>
      <vt:lpstr>Week 2 - Log</vt:lpstr>
      <vt:lpstr>Week 2 - Feedback</vt:lpstr>
      <vt:lpstr>Week 3 - Log</vt:lpstr>
      <vt:lpstr>Week 3 - Feedback</vt:lpstr>
      <vt:lpstr>Week 4 - Log</vt:lpstr>
      <vt:lpstr>Week 4 - Feedback</vt:lpstr>
      <vt:lpstr>Week 5 - Log</vt:lpstr>
      <vt:lpstr>Week 5 - Feedback</vt:lpstr>
      <vt:lpstr>Week 6 - Log</vt:lpstr>
      <vt:lpstr>Week 6 - Feedback</vt:lpstr>
      <vt:lpstr>Week 7 - Log</vt:lpstr>
      <vt:lpstr>Week 7 - Feedback</vt:lpstr>
      <vt:lpstr>Week 8 - Log</vt:lpstr>
      <vt:lpstr>Week 8 - Feedback</vt:lpstr>
      <vt:lpstr>Section C</vt:lpstr>
      <vt:lpstr>ILO 0.2</vt:lpstr>
      <vt:lpstr>ILO 0</vt:lpstr>
      <vt:lpstr>ILO 1.2</vt:lpstr>
      <vt:lpstr>ILO 1</vt:lpstr>
      <vt:lpstr>ILO 2.2</vt:lpstr>
      <vt:lpstr>ILO 2</vt:lpstr>
      <vt:lpstr>ILO 6.2</vt:lpstr>
      <vt:lpstr>ILO 6</vt:lpstr>
      <vt:lpstr>ILO 8.1</vt:lpstr>
      <vt:lpstr>ILO 8</vt:lpstr>
      <vt:lpstr>ILO 8.2</vt:lpstr>
      <vt:lpstr>ILO 8</vt:lpstr>
      <vt:lpstr>ILO 11.1</vt:lpstr>
      <vt:lpstr>ILO 11</vt:lpstr>
      <vt:lpstr>Medal Challenges</vt:lpstr>
      <vt:lpstr>1/1</vt:lpstr>
      <vt:lpstr>Section D</vt:lpstr>
      <vt:lpstr>What did I achieve this block?</vt:lpstr>
      <vt:lpstr>How well am I progressing?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«studentname» «studentid» «studentacademicproject»</dc:title>
  <dc:creator>Neggers, Margot</dc:creator>
  <cp:lastModifiedBy>Maks Burchard</cp:lastModifiedBy>
  <cp:revision>39</cp:revision>
  <dcterms:modified xsi:type="dcterms:W3CDTF">2024-12-13T09:51:11Z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0x0101000BADAD4AA324BF48804EF76FD903323C</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bool>false</vt:bool>
  </property>
</Properties>
</file>